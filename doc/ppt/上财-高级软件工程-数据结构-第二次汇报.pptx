
<file path=[Content_Types].xml><?xml version="1.0" encoding="utf-8"?>
<Types xmlns="http://schemas.openxmlformats.org/package/2006/content-types">
  <Default Extension="jfif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ppt/tags/tag17.xml" ContentType="application/vnd.openxmlformats-officedocument.presentationml.tags+xml"/>
  <Override PartName="/ppt/notesSlides/notesSlide13.xml" ContentType="application/vnd.openxmlformats-officedocument.presentationml.notesSlide+xml"/>
  <Override PartName="/ppt/tags/tag18.xml" ContentType="application/vnd.openxmlformats-officedocument.presentationml.tags+xml"/>
  <Override PartName="/ppt/notesSlides/notesSlide14.xml" ContentType="application/vnd.openxmlformats-officedocument.presentationml.notesSlide+xml"/>
  <Override PartName="/ppt/tags/tag19.xml" ContentType="application/vnd.openxmlformats-officedocument.presentationml.tags+xml"/>
  <Override PartName="/ppt/notesSlides/notesSlide15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6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20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21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32.xml" ContentType="application/vnd.openxmlformats-officedocument.presentationml.tags+xml"/>
  <Override PartName="/ppt/notesSlides/notesSlide25.xml" ContentType="application/vnd.openxmlformats-officedocument.presentationml.notesSlide+xml"/>
  <Override PartName="/ppt/tags/tag33.xml" ContentType="application/vnd.openxmlformats-officedocument.presentationml.tags+xml"/>
  <Override PartName="/ppt/notesSlides/notesSlide26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7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28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29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30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317" r:id="rId2"/>
    <p:sldId id="264" r:id="rId3"/>
    <p:sldId id="309" r:id="rId4"/>
    <p:sldId id="530" r:id="rId5"/>
    <p:sldId id="558" r:id="rId6"/>
    <p:sldId id="542" r:id="rId7"/>
    <p:sldId id="544" r:id="rId8"/>
    <p:sldId id="559" r:id="rId9"/>
    <p:sldId id="549" r:id="rId10"/>
    <p:sldId id="563" r:id="rId11"/>
    <p:sldId id="561" r:id="rId12"/>
    <p:sldId id="562" r:id="rId13"/>
    <p:sldId id="564" r:id="rId14"/>
    <p:sldId id="565" r:id="rId15"/>
    <p:sldId id="546" r:id="rId16"/>
    <p:sldId id="541" r:id="rId17"/>
    <p:sldId id="537" r:id="rId18"/>
    <p:sldId id="545" r:id="rId19"/>
    <p:sldId id="538" r:id="rId20"/>
    <p:sldId id="531" r:id="rId21"/>
    <p:sldId id="566" r:id="rId22"/>
    <p:sldId id="551" r:id="rId23"/>
    <p:sldId id="536" r:id="rId24"/>
    <p:sldId id="539" r:id="rId25"/>
    <p:sldId id="568" r:id="rId26"/>
    <p:sldId id="532" r:id="rId27"/>
    <p:sldId id="567" r:id="rId28"/>
    <p:sldId id="553" r:id="rId29"/>
    <p:sldId id="555" r:id="rId30"/>
    <p:sldId id="556" r:id="rId31"/>
    <p:sldId id="557" r:id="rId32"/>
    <p:sldId id="535" r:id="rId33"/>
    <p:sldId id="540" r:id="rId34"/>
    <p:sldId id="533" r:id="rId35"/>
    <p:sldId id="342" r:id="rId36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8" userDrawn="1">
          <p15:clr>
            <a:srgbClr val="A4A3A4"/>
          </p15:clr>
        </p15:guide>
        <p15:guide id="2" pos="29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06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7DB5"/>
    <a:srgbClr val="DC95AA"/>
    <a:srgbClr val="CCCCFF"/>
    <a:srgbClr val="7B76AE"/>
    <a:srgbClr val="9177BB"/>
    <a:srgbClr val="F5F5F5"/>
    <a:srgbClr val="F2F2F2"/>
    <a:srgbClr val="F6F6F6"/>
    <a:srgbClr val="F2E3E8"/>
    <a:srgbClr val="C8DA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61" autoAdjust="0"/>
    <p:restoredTop sz="94660" autoAdjust="0"/>
  </p:normalViewPr>
  <p:slideViewPr>
    <p:cSldViewPr>
      <p:cViewPr>
        <p:scale>
          <a:sx n="122" d="100"/>
          <a:sy n="122" d="100"/>
        </p:scale>
        <p:origin x="57" y="333"/>
      </p:cViewPr>
      <p:guideLst>
        <p:guide orient="horz" pos="1578"/>
        <p:guide pos="29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4" d="100"/>
        <a:sy n="104" d="100"/>
      </p:scale>
      <p:origin x="0" y="0"/>
    </p:cViewPr>
  </p:sorterViewPr>
  <p:notesViewPr>
    <p:cSldViewPr>
      <p:cViewPr varScale="1">
        <p:scale>
          <a:sx n="62" d="100"/>
          <a:sy n="62" d="100"/>
        </p:scale>
        <p:origin x="2419" y="67"/>
      </p:cViewPr>
      <p:guideLst>
        <p:guide orient="horz" pos="2806"/>
        <p:guide pos="220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844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E8BC2-F06E-0774-BDAE-E3D85E0BA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2645A3-92AE-59AE-4D30-5B7675D37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FF940E-DF32-CAAA-911F-52C3F259A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26D454-3DEB-7EC2-2CB4-86E3FF5D97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040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B740A-81D9-269F-6091-FF94A500E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0D2BF0-4920-77B6-7983-655B9DB56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D2127F-EC04-C365-915C-5D9FE442E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1D5EE3-A7A2-B521-6A6B-4BE338200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834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B740A-81D9-269F-6091-FF94A500E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0D2BF0-4920-77B6-7983-655B9DB56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D2127F-EC04-C365-915C-5D9FE442E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1D5EE3-A7A2-B521-6A6B-4BE338200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871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28336-C82D-13F7-70F0-44980365B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21C891-EBDA-077F-05A0-DF8F499C3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D62E40-D7C5-E008-A12C-08A8C6072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BC5F75-8447-DE5C-4E2A-2E05A9F50D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074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28336-C82D-13F7-70F0-44980365B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21C891-EBDA-077F-05A0-DF8F499C3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D62E40-D7C5-E008-A12C-08A8C6072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BC5F75-8447-DE5C-4E2A-2E05A9F50D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2181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28336-C82D-13F7-70F0-44980365B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21C891-EBDA-077F-05A0-DF8F499C3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D62E40-D7C5-E008-A12C-08A8C6072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BC5F75-8447-DE5C-4E2A-2E05A9F50D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9775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28336-C82D-13F7-70F0-44980365B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21C891-EBDA-077F-05A0-DF8F499C3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D62E40-D7C5-E008-A12C-08A8C6072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BC5F75-8447-DE5C-4E2A-2E05A9F50D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4295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28336-C82D-13F7-70F0-44980365B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21C891-EBDA-077F-05A0-DF8F499C3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D62E40-D7C5-E008-A12C-08A8C6072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BC5F75-8447-DE5C-4E2A-2E05A9F50D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7336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28336-C82D-13F7-70F0-44980365B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21C891-EBDA-077F-05A0-DF8F499C3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D62E40-D7C5-E008-A12C-08A8C6072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BC5F75-8447-DE5C-4E2A-2E05A9F50D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767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3B563-2800-AFC4-D35D-E739DAE1B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EF49E1-2BBF-C830-535E-72A6345D6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DAAAAD8-051D-37B4-D476-256BDA2341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F2AA4F-FD0A-738F-8C97-B4A0A5C359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3621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63C00-1C5F-0B7A-B334-B8B85B35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CF4EDD-1690-260C-FB3C-E78959D4BB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B89D69-9FB7-2991-62F4-6DA19FF33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21FC71-F903-5A65-D050-E2F6B3B37D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976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7A78B-F707-CF6F-858F-E1BE7F923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10DC2C-2801-AAEA-5A8C-D6B243EDD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78A49D-842F-90FB-D955-8959C4D16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E2C312-6250-E1E1-39EF-AE02AB885E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1241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F976B-93A0-BAF7-9F8A-EC7AEB763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F831D2-8FF4-5317-8E35-5E3DEEDF7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7FE718-1E9F-FC3E-CB3F-8E02E76C1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DE8A40-9DB6-F91B-E5C8-6B75216AB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3341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EC12C-1712-E584-1D9D-D1CA6A85F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60130E-7983-76ED-4AB1-9C1049C55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F8A572-5D7B-9872-9489-8FC82BA2B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1ACA4E-ED54-BD39-C4D4-5270F7C6FF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2096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6350A-0034-DAA8-D856-C8A3AA9C5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E402DA-AF1A-624D-4896-26BADBC04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F2DD7E-A51D-2720-0B75-13898F789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DBA783-B045-A665-F391-60124DA0CA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324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6350A-0034-DAA8-D856-C8A3AA9C5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E402DA-AF1A-624D-4896-26BADBC04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F2DD7E-A51D-2720-0B75-13898F789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DBA783-B045-A665-F391-60124DA0CA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8932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260D8-1E29-41BB-84FF-82C520974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C84890-64D3-454F-3E34-A6EAE6F5B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E2F1BA-B5E8-6693-BCA6-31A325110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AA3FAA-C461-AFFA-7B4A-72648C79C4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1341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B8312-145E-75B2-6C06-FE1FA77A1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FD2A97-3CEF-3E6F-D715-0D39DB78E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19548A-5825-DBEC-ECD6-C5F2C1BD5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20C312-A82C-3074-AE55-7153FD73F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8823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542BF-780C-EE09-5393-A7B578814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89320B-B075-A7D9-66E0-EAD52FAD8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F72961-7791-DE2D-02D1-0E78333DB6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4428A6-2F6A-AE0B-257C-787ED84551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1077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542BF-780C-EE09-5393-A7B578814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89320B-B075-A7D9-66E0-EAD52FAD8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F72961-7791-DE2D-02D1-0E78333DB6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4428A6-2F6A-AE0B-257C-787ED84551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9887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542BF-780C-EE09-5393-A7B578814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89320B-B075-A7D9-66E0-EAD52FAD8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F72961-7791-DE2D-02D1-0E78333DB6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4428A6-2F6A-AE0B-257C-787ED84551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9088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E326A-69C2-FC50-3C82-3604C8F32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18B3B8-80B4-7BE0-0BBD-93ED793AB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6653D6-8A09-C9DC-B5A9-BA0EA5585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23EE46-8C12-5450-DA08-04D821478A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1150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0B26F-83CC-D341-5B4A-8CB6A46C6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84A68D-F68A-7AD7-63FF-9FA648C66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7964CD-BF2E-BB95-6990-3C12E3F4C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19EE26-DD4C-5765-80D5-0F7EA60FB5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9447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AA8B4-0180-26A5-8642-BF0638786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046440-D943-3D2E-C8DE-6157524530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FD9193-D386-CF28-3A36-5610F9413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4E2136-FBA1-4E29-9CDC-5A77B28D41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4337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C64A4-6936-A195-C734-5D6246A4F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8A0D8E-4D87-8559-76DF-D219B231D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22CA3D-8C57-1120-6073-B77CD6D99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AC6059-675E-5DED-AF05-01ABFD8767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5331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D8972-2705-9259-3B5D-2773DC3AC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ABFEB4-9095-FFB4-42A5-AB4818B2A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ECC893-6459-5E82-DD28-D38AF75DA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EDB8EC-3239-3A1E-DF2D-97EC75B624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7049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371CA-CA5B-5E1B-81EC-0BB5543C9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3A0835-09FB-E90C-CE8A-09F30B5E4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73D87B-7913-9525-2998-1ECD9E590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F1C094-4FAF-37F3-FFD7-6558D7E9FE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5277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9A23B-7D22-19A1-F562-67C9D2217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74A1CF-3980-2994-95E3-16BF7D81A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CE21C9-6FA2-96AE-7C2D-F646727F3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8E9039-575D-E5AA-72F2-984ED45AE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76CE9B-81DC-4E2A-9C67-CE0D35C83AA2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5242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 userDrawn="1"/>
        </p:nvSpPr>
        <p:spPr>
          <a:xfrm>
            <a:off x="467544" y="195486"/>
            <a:ext cx="273630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0" u="sng" spc="300" dirty="0">
                <a:solidFill>
                  <a:srgbClr val="7B76AE"/>
                </a:solidFill>
                <a:effectLst/>
                <a:latin typeface="Arial" panose="020B0604020202020204"/>
                <a:ea typeface="方正兰亭超细黑简体"/>
                <a:cs typeface="+mn-ea"/>
                <a:sym typeface="Arial" panose="020B0604020202020204"/>
              </a:rPr>
              <a:t>点击输入标题内容</a:t>
            </a:r>
            <a:endParaRPr lang="en-GB" altLang="zh-CN" sz="1800" b="0" u="sng" spc="300" dirty="0">
              <a:solidFill>
                <a:srgbClr val="7B76AE"/>
              </a:solidFill>
              <a:effectLst/>
              <a:latin typeface="Arial" panose="020B0604020202020204"/>
              <a:ea typeface="方正兰亭超细黑简体"/>
              <a:cs typeface="+mn-ea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6.jpe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6.xml"/><Relationship Id="rId4" Type="http://schemas.openxmlformats.org/officeDocument/2006/relationships/image" Target="../media/image9.jf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7.xml"/><Relationship Id="rId5" Type="http://schemas.openxmlformats.org/officeDocument/2006/relationships/image" Target="../media/image11.png"/><Relationship Id="rId4" Type="http://schemas.openxmlformats.org/officeDocument/2006/relationships/image" Target="../media/image10.jf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8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13.jpeg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4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2.xml"/><Relationship Id="rId6" Type="http://schemas.openxmlformats.org/officeDocument/2006/relationships/image" Target="../media/image12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3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notesSlide" Target="../notesSlides/notesSlide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notesSlide" Target="../notesSlides/notesSlide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notesSlide" Target="../notesSlides/notesSlide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notesSlide" Target="../notesSlides/notesSlide3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4" Type="http://schemas.openxmlformats.org/officeDocument/2006/relationships/notesSlide" Target="../notesSlides/notesSlide3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1475" y="396875"/>
            <a:ext cx="8361680" cy="4258945"/>
          </a:xfrm>
          <a:prstGeom prst="rect">
            <a:avLst/>
          </a:prstGeom>
          <a:noFill/>
          <a:ln w="57150">
            <a:solidFill>
              <a:srgbClr val="DC95AA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122209" y="1928894"/>
            <a:ext cx="6909566" cy="746348"/>
          </a:xfrm>
          <a:prstGeom prst="rect">
            <a:avLst/>
          </a:prstGeom>
          <a:ln>
            <a:noFill/>
          </a:ln>
        </p:spPr>
        <p:txBody>
          <a:bodyPr wrap="none" lIns="68571" tIns="34285" rIns="68571" bIns="34285">
            <a:spAutoFit/>
          </a:bodyPr>
          <a:lstStyle/>
          <a:p>
            <a:pPr algn="r"/>
            <a:r>
              <a:rPr lang="zh-CN" altLang="en-US" sz="4400" dirty="0">
                <a:solidFill>
                  <a:srgbClr val="9177B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  <a:cs typeface="+mn-ea"/>
                <a:sym typeface="Arial" panose="020B0604020202020204"/>
              </a:rPr>
              <a:t>数据结构与算法第二次汇报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507647" y="1307404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rgbClr val="DC95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数据结构可视化项目</a:t>
            </a:r>
            <a:endParaRPr lang="en-US" altLang="zh-CN" sz="3600" dirty="0">
              <a:solidFill>
                <a:srgbClr val="DC95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7821283" y="786094"/>
            <a:ext cx="187970" cy="187970"/>
          </a:xfrm>
          <a:prstGeom prst="ellipse">
            <a:avLst/>
          </a:prstGeom>
          <a:solidFill>
            <a:srgbClr val="7B76AE"/>
          </a:solidFill>
          <a:ln>
            <a:noFill/>
          </a:ln>
          <a:effectLst>
            <a:innerShdw blurRad="63500" dist="254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7081806" y="1193424"/>
            <a:ext cx="483587" cy="483587"/>
          </a:xfrm>
          <a:prstGeom prst="ellipse">
            <a:avLst/>
          </a:prstGeom>
          <a:solidFill>
            <a:srgbClr val="DC95AA"/>
          </a:solidFill>
          <a:ln>
            <a:noFill/>
          </a:ln>
          <a:effectLst>
            <a:innerShdw blurRad="63500" dist="254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7934625" y="1533420"/>
            <a:ext cx="194300" cy="194300"/>
          </a:xfrm>
          <a:prstGeom prst="ellipse">
            <a:avLst/>
          </a:prstGeom>
          <a:solidFill>
            <a:srgbClr val="7B76AE"/>
          </a:solidFill>
          <a:ln>
            <a:noFill/>
          </a:ln>
          <a:effectLst>
            <a:innerShdw blurRad="63500" dist="254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899592" y="3149858"/>
            <a:ext cx="357266" cy="357266"/>
          </a:xfrm>
          <a:prstGeom prst="ellipse">
            <a:avLst/>
          </a:prstGeom>
          <a:solidFill>
            <a:srgbClr val="7B76AE"/>
          </a:solidFill>
          <a:ln>
            <a:noFill/>
          </a:ln>
          <a:effectLst>
            <a:innerShdw blurRad="63500" dist="254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256550" y="4275301"/>
            <a:ext cx="227310" cy="227310"/>
          </a:xfrm>
          <a:prstGeom prst="ellipse">
            <a:avLst/>
          </a:prstGeom>
          <a:solidFill>
            <a:srgbClr val="DC95AA"/>
          </a:solidFill>
          <a:ln>
            <a:noFill/>
          </a:ln>
          <a:effectLst>
            <a:innerShdw blurRad="63500" dist="254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1725160" y="3694614"/>
            <a:ext cx="304801" cy="304800"/>
          </a:xfrm>
          <a:prstGeom prst="ellipse">
            <a:avLst/>
          </a:prstGeom>
          <a:solidFill>
            <a:srgbClr val="DC95AA"/>
          </a:solidFill>
          <a:ln>
            <a:noFill/>
          </a:ln>
          <a:effectLst>
            <a:innerShdw blurRad="63500" dist="254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1877560" y="2819178"/>
            <a:ext cx="5599824" cy="0"/>
          </a:xfrm>
          <a:prstGeom prst="line">
            <a:avLst/>
          </a:prstGeom>
          <a:ln w="25400">
            <a:solidFill>
              <a:srgbClr val="DC95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300752" y="2896918"/>
            <a:ext cx="6542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847DB5"/>
                </a:solidFill>
              </a:rPr>
              <a:t>小组成员：陈佩瑶 崔婧莹 路毅 王雪洋 廖闻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2DF225C-21BD-4393-D94D-D606862CC4D1}"/>
              </a:ext>
            </a:extLst>
          </p:cNvPr>
          <p:cNvSpPr txBox="1"/>
          <p:nvPr/>
        </p:nvSpPr>
        <p:spPr>
          <a:xfrm>
            <a:off x="1331640" y="3565303"/>
            <a:ext cx="6542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847DB5"/>
                </a:solidFill>
              </a:rPr>
              <a:t>云上链接：</a:t>
            </a:r>
            <a:r>
              <a:rPr lang="en-US" altLang="zh-CN" sz="1400" dirty="0">
                <a:solidFill>
                  <a:srgbClr val="847DB5"/>
                </a:solidFill>
              </a:rPr>
              <a:t>http://118.194.235.72:8080/</a:t>
            </a:r>
            <a:endParaRPr lang="zh-CN" altLang="en-US" sz="1400" dirty="0">
              <a:solidFill>
                <a:srgbClr val="847DB5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22580" y="344805"/>
            <a:ext cx="8498840" cy="4453890"/>
          </a:xfrm>
          <a:prstGeom prst="rect">
            <a:avLst/>
          </a:prstGeom>
          <a:noFill/>
          <a:ln w="57150">
            <a:solidFill>
              <a:srgbClr val="DC95AA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444806" y="1943323"/>
            <a:ext cx="2434439" cy="1256855"/>
            <a:chOff x="1444806" y="2051716"/>
            <a:chExt cx="2434439" cy="1256855"/>
          </a:xfrm>
        </p:grpSpPr>
        <p:sp>
          <p:nvSpPr>
            <p:cNvPr id="77" name="文本框 13"/>
            <p:cNvSpPr txBox="1"/>
            <p:nvPr/>
          </p:nvSpPr>
          <p:spPr>
            <a:xfrm>
              <a:off x="1444806" y="2708407"/>
              <a:ext cx="2434439" cy="600164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pPr algn="dist"/>
              <a:r>
                <a:rPr lang="en-US" altLang="zh-CN" sz="3300" dirty="0">
                  <a:solidFill>
                    <a:srgbClr val="7B76AE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CONTENTS</a:t>
              </a:r>
              <a:endParaRPr lang="zh-CN" altLang="en-US" sz="3300" dirty="0">
                <a:solidFill>
                  <a:srgbClr val="7B76AE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78" name="文本框 14"/>
            <p:cNvSpPr txBox="1"/>
            <p:nvPr/>
          </p:nvSpPr>
          <p:spPr>
            <a:xfrm>
              <a:off x="1866580" y="2051716"/>
              <a:ext cx="1590890" cy="723265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pPr algn="dist"/>
              <a:r>
                <a:rPr lang="zh-CN" altLang="en-US" sz="4100" dirty="0">
                  <a:solidFill>
                    <a:srgbClr val="7B76A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864350" y="1301453"/>
            <a:ext cx="1741493" cy="2540595"/>
            <a:chOff x="4832050" y="1063084"/>
            <a:chExt cx="1741493" cy="2540595"/>
          </a:xfrm>
        </p:grpSpPr>
        <p:sp>
          <p:nvSpPr>
            <p:cNvPr id="79" name="文本框 15"/>
            <p:cNvSpPr txBox="1"/>
            <p:nvPr/>
          </p:nvSpPr>
          <p:spPr>
            <a:xfrm>
              <a:off x="4832051" y="1063084"/>
              <a:ext cx="1723532" cy="461655"/>
            </a:xfrm>
            <a:prstGeom prst="rect">
              <a:avLst/>
            </a:prstGeom>
            <a:noFill/>
          </p:spPr>
          <p:txBody>
            <a:bodyPr wrap="none" lIns="91431" tIns="45715" rIns="91431" bIns="45715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DC95AA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1.</a:t>
              </a:r>
              <a:r>
                <a:rPr lang="zh-CN" altLang="en-US" sz="2400" dirty="0">
                  <a:solidFill>
                    <a:srgbClr val="DC95AA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源码分析</a:t>
              </a:r>
            </a:p>
          </p:txBody>
        </p:sp>
        <p:sp>
          <p:nvSpPr>
            <p:cNvPr id="80" name="文本框 16"/>
            <p:cNvSpPr txBox="1"/>
            <p:nvPr/>
          </p:nvSpPr>
          <p:spPr>
            <a:xfrm>
              <a:off x="4832051" y="1711156"/>
              <a:ext cx="1723532" cy="461655"/>
            </a:xfrm>
            <a:prstGeom prst="rect">
              <a:avLst/>
            </a:prstGeom>
            <a:noFill/>
          </p:spPr>
          <p:txBody>
            <a:bodyPr wrap="none" lIns="91431" tIns="45715" rIns="91431" bIns="45715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DC95AA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2.</a:t>
              </a:r>
              <a:r>
                <a:rPr lang="zh-CN" altLang="en-US" sz="2400" dirty="0">
                  <a:solidFill>
                    <a:srgbClr val="DC95AA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框架设计</a:t>
              </a:r>
            </a:p>
          </p:txBody>
        </p:sp>
        <p:sp>
          <p:nvSpPr>
            <p:cNvPr id="81" name="文本框 17"/>
            <p:cNvSpPr txBox="1"/>
            <p:nvPr/>
          </p:nvSpPr>
          <p:spPr>
            <a:xfrm>
              <a:off x="4850011" y="2425181"/>
              <a:ext cx="1723532" cy="461655"/>
            </a:xfrm>
            <a:prstGeom prst="rect">
              <a:avLst/>
            </a:prstGeom>
            <a:noFill/>
          </p:spPr>
          <p:txBody>
            <a:bodyPr wrap="none" lIns="91431" tIns="45715" rIns="91431" bIns="45715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DC95AA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3.</a:t>
              </a:r>
              <a:r>
                <a:rPr lang="zh-CN" altLang="en-US" sz="2400" dirty="0">
                  <a:solidFill>
                    <a:srgbClr val="DC95AA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初步实现</a:t>
              </a:r>
            </a:p>
          </p:txBody>
        </p:sp>
        <p:sp>
          <p:nvSpPr>
            <p:cNvPr id="82" name="文本框 18"/>
            <p:cNvSpPr txBox="1"/>
            <p:nvPr/>
          </p:nvSpPr>
          <p:spPr>
            <a:xfrm>
              <a:off x="4832050" y="3142024"/>
              <a:ext cx="1723532" cy="461655"/>
            </a:xfrm>
            <a:prstGeom prst="rect">
              <a:avLst/>
            </a:prstGeom>
            <a:noFill/>
          </p:spPr>
          <p:txBody>
            <a:bodyPr wrap="none" lIns="91431" tIns="45715" rIns="91431" bIns="45715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DC95AA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4.</a:t>
              </a:r>
              <a:r>
                <a:rPr lang="zh-CN" altLang="en-US" sz="2400" dirty="0">
                  <a:solidFill>
                    <a:srgbClr val="DC95AA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后续计划</a:t>
              </a:r>
              <a:endParaRPr lang="zh-CN" altLang="en-US" sz="2400" dirty="0">
                <a:solidFill>
                  <a:srgbClr val="DC95AA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endParaRPr>
            </a:p>
          </p:txBody>
        </p:sp>
      </p:grpSp>
      <p:sp>
        <p:nvSpPr>
          <p:cNvPr id="12" name="椭圆 11"/>
          <p:cNvSpPr/>
          <p:nvPr/>
        </p:nvSpPr>
        <p:spPr>
          <a:xfrm rot="8400000">
            <a:off x="741637" y="3674708"/>
            <a:ext cx="187970" cy="187970"/>
          </a:xfrm>
          <a:prstGeom prst="ellipse">
            <a:avLst/>
          </a:prstGeom>
          <a:solidFill>
            <a:srgbClr val="7B76AE"/>
          </a:solidFill>
          <a:ln>
            <a:noFill/>
          </a:ln>
          <a:effectLst>
            <a:innerShdw blurRad="63500" dist="254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 rot="8400000">
            <a:off x="802260" y="3094613"/>
            <a:ext cx="483587" cy="483587"/>
          </a:xfrm>
          <a:prstGeom prst="ellipse">
            <a:avLst/>
          </a:prstGeom>
          <a:solidFill>
            <a:srgbClr val="DC95AA"/>
          </a:solidFill>
          <a:ln>
            <a:noFill/>
          </a:ln>
          <a:effectLst>
            <a:innerShdw blurRad="63500" dist="254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 rot="8400000">
            <a:off x="609234" y="3074564"/>
            <a:ext cx="194300" cy="194300"/>
          </a:xfrm>
          <a:prstGeom prst="ellipse">
            <a:avLst/>
          </a:prstGeom>
          <a:solidFill>
            <a:srgbClr val="7B76AE"/>
          </a:solidFill>
          <a:ln>
            <a:noFill/>
          </a:ln>
          <a:effectLst>
            <a:innerShdw blurRad="63500" dist="254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 rot="8400000">
            <a:off x="4005260" y="3242909"/>
            <a:ext cx="187970" cy="187970"/>
          </a:xfrm>
          <a:prstGeom prst="ellipse">
            <a:avLst/>
          </a:prstGeom>
          <a:solidFill>
            <a:srgbClr val="7B76AE"/>
          </a:solidFill>
          <a:ln>
            <a:noFill/>
          </a:ln>
          <a:effectLst>
            <a:innerShdw blurRad="63500" dist="254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 rot="8400000">
            <a:off x="3740441" y="1829015"/>
            <a:ext cx="187970" cy="187970"/>
          </a:xfrm>
          <a:prstGeom prst="ellipse">
            <a:avLst/>
          </a:prstGeom>
          <a:solidFill>
            <a:srgbClr val="DC95AA"/>
          </a:solidFill>
          <a:ln>
            <a:noFill/>
          </a:ln>
          <a:effectLst>
            <a:innerShdw blurRad="63500" dist="254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5" grpId="0" bldLvl="0" animBg="1"/>
      <p:bldP spid="18" grpId="0" bldLvl="0" animBg="1"/>
      <p:bldP spid="2" grpId="0" bldLvl="0" animBg="1"/>
      <p:bldP spid="16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42910" y="1709802"/>
            <a:ext cx="6933827" cy="2180059"/>
            <a:chOff x="1042910" y="1921926"/>
            <a:chExt cx="6933827" cy="2180059"/>
          </a:xfrm>
        </p:grpSpPr>
        <p:grpSp>
          <p:nvGrpSpPr>
            <p:cNvPr id="7" name="组合 6"/>
            <p:cNvGrpSpPr/>
            <p:nvPr/>
          </p:nvGrpSpPr>
          <p:grpSpPr>
            <a:xfrm>
              <a:off x="1664970" y="2063794"/>
              <a:ext cx="1234440" cy="1036320"/>
              <a:chOff x="2017395" y="2063794"/>
              <a:chExt cx="1234440" cy="1036320"/>
            </a:xfrm>
          </p:grpSpPr>
          <p:sp>
            <p:nvSpPr>
              <p:cNvPr id="8" name="任意多边形 7"/>
              <p:cNvSpPr/>
              <p:nvPr/>
            </p:nvSpPr>
            <p:spPr>
              <a:xfrm rot="5400000">
                <a:off x="2116455" y="1964734"/>
                <a:ext cx="1036320" cy="1234440"/>
              </a:xfrm>
              <a:custGeom>
                <a:avLst/>
                <a:gdLst>
                  <a:gd name="connsiteX0" fmla="*/ 863597 w 1036320"/>
                  <a:gd name="connsiteY0" fmla="*/ 1234440 h 1234440"/>
                  <a:gd name="connsiteX1" fmla="*/ 172723 w 1036320"/>
                  <a:gd name="connsiteY1" fmla="*/ 1234440 h 1234440"/>
                  <a:gd name="connsiteX2" fmla="*/ 0 w 1036320"/>
                  <a:gd name="connsiteY2" fmla="*/ 1061717 h 1234440"/>
                  <a:gd name="connsiteX3" fmla="*/ 0 w 1036320"/>
                  <a:gd name="connsiteY3" fmla="*/ 340363 h 1234440"/>
                  <a:gd name="connsiteX4" fmla="*/ 172723 w 1036320"/>
                  <a:gd name="connsiteY4" fmla="*/ 167640 h 1234440"/>
                  <a:gd name="connsiteX5" fmla="*/ 259080 w 1036320"/>
                  <a:gd name="connsiteY5" fmla="*/ 167640 h 1234440"/>
                  <a:gd name="connsiteX6" fmla="*/ 518160 w 1036320"/>
                  <a:gd name="connsiteY6" fmla="*/ 0 h 1234440"/>
                  <a:gd name="connsiteX7" fmla="*/ 777240 w 1036320"/>
                  <a:gd name="connsiteY7" fmla="*/ 167640 h 1234440"/>
                  <a:gd name="connsiteX8" fmla="*/ 863597 w 1036320"/>
                  <a:gd name="connsiteY8" fmla="*/ 167640 h 1234440"/>
                  <a:gd name="connsiteX9" fmla="*/ 1036320 w 1036320"/>
                  <a:gd name="connsiteY9" fmla="*/ 340363 h 1234440"/>
                  <a:gd name="connsiteX10" fmla="*/ 1036320 w 1036320"/>
                  <a:gd name="connsiteY10" fmla="*/ 1061717 h 1234440"/>
                  <a:gd name="connsiteX11" fmla="*/ 863597 w 1036320"/>
                  <a:gd name="connsiteY11" fmla="*/ 1234440 h 1234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36320" h="1234440">
                    <a:moveTo>
                      <a:pt x="863597" y="1234440"/>
                    </a:moveTo>
                    <a:lnTo>
                      <a:pt x="172723" y="1234440"/>
                    </a:lnTo>
                    <a:cubicBezTo>
                      <a:pt x="77331" y="1234440"/>
                      <a:pt x="0" y="1157109"/>
                      <a:pt x="0" y="1061717"/>
                    </a:cubicBezTo>
                    <a:lnTo>
                      <a:pt x="0" y="340363"/>
                    </a:lnTo>
                    <a:cubicBezTo>
                      <a:pt x="0" y="244971"/>
                      <a:pt x="77331" y="167640"/>
                      <a:pt x="172723" y="167640"/>
                    </a:cubicBezTo>
                    <a:lnTo>
                      <a:pt x="259080" y="167640"/>
                    </a:lnTo>
                    <a:lnTo>
                      <a:pt x="518160" y="0"/>
                    </a:lnTo>
                    <a:lnTo>
                      <a:pt x="777240" y="167640"/>
                    </a:lnTo>
                    <a:lnTo>
                      <a:pt x="863597" y="167640"/>
                    </a:lnTo>
                    <a:cubicBezTo>
                      <a:pt x="958989" y="167640"/>
                      <a:pt x="1036320" y="244971"/>
                      <a:pt x="1036320" y="340363"/>
                    </a:cubicBezTo>
                    <a:lnTo>
                      <a:pt x="1036320" y="1061717"/>
                    </a:lnTo>
                    <a:cubicBezTo>
                      <a:pt x="1036320" y="1157109"/>
                      <a:pt x="958989" y="1234440"/>
                      <a:pt x="863597" y="1234440"/>
                    </a:cubicBezTo>
                    <a:close/>
                  </a:path>
                </a:pathLst>
              </a:custGeom>
              <a:solidFill>
                <a:srgbClr val="DC95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文本框 4"/>
              <p:cNvSpPr txBox="1"/>
              <p:nvPr/>
            </p:nvSpPr>
            <p:spPr>
              <a:xfrm>
                <a:off x="2079307" y="2192622"/>
                <a:ext cx="1110615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chemeClr val="bg1"/>
                    </a:solidFill>
                    <a:latin typeface="+mn-ea"/>
                  </a:rPr>
                  <a:t>01</a:t>
                </a:r>
                <a:endParaRPr lang="zh-CN" altLang="en-US" sz="440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sp>
          <p:nvSpPr>
            <p:cNvPr id="10" name="椭圆 9"/>
            <p:cNvSpPr/>
            <p:nvPr/>
          </p:nvSpPr>
          <p:spPr>
            <a:xfrm>
              <a:off x="1042910" y="2864108"/>
              <a:ext cx="357266" cy="357266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1418918" y="2588741"/>
              <a:ext cx="227310" cy="227310"/>
            </a:xfrm>
            <a:prstGeom prst="ellipse">
              <a:avLst/>
            </a:prstGeom>
            <a:solidFill>
              <a:srgbClr val="DC95AA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1726873" y="3535644"/>
              <a:ext cx="187970" cy="187970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1493828" y="3154864"/>
              <a:ext cx="304801" cy="304800"/>
            </a:xfrm>
            <a:prstGeom prst="ellipse">
              <a:avLst/>
            </a:prstGeom>
            <a:solidFill>
              <a:srgbClr val="DC95AA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2033905" y="3221374"/>
              <a:ext cx="193010" cy="193010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2226916" y="3280034"/>
              <a:ext cx="483587" cy="483587"/>
            </a:xfrm>
            <a:prstGeom prst="ellipse">
              <a:avLst/>
            </a:prstGeom>
            <a:solidFill>
              <a:srgbClr val="DC95AA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2532214" y="3022693"/>
              <a:ext cx="171464" cy="171464"/>
            </a:xfrm>
            <a:prstGeom prst="ellipse">
              <a:avLst/>
            </a:prstGeom>
            <a:solidFill>
              <a:srgbClr val="DC95AA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2834829" y="3161396"/>
              <a:ext cx="291736" cy="291736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2130410" y="3907685"/>
              <a:ext cx="194300" cy="194300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2878455" y="2164081"/>
              <a:ext cx="4589145" cy="731520"/>
            </a:xfrm>
            <a:custGeom>
              <a:avLst/>
              <a:gdLst>
                <a:gd name="connsiteX0" fmla="*/ 0 w 5943600"/>
                <a:gd name="connsiteY0" fmla="*/ 411480 h 731520"/>
                <a:gd name="connsiteX1" fmla="*/ 289560 w 5943600"/>
                <a:gd name="connsiteY1" fmla="*/ 731520 h 731520"/>
                <a:gd name="connsiteX2" fmla="*/ 617220 w 5943600"/>
                <a:gd name="connsiteY2" fmla="*/ 0 h 731520"/>
                <a:gd name="connsiteX3" fmla="*/ 731520 w 5943600"/>
                <a:gd name="connsiteY3" fmla="*/ 419100 h 731520"/>
                <a:gd name="connsiteX4" fmla="*/ 5943600 w 5943600"/>
                <a:gd name="connsiteY4" fmla="*/ 419100 h 73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43600" h="731520">
                  <a:moveTo>
                    <a:pt x="0" y="411480"/>
                  </a:moveTo>
                  <a:lnTo>
                    <a:pt x="289560" y="731520"/>
                  </a:lnTo>
                  <a:lnTo>
                    <a:pt x="617220" y="0"/>
                  </a:lnTo>
                  <a:lnTo>
                    <a:pt x="731520" y="419100"/>
                  </a:lnTo>
                  <a:lnTo>
                    <a:pt x="5943600" y="419100"/>
                  </a:lnTo>
                </a:path>
              </a:pathLst>
            </a:custGeom>
            <a:noFill/>
            <a:ln>
              <a:solidFill>
                <a:srgbClr val="DC95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5"/>
            <p:cNvSpPr txBox="1"/>
            <p:nvPr/>
          </p:nvSpPr>
          <p:spPr>
            <a:xfrm>
              <a:off x="4530092" y="1921926"/>
              <a:ext cx="3429000" cy="707876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zh-CN" altLang="en-US" sz="4000" b="1" dirty="0">
                  <a:solidFill>
                    <a:schemeClr val="bg1">
                      <a:lumMod val="65000"/>
                    </a:schemeClr>
                  </a:solidFill>
                </a:rPr>
                <a:t>源码分析</a:t>
              </a:r>
            </a:p>
          </p:txBody>
        </p:sp>
        <p:sp>
          <p:nvSpPr>
            <p:cNvPr id="25" name="椭圆 24"/>
            <p:cNvSpPr/>
            <p:nvPr/>
          </p:nvSpPr>
          <p:spPr>
            <a:xfrm>
              <a:off x="7354908" y="2187623"/>
              <a:ext cx="228321" cy="228320"/>
            </a:xfrm>
            <a:prstGeom prst="ellipse">
              <a:avLst/>
            </a:prstGeom>
            <a:solidFill>
              <a:srgbClr val="DC95AA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7657523" y="2383183"/>
              <a:ext cx="319214" cy="319214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 4"/>
          <p:cNvSpPr/>
          <p:nvPr/>
        </p:nvSpPr>
        <p:spPr>
          <a:xfrm>
            <a:off x="379730" y="344805"/>
            <a:ext cx="8384540" cy="4453890"/>
          </a:xfrm>
          <a:prstGeom prst="rect">
            <a:avLst/>
          </a:prstGeom>
          <a:noFill/>
          <a:ln w="57150">
            <a:solidFill>
              <a:srgbClr val="DC95AA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150036" y="161307"/>
            <a:ext cx="1800493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全栈架构概览</a:t>
            </a:r>
          </a:p>
        </p:txBody>
      </p:sp>
      <p:grpSp>
        <p:nvGrpSpPr>
          <p:cNvPr id="53" name="组合 52"/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8" name="矩形 27"/>
          <p:cNvSpPr/>
          <p:nvPr>
            <p:custDataLst>
              <p:tags r:id="rId1"/>
            </p:custDataLst>
          </p:nvPr>
        </p:nvSpPr>
        <p:spPr>
          <a:xfrm>
            <a:off x="2639140" y="394192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29" name="矩形 28"/>
          <p:cNvSpPr/>
          <p:nvPr>
            <p:custDataLst>
              <p:tags r:id="rId2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0AB60F-6145-4143-BAD6-31D7BBC124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68" y="1533108"/>
            <a:ext cx="7271792" cy="2501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415365" y="161307"/>
            <a:ext cx="126983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交互流程</a:t>
            </a:r>
          </a:p>
        </p:txBody>
      </p:sp>
      <p:grpSp>
        <p:nvGrpSpPr>
          <p:cNvPr id="53" name="组合 52"/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8" name="矩形 27"/>
          <p:cNvSpPr/>
          <p:nvPr>
            <p:custDataLst>
              <p:tags r:id="rId1"/>
            </p:custDataLst>
          </p:nvPr>
        </p:nvSpPr>
        <p:spPr>
          <a:xfrm>
            <a:off x="2639140" y="394192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29" name="矩形 28"/>
          <p:cNvSpPr/>
          <p:nvPr>
            <p:custDataLst>
              <p:tags r:id="rId2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pic>
        <p:nvPicPr>
          <p:cNvPr id="3" name="Drawing 2">
            <a:extLst>
              <a:ext uri="{FF2B5EF4-FFF2-40B4-BE49-F238E27FC236}">
                <a16:creationId xmlns:a16="http://schemas.microsoft.com/office/drawing/2014/main" id="{D7B0B011-5B9C-F9AC-113D-9571E6B040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951" t="-205" r="14225" b="2532"/>
          <a:stretch/>
        </p:blipFill>
        <p:spPr>
          <a:xfrm>
            <a:off x="2224315" y="123478"/>
            <a:ext cx="3888432" cy="475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840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E75A3-0055-E271-4FB8-8D27CFAFB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8D47EBF-A86B-EC04-5152-8793FD475669}"/>
              </a:ext>
            </a:extLst>
          </p:cNvPr>
          <p:cNvSpPr/>
          <p:nvPr/>
        </p:nvSpPr>
        <p:spPr bwMode="auto">
          <a:xfrm>
            <a:off x="150036" y="161307"/>
            <a:ext cx="1800493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课程操作流程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E8745597-8A37-6CA8-6055-A4E8529C035B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442CFF8E-9BFF-991B-083B-8E5A81D04D79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9A3B00A9-8BEC-44B1-265B-733B503D990A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9E75714-6EDC-3C25-E42D-C6CBF4EBC4B7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0B3DA661-7EA1-4472-269E-D6DE6BDF09AE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1CD1771-18BA-9526-9FE3-36531C1A13E9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915E96B2-37F0-E725-4885-50BEE4EBE70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39140" y="394192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FEDB951-9A54-E022-4648-4A22CCAA39A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954FC7-7BC9-2EF5-E300-39DEA3A2DAB5}"/>
              </a:ext>
            </a:extLst>
          </p:cNvPr>
          <p:cNvSpPr txBox="1"/>
          <p:nvPr/>
        </p:nvSpPr>
        <p:spPr>
          <a:xfrm>
            <a:off x="1049946" y="796039"/>
            <a:ext cx="7194127" cy="3551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+mn-ea"/>
              </a:rPr>
              <a:t>1.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n-ea"/>
              </a:rPr>
              <a:t>用户操作前端组件（插入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+mn-ea"/>
              </a:rPr>
              <a:t>/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n-ea"/>
              </a:rPr>
              <a:t>删除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+mn-ea"/>
              </a:rPr>
              <a:t>/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n-ea"/>
              </a:rPr>
              <a:t>排序数据结构）；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+mn-ea"/>
              </a:rPr>
              <a:t>2.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n-ea"/>
              </a:rPr>
              <a:t>前端组件调用算法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+mn-ea"/>
              </a:rPr>
              <a:t>JS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n-ea"/>
              </a:rPr>
              <a:t>核心逻辑，同步生成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+mn-ea"/>
              </a:rPr>
              <a:t>Canvas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n-ea"/>
              </a:rPr>
              <a:t>可视化动画；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+mn-ea"/>
              </a:rPr>
              <a:t>3.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n-ea"/>
              </a:rPr>
              <a:t>操作日志实时存入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+mn-ea"/>
              </a:rPr>
              <a:t>localStorage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n-ea"/>
              </a:rPr>
              <a:t>；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+mn-ea"/>
              </a:rPr>
              <a:t>4.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n-ea"/>
              </a:rPr>
              <a:t>点击 “同步云端” 时，前端调用后端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+mn-ea"/>
              </a:rPr>
              <a:t>upload_action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n-ea"/>
              </a:rPr>
              <a:t>接口，将日志存入数据库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+mn-ea"/>
              </a:rPr>
              <a:t>action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n-ea"/>
              </a:rPr>
              <a:t>表；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+mn-ea"/>
              </a:rPr>
              <a:t>5.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n-ea"/>
              </a:rPr>
              <a:t>点击 “加载云端” 时，前端调用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+mn-ea"/>
              </a:rPr>
              <a:t>download_action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n-ea"/>
              </a:rPr>
              <a:t>接口，从数据库查询操作记录并回放流程。</a:t>
            </a:r>
          </a:p>
        </p:txBody>
      </p:sp>
      <p:sp>
        <p:nvSpPr>
          <p:cNvPr id="7" name="Flowchart: Off-page Connector 63">
            <a:extLst>
              <a:ext uri="{FF2B5EF4-FFF2-40B4-BE49-F238E27FC236}">
                <a16:creationId xmlns:a16="http://schemas.microsoft.com/office/drawing/2014/main" id="{AEB11D3B-98FB-49C1-84FD-1A7F0AB8C05D}"/>
              </a:ext>
            </a:extLst>
          </p:cNvPr>
          <p:cNvSpPr/>
          <p:nvPr/>
        </p:nvSpPr>
        <p:spPr>
          <a:xfrm rot="16200000">
            <a:off x="648996" y="954623"/>
            <a:ext cx="241498" cy="316369"/>
          </a:xfrm>
          <a:prstGeom prst="flowChartOffpageConnector">
            <a:avLst/>
          </a:prstGeom>
          <a:solidFill>
            <a:srgbClr val="DC95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algn="ctr"/>
            <a:endParaRPr lang="en-US" dirty="0">
              <a:cs typeface="+mn-ea"/>
            </a:endParaRPr>
          </a:p>
        </p:txBody>
      </p:sp>
      <p:sp>
        <p:nvSpPr>
          <p:cNvPr id="8" name="Flowchart: Off-page Connector 65">
            <a:extLst>
              <a:ext uri="{FF2B5EF4-FFF2-40B4-BE49-F238E27FC236}">
                <a16:creationId xmlns:a16="http://schemas.microsoft.com/office/drawing/2014/main" id="{CB8FBCB8-80AF-88FA-848C-171914A38FAD}"/>
              </a:ext>
            </a:extLst>
          </p:cNvPr>
          <p:cNvSpPr/>
          <p:nvPr/>
        </p:nvSpPr>
        <p:spPr>
          <a:xfrm rot="16200000">
            <a:off x="652258" y="1493531"/>
            <a:ext cx="241498" cy="316369"/>
          </a:xfrm>
          <a:prstGeom prst="flowChartOffpageConnector">
            <a:avLst/>
          </a:prstGeom>
          <a:solidFill>
            <a:srgbClr val="9177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algn="ctr"/>
            <a:endParaRPr lang="en-US" dirty="0">
              <a:cs typeface="+mn-ea"/>
            </a:endParaRPr>
          </a:p>
        </p:txBody>
      </p:sp>
      <p:sp>
        <p:nvSpPr>
          <p:cNvPr id="9" name="Flowchart: Off-page Connector 63">
            <a:extLst>
              <a:ext uri="{FF2B5EF4-FFF2-40B4-BE49-F238E27FC236}">
                <a16:creationId xmlns:a16="http://schemas.microsoft.com/office/drawing/2014/main" id="{62454EE6-C264-826D-3688-7F27472B7C88}"/>
              </a:ext>
            </a:extLst>
          </p:cNvPr>
          <p:cNvSpPr/>
          <p:nvPr/>
        </p:nvSpPr>
        <p:spPr>
          <a:xfrm rot="16200000">
            <a:off x="648997" y="2089714"/>
            <a:ext cx="241498" cy="316369"/>
          </a:xfrm>
          <a:prstGeom prst="flowChartOffpageConnector">
            <a:avLst/>
          </a:prstGeom>
          <a:solidFill>
            <a:srgbClr val="DC95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algn="ctr"/>
            <a:endParaRPr lang="en-US" dirty="0">
              <a:cs typeface="+mn-ea"/>
            </a:endParaRPr>
          </a:p>
        </p:txBody>
      </p:sp>
      <p:sp>
        <p:nvSpPr>
          <p:cNvPr id="10" name="Flowchart: Off-page Connector 65">
            <a:extLst>
              <a:ext uri="{FF2B5EF4-FFF2-40B4-BE49-F238E27FC236}">
                <a16:creationId xmlns:a16="http://schemas.microsoft.com/office/drawing/2014/main" id="{8DE7418A-BEE3-8449-7965-E19984C665B4}"/>
              </a:ext>
            </a:extLst>
          </p:cNvPr>
          <p:cNvSpPr/>
          <p:nvPr/>
        </p:nvSpPr>
        <p:spPr>
          <a:xfrm rot="16200000">
            <a:off x="648997" y="2616668"/>
            <a:ext cx="241498" cy="316369"/>
          </a:xfrm>
          <a:prstGeom prst="flowChartOffpageConnector">
            <a:avLst/>
          </a:prstGeom>
          <a:solidFill>
            <a:srgbClr val="9177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algn="ctr"/>
            <a:endParaRPr lang="en-US" dirty="0">
              <a:cs typeface="+mn-ea"/>
            </a:endParaRPr>
          </a:p>
        </p:txBody>
      </p:sp>
      <p:sp>
        <p:nvSpPr>
          <p:cNvPr id="12" name="Flowchart: Off-page Connector 63">
            <a:extLst>
              <a:ext uri="{FF2B5EF4-FFF2-40B4-BE49-F238E27FC236}">
                <a16:creationId xmlns:a16="http://schemas.microsoft.com/office/drawing/2014/main" id="{F1037AA5-1AF9-2825-62BA-FC6FCEFC7920}"/>
              </a:ext>
            </a:extLst>
          </p:cNvPr>
          <p:cNvSpPr/>
          <p:nvPr/>
        </p:nvSpPr>
        <p:spPr>
          <a:xfrm rot="16200000">
            <a:off x="648997" y="3606811"/>
            <a:ext cx="241498" cy="316369"/>
          </a:xfrm>
          <a:prstGeom prst="flowChartOffpageConnector">
            <a:avLst/>
          </a:prstGeom>
          <a:solidFill>
            <a:srgbClr val="DC95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algn="ctr"/>
            <a:endParaRPr lang="en-US" dirty="0"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91161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bldLvl="0" animBg="1"/>
      <p:bldP spid="10" grpId="0" bldLvl="0" animBg="1"/>
      <p:bldP spid="1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E2499-FA6B-8365-2176-263D5341A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C4DB9A8-8F3D-47CA-A492-118FE6DFDB1F}"/>
              </a:ext>
            </a:extLst>
          </p:cNvPr>
          <p:cNvSpPr/>
          <p:nvPr/>
        </p:nvSpPr>
        <p:spPr bwMode="auto">
          <a:xfrm>
            <a:off x="155265" y="154474"/>
            <a:ext cx="126188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技术选型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FB0752F-F296-C26C-E96C-C87AABC042D3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69840423-0EAE-F232-EB94-1B1ACB2D4B9C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65315C9A-FF8C-F86C-C213-A9BA3405C48F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3047301-C6FF-16BC-7AC6-A58CE396C005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00FBC36-F891-A27E-EA90-F74C2983AD13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7CE9854-FC38-68A4-2473-0E75FDB8692E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AAABD9EE-F538-D369-9A34-2D4DA1B60E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39140" y="394192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27DB283-B45C-0858-9B9E-1AC079332DA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3A997F3-D486-E8F6-BD74-05E0ACA9E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568108"/>
              </p:ext>
            </p:extLst>
          </p:nvPr>
        </p:nvGraphicFramePr>
        <p:xfrm>
          <a:off x="419340" y="1122425"/>
          <a:ext cx="8229600" cy="314325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4576995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29208485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2991379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1969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维度</a:t>
                      </a:r>
                    </a:p>
                  </a:txBody>
                  <a:tcPr marL="128588" marR="128588" marT="85725" marB="85725" anchor="ctr">
                    <a:lnL w="4877" cap="flat" cmpd="sng" algn="ctr">
                      <a:solidFill>
                        <a:srgbClr val="30A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50B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B0A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90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69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技术选型</a:t>
                      </a:r>
                    </a:p>
                  </a:txBody>
                  <a:tcPr marL="128588" marR="128588" marT="85725" marB="85725" anchor="ctr">
                    <a:lnL w="4877" cap="flat" cmpd="sng" algn="ctr">
                      <a:solidFill>
                        <a:srgbClr val="50B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D0A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B0A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30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69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设计亮点</a:t>
                      </a:r>
                    </a:p>
                  </a:txBody>
                  <a:tcPr marL="128588" marR="128588" marT="85725" marB="85725" anchor="ctr">
                    <a:lnL w="4877" cap="flat" cmpd="sng" algn="ctr">
                      <a:solidFill>
                        <a:srgbClr val="D0A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D0A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D0A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E056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254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969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前端</a:t>
                      </a:r>
                    </a:p>
                  </a:txBody>
                  <a:tcPr marL="128588" marR="128588" marT="85725" marB="85725" anchor="ctr">
                    <a:lnL w="4877" cap="flat" cmpd="sng" algn="ctr">
                      <a:solidFill>
                        <a:srgbClr val="F0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50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90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10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69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Vue3+Vite+Canvas+ViewDesign</a:t>
                      </a:r>
                    </a:p>
                  </a:txBody>
                  <a:tcPr marL="128588" marR="128588" marT="85725" marB="85725" anchor="ctr">
                    <a:lnL w="4877" cap="flat" cmpd="sng" algn="ctr">
                      <a:solidFill>
                        <a:srgbClr val="50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10B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30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5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69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组件化开发，可视化直观，适配教学场景</a:t>
                      </a:r>
                    </a:p>
                  </a:txBody>
                  <a:tcPr marL="128588" marR="128588" marT="85725" marB="85725" anchor="ctr">
                    <a:lnL w="4877" cap="flat" cmpd="sng" algn="ctr">
                      <a:solidFill>
                        <a:srgbClr val="10B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90A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E056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005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005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969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后端</a:t>
                      </a:r>
                    </a:p>
                  </a:txBody>
                  <a:tcPr marL="128588" marR="128588" marT="85725" marB="85725" anchor="ctr">
                    <a:lnL w="4877" cap="flat" cmpd="sng" algn="ctr">
                      <a:solidFill>
                        <a:srgbClr val="B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1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10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5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69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Spring Boot+Docker</a:t>
                      </a:r>
                    </a:p>
                  </a:txBody>
                  <a:tcPr marL="128588" marR="128588" marT="85725" marB="85725" anchor="ctr">
                    <a:lnL w="4877" cap="flat" cmpd="sng" algn="ctr">
                      <a:solidFill>
                        <a:srgbClr val="10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50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50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F0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69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轻量级架构，支持云部署，环境一致性强</a:t>
                      </a:r>
                    </a:p>
                  </a:txBody>
                  <a:tcPr marL="128588" marR="128588" marT="85725" marB="85725" anchor="ctr">
                    <a:lnL w="4877" cap="flat" cmpd="sng" algn="ctr">
                      <a:solidFill>
                        <a:srgbClr val="50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D0A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005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506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791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969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数据库</a:t>
                      </a:r>
                    </a:p>
                  </a:txBody>
                  <a:tcPr marL="128588" marR="128588" marT="85725" marB="85725" anchor="ctr">
                    <a:lnL w="4877" cap="flat" cmpd="sng" algn="ctr">
                      <a:solidFill>
                        <a:srgbClr val="10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3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5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D0E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MySQL + </a:t>
                      </a:r>
                      <a:r>
                        <a:rPr lang="zh-CN" altLang="en-US" b="0">
                          <a:effectLst/>
                        </a:rPr>
                        <a:t>外键关联 </a:t>
                      </a:r>
                      <a:r>
                        <a:rPr lang="en-US" altLang="zh-CN" b="0">
                          <a:effectLst/>
                        </a:rPr>
                        <a:t>+ </a:t>
                      </a:r>
                      <a:r>
                        <a:rPr lang="zh-CN" altLang="en-US" b="0">
                          <a:effectLst/>
                        </a:rPr>
                        <a:t>视图</a:t>
                      </a:r>
                    </a:p>
                  </a:txBody>
                  <a:tcPr marL="128588" marR="128588" marT="85725" marB="85725" anchor="ctr">
                    <a:lnL w="4877" cap="flat" cmpd="sng" algn="ctr">
                      <a:solidFill>
                        <a:srgbClr val="30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50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F0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50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69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数据关系清晰，简化学习统计查询</a:t>
                      </a:r>
                    </a:p>
                  </a:txBody>
                  <a:tcPr marL="128588" marR="128588" marT="85725" marB="85725" anchor="ctr">
                    <a:lnL w="4877" cap="flat" cmpd="sng" algn="ctr">
                      <a:solidFill>
                        <a:srgbClr val="50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D0A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506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9076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112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969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核心功能</a:t>
                      </a:r>
                    </a:p>
                  </a:txBody>
                  <a:tcPr marL="128588" marR="128588" marT="85725" marB="85725" anchor="ctr">
                    <a:lnL w="4877" cap="flat" cmpd="sng" algn="ctr">
                      <a:solidFill>
                        <a:srgbClr val="D0E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90E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D0E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30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69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多数据结构可视化 </a:t>
                      </a:r>
                      <a:r>
                        <a:rPr lang="en-US" altLang="zh-CN" b="0">
                          <a:effectLst/>
                        </a:rPr>
                        <a:t>+ </a:t>
                      </a:r>
                      <a:r>
                        <a:rPr lang="zh-CN" altLang="en-US" b="0">
                          <a:effectLst/>
                        </a:rPr>
                        <a:t>操作回溯 </a:t>
                      </a:r>
                      <a:r>
                        <a:rPr lang="en-US" altLang="zh-CN" b="0">
                          <a:effectLst/>
                        </a:rPr>
                        <a:t>+ </a:t>
                      </a:r>
                      <a:r>
                        <a:rPr lang="zh-CN" altLang="en-US" b="0">
                          <a:effectLst/>
                        </a:rPr>
                        <a:t>云端同步</a:t>
                      </a:r>
                    </a:p>
                  </a:txBody>
                  <a:tcPr marL="128588" marR="128588" marT="85725" marB="85725" anchor="ctr">
                    <a:lnL w="4877" cap="flat" cmpd="sng" algn="ctr">
                      <a:solidFill>
                        <a:srgbClr val="90E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50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50F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B0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69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覆盖线性 </a:t>
                      </a:r>
                      <a:r>
                        <a:rPr lang="en-US" altLang="zh-CN" b="0" dirty="0">
                          <a:effectLst/>
                        </a:rPr>
                        <a:t>/ </a:t>
                      </a:r>
                      <a:r>
                        <a:rPr lang="zh-CN" altLang="en-US" b="0" dirty="0">
                          <a:effectLst/>
                        </a:rPr>
                        <a:t>树 </a:t>
                      </a:r>
                      <a:r>
                        <a:rPr lang="en-US" altLang="zh-CN" b="0" dirty="0">
                          <a:effectLst/>
                        </a:rPr>
                        <a:t>/ </a:t>
                      </a:r>
                      <a:r>
                        <a:rPr lang="zh-CN" altLang="en-US" b="0" dirty="0">
                          <a:effectLst/>
                        </a:rPr>
                        <a:t>图等场景，满足教学核心需求</a:t>
                      </a:r>
                    </a:p>
                  </a:txBody>
                  <a:tcPr marL="128588" marR="128588" marT="85725" marB="85725" anchor="ctr">
                    <a:lnL w="4877" cap="flat" cmpd="sng" algn="ctr">
                      <a:solidFill>
                        <a:srgbClr val="50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90A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9076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90A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238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9029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E2499-FA6B-8365-2176-263D5341A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C4DB9A8-8F3D-47CA-A492-118FE6DFDB1F}"/>
              </a:ext>
            </a:extLst>
          </p:cNvPr>
          <p:cNvSpPr/>
          <p:nvPr/>
        </p:nvSpPr>
        <p:spPr bwMode="auto">
          <a:xfrm>
            <a:off x="155265" y="154474"/>
            <a:ext cx="126188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技术选型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FB0752F-F296-C26C-E96C-C87AABC042D3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69840423-0EAE-F232-EB94-1B1ACB2D4B9C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65315C9A-FF8C-F86C-C213-A9BA3405C48F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3047301-C6FF-16BC-7AC6-A58CE396C005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00FBC36-F891-A27E-EA90-F74C2983AD13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7CE9854-FC38-68A4-2473-0E75FDB8692E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AAABD9EE-F538-D369-9A34-2D4DA1B60E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39140" y="394192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27DB283-B45C-0858-9B9E-1AC079332DA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pic>
        <p:nvPicPr>
          <p:cNvPr id="4" name="Drawing 3">
            <a:extLst>
              <a:ext uri="{FF2B5EF4-FFF2-40B4-BE49-F238E27FC236}">
                <a16:creationId xmlns:a16="http://schemas.microsoft.com/office/drawing/2014/main" id="{F50BBBFC-D23E-178F-D9E4-4947A25A04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3728" y="654574"/>
            <a:ext cx="4429100" cy="372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95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1A12B-0677-B71C-10C7-E79F32F5D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54BC8F1-D20B-2494-5770-42388E469E05}"/>
              </a:ext>
            </a:extLst>
          </p:cNvPr>
          <p:cNvSpPr/>
          <p:nvPr/>
        </p:nvSpPr>
        <p:spPr bwMode="auto">
          <a:xfrm>
            <a:off x="126948" y="130761"/>
            <a:ext cx="1800493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网站功能测试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EA4412BA-40F5-CBB1-40D4-09A4BA6BB6D1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ADA31058-7CC1-B977-3AAF-916D0C698924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A6F61ED3-BDD5-7EEE-4CF7-19A90A4B98F9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DBC22AE-2AF3-4228-716A-DFBD1439DB77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0B17A743-8A46-853B-9AA4-CE02EB8C7C51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FA278D0-18F8-DA7B-8CC0-7D281246BB69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68AE0317-7129-99F5-C2F4-F91AC816638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39140" y="394192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2CAF00B-45FD-DE17-70E7-F0EB45FB4B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442A87-EC91-C06D-1EF4-AE44DC348D35}"/>
              </a:ext>
            </a:extLst>
          </p:cNvPr>
          <p:cNvSpPr txBox="1"/>
          <p:nvPr/>
        </p:nvSpPr>
        <p:spPr>
          <a:xfrm>
            <a:off x="115018" y="722110"/>
            <a:ext cx="3952926" cy="386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1.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代码逻辑问题</a:t>
            </a:r>
            <a:endParaRPr lang="en-US" altLang="zh-CN" sz="18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B5794A7-233F-A587-EB05-E065BB678E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38" y="2399976"/>
            <a:ext cx="3590925" cy="20955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18D3A47-3D63-647B-017F-639C098D4116}"/>
              </a:ext>
            </a:extLst>
          </p:cNvPr>
          <p:cNvSpPr txBox="1"/>
          <p:nvPr/>
        </p:nvSpPr>
        <p:spPr>
          <a:xfrm>
            <a:off x="323528" y="1560630"/>
            <a:ext cx="3242825" cy="81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1200" kern="100" dirty="0">
                <a:effectLst/>
                <a:latin typeface="+mn-ea"/>
                <a:cs typeface="Times New Roman" panose="02020603050405020304" pitchFamily="18" charset="0"/>
              </a:rPr>
              <a:t>链式队列</a:t>
            </a:r>
            <a:endParaRPr lang="en-US" altLang="zh-CN" sz="1200" kern="100" dirty="0">
              <a:solidFill>
                <a:schemeClr val="bg1">
                  <a:lumMod val="50000"/>
                </a:schemeClr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zh-CN" sz="1200" kern="1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实现逻辑是反的，可视化效果是头部插入删除，先进后出，正确</a:t>
            </a:r>
            <a:r>
              <a:rPr lang="zh-CN" altLang="en-US" sz="1200" kern="1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应</a:t>
            </a:r>
            <a:r>
              <a:rPr lang="zh-CN" altLang="zh-CN" sz="1200" kern="1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是先进先出，尾部插入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487C52-88FD-F4FF-A1EB-7655A7E645D1}"/>
              </a:ext>
            </a:extLst>
          </p:cNvPr>
          <p:cNvSpPr txBox="1"/>
          <p:nvPr/>
        </p:nvSpPr>
        <p:spPr>
          <a:xfrm>
            <a:off x="4333966" y="1507949"/>
            <a:ext cx="4219854" cy="603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zh-CN" sz="1100" kern="100" dirty="0">
                <a:effectLst/>
                <a:latin typeface="+mn-ea"/>
                <a:cs typeface="Times New Roman" panose="02020603050405020304" pitchFamily="18" charset="0"/>
              </a:rPr>
              <a:t>霍夫曼树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200" kern="1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&lt;</a:t>
            </a:r>
            <a:r>
              <a:rPr lang="zh-CN" altLang="zh-CN" sz="1200" kern="1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初始化示例</a:t>
            </a:r>
            <a:r>
              <a:rPr lang="en-US" altLang="zh-CN" sz="1200" kern="1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&gt;</a:t>
            </a:r>
            <a:r>
              <a:rPr lang="zh-CN" altLang="zh-CN" sz="1200" kern="1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功能无反应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2EF8F53-8F03-5B69-36BE-9D70E9E347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2139702"/>
            <a:ext cx="4031818" cy="223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54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1A12B-0677-B71C-10C7-E79F32F5D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54BC8F1-D20B-2494-5770-42388E469E05}"/>
              </a:ext>
            </a:extLst>
          </p:cNvPr>
          <p:cNvSpPr/>
          <p:nvPr/>
        </p:nvSpPr>
        <p:spPr bwMode="auto">
          <a:xfrm>
            <a:off x="126948" y="130761"/>
            <a:ext cx="1800493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网站功能测试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EA4412BA-40F5-CBB1-40D4-09A4BA6BB6D1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ADA31058-7CC1-B977-3AAF-916D0C698924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A6F61ED3-BDD5-7EEE-4CF7-19A90A4B98F9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DBC22AE-2AF3-4228-716A-DFBD1439DB77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0B17A743-8A46-853B-9AA4-CE02EB8C7C51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FA278D0-18F8-DA7B-8CC0-7D281246BB69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68AE0317-7129-99F5-C2F4-F91AC816638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39140" y="394192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2CAF00B-45FD-DE17-70E7-F0EB45FB4B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442A87-EC91-C06D-1EF4-AE44DC348D35}"/>
              </a:ext>
            </a:extLst>
          </p:cNvPr>
          <p:cNvSpPr txBox="1"/>
          <p:nvPr/>
        </p:nvSpPr>
        <p:spPr>
          <a:xfrm>
            <a:off x="115018" y="722110"/>
            <a:ext cx="3952926" cy="386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1.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代码逻辑问题</a:t>
            </a:r>
            <a:endParaRPr lang="en-US" altLang="zh-CN" sz="18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8D3A47-3D63-647B-017F-639C098D4116}"/>
              </a:ext>
            </a:extLst>
          </p:cNvPr>
          <p:cNvSpPr txBox="1"/>
          <p:nvPr/>
        </p:nvSpPr>
        <p:spPr>
          <a:xfrm>
            <a:off x="323528" y="1560630"/>
            <a:ext cx="3242825" cy="603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1200" kern="100" dirty="0">
                <a:effectLst/>
                <a:latin typeface="+mn-ea"/>
                <a:cs typeface="Times New Roman" panose="02020603050405020304" pitchFamily="18" charset="0"/>
              </a:rPr>
              <a:t>登录界面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1200" kern="1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退出登录按钮</a:t>
            </a:r>
            <a:endParaRPr lang="zh-CN" altLang="zh-CN" sz="1200" kern="100" dirty="0">
              <a:solidFill>
                <a:schemeClr val="bg1">
                  <a:lumMod val="50000"/>
                </a:schemeClr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2" name="图片 11" descr="猫和电脑&#10;&#10;AI 生成的内容可能不正确。">
            <a:extLst>
              <a:ext uri="{FF2B5EF4-FFF2-40B4-BE49-F238E27FC236}">
                <a16:creationId xmlns:a16="http://schemas.microsoft.com/office/drawing/2014/main" id="{49429A11-43DD-5405-AEDF-ED2129CF2E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09" t="-901" b="-1"/>
          <a:stretch/>
        </p:blipFill>
        <p:spPr>
          <a:xfrm>
            <a:off x="2915816" y="1019362"/>
            <a:ext cx="4176495" cy="320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4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1A12B-0677-B71C-10C7-E79F32F5D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54BC8F1-D20B-2494-5770-42388E469E05}"/>
              </a:ext>
            </a:extLst>
          </p:cNvPr>
          <p:cNvSpPr/>
          <p:nvPr/>
        </p:nvSpPr>
        <p:spPr bwMode="auto">
          <a:xfrm>
            <a:off x="126948" y="130761"/>
            <a:ext cx="1800493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网站功能测试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EA4412BA-40F5-CBB1-40D4-09A4BA6BB6D1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ADA31058-7CC1-B977-3AAF-916D0C698924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A6F61ED3-BDD5-7EEE-4CF7-19A90A4B98F9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DBC22AE-2AF3-4228-716A-DFBD1439DB77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0B17A743-8A46-853B-9AA4-CE02EB8C7C51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FA278D0-18F8-DA7B-8CC0-7D281246BB69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22CAF00B-45FD-DE17-70E7-F0EB45FB4BD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BE785B-FC86-C4F2-D6B1-8C6F49435749}"/>
              </a:ext>
            </a:extLst>
          </p:cNvPr>
          <p:cNvSpPr txBox="1"/>
          <p:nvPr/>
        </p:nvSpPr>
        <p:spPr>
          <a:xfrm>
            <a:off x="470004" y="1557798"/>
            <a:ext cx="4024074" cy="781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zh-CN" sz="1200" kern="100" dirty="0">
                <a:effectLst/>
                <a:latin typeface="+mn-ea"/>
                <a:cs typeface="Times New Roman" panose="02020603050405020304" pitchFamily="18" charset="0"/>
              </a:rPr>
              <a:t>小根堆大根堆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zh-CN" sz="1100" kern="1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结点数比较多时，画布显示不全，</a:t>
            </a:r>
            <a:r>
              <a:rPr lang="zh-CN" altLang="zh-CN" sz="1100" kern="100" dirty="0">
                <a:solidFill>
                  <a:schemeClr val="bg1">
                    <a:lumMod val="50000"/>
                  </a:schemeClr>
                </a:solidFill>
                <a:latin typeface="+mn-ea"/>
                <a:cs typeface="Times New Roman" panose="02020603050405020304" pitchFamily="18" charset="0"/>
              </a:rPr>
              <a:t>左侧会溢出</a:t>
            </a:r>
            <a:r>
              <a:rPr lang="zh-CN" altLang="en-US" sz="1100" kern="100" dirty="0">
                <a:solidFill>
                  <a:schemeClr val="bg1">
                    <a:lumMod val="50000"/>
                  </a:schemeClr>
                </a:solidFill>
                <a:latin typeface="+mn-ea"/>
                <a:cs typeface="Times New Roman" panose="02020603050405020304" pitchFamily="18" charset="0"/>
              </a:rPr>
              <a:t>，</a:t>
            </a:r>
            <a:r>
              <a:rPr lang="zh-CN" altLang="zh-CN" sz="1100" kern="1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缩小画布比例也</a:t>
            </a:r>
            <a:r>
              <a:rPr lang="zh-CN" altLang="en-US" sz="1100" kern="100" dirty="0">
                <a:solidFill>
                  <a:schemeClr val="bg1">
                    <a:lumMod val="50000"/>
                  </a:schemeClr>
                </a:solidFill>
                <a:latin typeface="+mn-ea"/>
                <a:cs typeface="Times New Roman" panose="02020603050405020304" pitchFamily="18" charset="0"/>
              </a:rPr>
              <a:t>没办法显示全</a:t>
            </a:r>
            <a:endParaRPr lang="zh-CN" altLang="zh-CN" sz="1100" kern="100" dirty="0">
              <a:solidFill>
                <a:schemeClr val="bg1">
                  <a:lumMod val="50000"/>
                </a:schemeClr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D876F5B-9452-42D9-CB6F-89B58693C9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40" r="12201" b="26245"/>
          <a:stretch/>
        </p:blipFill>
        <p:spPr>
          <a:xfrm>
            <a:off x="539553" y="2499742"/>
            <a:ext cx="2880320" cy="131518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2CB92B2-A6BB-0F91-322B-A6EF22564DE3}"/>
              </a:ext>
            </a:extLst>
          </p:cNvPr>
          <p:cNvSpPr txBox="1"/>
          <p:nvPr/>
        </p:nvSpPr>
        <p:spPr>
          <a:xfrm>
            <a:off x="115018" y="722110"/>
            <a:ext cx="3952926" cy="386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2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.</a:t>
            </a:r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页面展示问题</a:t>
            </a:r>
            <a:endParaRPr lang="en-US" altLang="zh-CN" sz="18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D3F6DA6-6353-CA6C-D40E-D8EC37FB19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013460"/>
            <a:ext cx="3098923" cy="171609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C721684-7428-BE1F-F11D-DA09A97A6C66}"/>
              </a:ext>
            </a:extLst>
          </p:cNvPr>
          <p:cNvSpPr txBox="1"/>
          <p:nvPr/>
        </p:nvSpPr>
        <p:spPr>
          <a:xfrm>
            <a:off x="4679155" y="1189960"/>
            <a:ext cx="3654152" cy="603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zh-CN" sz="1200" kern="100" dirty="0">
                <a:effectLst/>
                <a:latin typeface="+mn-ea"/>
                <a:cs typeface="Times New Roman" panose="02020603050405020304" pitchFamily="18" charset="0"/>
              </a:rPr>
              <a:t>小根堆排序和大根堆排</a:t>
            </a:r>
            <a:endParaRPr lang="en-US" altLang="zh-CN" sz="12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zh-CN" sz="1100" kern="1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小根堆排序页面</a:t>
            </a:r>
            <a:r>
              <a:rPr lang="en-US" altLang="zh-CN" sz="1200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zh-CN" altLang="en-US" sz="1100" kern="1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右上角标注</a:t>
            </a:r>
            <a:r>
              <a:rPr lang="zh-CN" altLang="zh-CN" sz="1100" kern="1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实际上是大根堆排序的内容</a:t>
            </a:r>
          </a:p>
        </p:txBody>
      </p:sp>
    </p:spTree>
    <p:extLst>
      <p:ext uri="{BB962C8B-B14F-4D97-AF65-F5344CB8AC3E}">
        <p14:creationId xmlns:p14="http://schemas.microsoft.com/office/powerpoint/2010/main" val="115763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1A12B-0677-B71C-10C7-E79F32F5D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54BC8F1-D20B-2494-5770-42388E469E05}"/>
              </a:ext>
            </a:extLst>
          </p:cNvPr>
          <p:cNvSpPr/>
          <p:nvPr/>
        </p:nvSpPr>
        <p:spPr bwMode="auto">
          <a:xfrm>
            <a:off x="126948" y="130761"/>
            <a:ext cx="1800493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网站功能测试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EA4412BA-40F5-CBB1-40D4-09A4BA6BB6D1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ADA31058-7CC1-B977-3AAF-916D0C698924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A6F61ED3-BDD5-7EEE-4CF7-19A90A4B98F9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DBC22AE-2AF3-4228-716A-DFBD1439DB77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0B17A743-8A46-853B-9AA4-CE02EB8C7C51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FA278D0-18F8-DA7B-8CC0-7D281246BB69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22CAF00B-45FD-DE17-70E7-F0EB45FB4BD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BE785B-FC86-C4F2-D6B1-8C6F49435749}"/>
              </a:ext>
            </a:extLst>
          </p:cNvPr>
          <p:cNvSpPr txBox="1"/>
          <p:nvPr/>
        </p:nvSpPr>
        <p:spPr>
          <a:xfrm>
            <a:off x="251520" y="1293036"/>
            <a:ext cx="4024074" cy="586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200" kern="100" dirty="0">
                <a:effectLst/>
                <a:latin typeface="+mn-ea"/>
                <a:cs typeface="Times New Roman" panose="02020603050405020304" pitchFamily="18" charset="0"/>
              </a:rPr>
              <a:t>首页登录</a:t>
            </a:r>
            <a:r>
              <a:rPr lang="zh-CN" altLang="en-US" sz="1200" kern="100" dirty="0">
                <a:latin typeface="+mn-ea"/>
                <a:cs typeface="Times New Roman" panose="02020603050405020304" pitchFamily="18" charset="0"/>
              </a:rPr>
              <a:t>加载小文件</a:t>
            </a:r>
            <a:endParaRPr lang="zh-CN" altLang="zh-CN" sz="12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100" kern="100" dirty="0">
                <a:solidFill>
                  <a:schemeClr val="bg1">
                    <a:lumMod val="50000"/>
                  </a:schemeClr>
                </a:solidFill>
                <a:latin typeface="+mn-ea"/>
                <a:cs typeface="Times New Roman" panose="02020603050405020304" pitchFamily="18" charset="0"/>
              </a:rPr>
              <a:t>首页登录会加载当前用不到的很多小文件导致数据很慢</a:t>
            </a:r>
            <a:endParaRPr lang="zh-CN" altLang="zh-CN" sz="1100" kern="100" dirty="0">
              <a:solidFill>
                <a:schemeClr val="bg1">
                  <a:lumMod val="50000"/>
                </a:schemeClr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CB92B2-A6BB-0F91-322B-A6EF22564DE3}"/>
              </a:ext>
            </a:extLst>
          </p:cNvPr>
          <p:cNvSpPr txBox="1"/>
          <p:nvPr/>
        </p:nvSpPr>
        <p:spPr>
          <a:xfrm>
            <a:off x="206192" y="791945"/>
            <a:ext cx="3952926" cy="386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3.</a:t>
            </a:r>
            <a:r>
              <a:rPr lang="zh-CN" altLang="en-US" kern="100" dirty="0">
                <a:latin typeface="+mn-ea"/>
                <a:cs typeface="Times New Roman" panose="02020603050405020304" pitchFamily="18" charset="0"/>
              </a:rPr>
              <a:t>软件质量问题</a:t>
            </a:r>
            <a:endParaRPr lang="en-US" altLang="zh-CN" sz="18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4" name="图片 3" descr="表格&#10;&#10;AI 生成的内容可能不正确。">
            <a:extLst>
              <a:ext uri="{FF2B5EF4-FFF2-40B4-BE49-F238E27FC236}">
                <a16:creationId xmlns:a16="http://schemas.microsoft.com/office/drawing/2014/main" id="{B9EBB80A-E12B-B090-9A8A-8327964D42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63" y="757301"/>
            <a:ext cx="3456384" cy="390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948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1A12B-0677-B71C-10C7-E79F32F5D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54BC8F1-D20B-2494-5770-42388E469E05}"/>
              </a:ext>
            </a:extLst>
          </p:cNvPr>
          <p:cNvSpPr/>
          <p:nvPr/>
        </p:nvSpPr>
        <p:spPr bwMode="auto">
          <a:xfrm>
            <a:off x="126948" y="130761"/>
            <a:ext cx="1800493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网站功能测试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EA4412BA-40F5-CBB1-40D4-09A4BA6BB6D1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ADA31058-7CC1-B977-3AAF-916D0C698924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A6F61ED3-BDD5-7EEE-4CF7-19A90A4B98F9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DBC22AE-2AF3-4228-716A-DFBD1439DB77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0B17A743-8A46-853B-9AA4-CE02EB8C7C51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FA278D0-18F8-DA7B-8CC0-7D281246BB69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22CAF00B-45FD-DE17-70E7-F0EB45FB4BD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CB92B2-A6BB-0F91-322B-A6EF22564DE3}"/>
              </a:ext>
            </a:extLst>
          </p:cNvPr>
          <p:cNvSpPr txBox="1"/>
          <p:nvPr/>
        </p:nvSpPr>
        <p:spPr>
          <a:xfrm>
            <a:off x="206192" y="791945"/>
            <a:ext cx="3952926" cy="386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3.</a:t>
            </a:r>
            <a:r>
              <a:rPr lang="zh-CN" altLang="en-US" kern="100" dirty="0">
                <a:latin typeface="+mn-ea"/>
                <a:cs typeface="Times New Roman" panose="02020603050405020304" pitchFamily="18" charset="0"/>
              </a:rPr>
              <a:t>软件质量问题</a:t>
            </a:r>
            <a:endParaRPr lang="en-US" altLang="zh-CN" sz="18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C721684-7428-BE1F-F11D-DA09A97A6C66}"/>
              </a:ext>
            </a:extLst>
          </p:cNvPr>
          <p:cNvSpPr txBox="1"/>
          <p:nvPr/>
        </p:nvSpPr>
        <p:spPr>
          <a:xfrm>
            <a:off x="3059832" y="1048319"/>
            <a:ext cx="3654152" cy="28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200" kern="100" dirty="0">
                <a:latin typeface="+mn-ea"/>
                <a:cs typeface="Times New Roman" panose="02020603050405020304" pitchFamily="18" charset="0"/>
              </a:rPr>
              <a:t>页面嵌套</a:t>
            </a:r>
            <a:endParaRPr lang="en-US" altLang="zh-CN" sz="12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7" name="图片 6" descr="电脑萤幕的截图&#10;&#10;AI 生成的内容可能不正确。">
            <a:extLst>
              <a:ext uri="{FF2B5EF4-FFF2-40B4-BE49-F238E27FC236}">
                <a16:creationId xmlns:a16="http://schemas.microsoft.com/office/drawing/2014/main" id="{5731F672-DDB9-2B64-A445-8B04063D81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62" y="1459375"/>
            <a:ext cx="4680520" cy="2963391"/>
          </a:xfrm>
          <a:prstGeom prst="rect">
            <a:avLst/>
          </a:prstGeom>
        </p:spPr>
      </p:pic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5F69698A-6840-FD1A-1D25-07B9824750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4493" y="2067694"/>
            <a:ext cx="3419872" cy="153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48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1A12B-0677-B71C-10C7-E79F32F5D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54BC8F1-D20B-2494-5770-42388E469E05}"/>
              </a:ext>
            </a:extLst>
          </p:cNvPr>
          <p:cNvSpPr/>
          <p:nvPr/>
        </p:nvSpPr>
        <p:spPr bwMode="auto">
          <a:xfrm>
            <a:off x="126948" y="130761"/>
            <a:ext cx="1800493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网站功能测试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EA4412BA-40F5-CBB1-40D4-09A4BA6BB6D1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ADA31058-7CC1-B977-3AAF-916D0C698924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A6F61ED3-BDD5-7EEE-4CF7-19A90A4B98F9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DBC22AE-2AF3-4228-716A-DFBD1439DB77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0B17A743-8A46-853B-9AA4-CE02EB8C7C51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FA278D0-18F8-DA7B-8CC0-7D281246BB69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22CAF00B-45FD-DE17-70E7-F0EB45FB4BD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BE785B-FC86-C4F2-D6B1-8C6F49435749}"/>
              </a:ext>
            </a:extLst>
          </p:cNvPr>
          <p:cNvSpPr txBox="1"/>
          <p:nvPr/>
        </p:nvSpPr>
        <p:spPr>
          <a:xfrm>
            <a:off x="971600" y="1352390"/>
            <a:ext cx="1080120" cy="586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200" kern="100" dirty="0">
                <a:latin typeface="+mn-ea"/>
                <a:cs typeface="Times New Roman" panose="02020603050405020304" pitchFamily="18" charset="0"/>
              </a:rPr>
              <a:t>接口设计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100" kern="1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结构化很差</a:t>
            </a:r>
            <a:endParaRPr lang="zh-CN" altLang="zh-CN" sz="1100" kern="100" dirty="0">
              <a:solidFill>
                <a:schemeClr val="bg1">
                  <a:lumMod val="50000"/>
                </a:schemeClr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CB92B2-A6BB-0F91-322B-A6EF22564DE3}"/>
              </a:ext>
            </a:extLst>
          </p:cNvPr>
          <p:cNvSpPr txBox="1"/>
          <p:nvPr/>
        </p:nvSpPr>
        <p:spPr>
          <a:xfrm>
            <a:off x="206192" y="791945"/>
            <a:ext cx="3952926" cy="386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3.</a:t>
            </a:r>
            <a:r>
              <a:rPr lang="zh-CN" altLang="en-US" kern="100" dirty="0">
                <a:latin typeface="+mn-ea"/>
                <a:cs typeface="Times New Roman" panose="02020603050405020304" pitchFamily="18" charset="0"/>
              </a:rPr>
              <a:t>软件质量问题</a:t>
            </a:r>
            <a:endParaRPr lang="en-US" altLang="zh-CN" sz="18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ABFF510-34C8-658C-82AC-0B48DCA38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928" y="1276929"/>
            <a:ext cx="2556792" cy="62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923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8D744-F2AC-E64A-95A2-0DE4CF99C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151D694-CD72-6D58-F73D-56816517DAD3}"/>
              </a:ext>
            </a:extLst>
          </p:cNvPr>
          <p:cNvSpPr/>
          <p:nvPr/>
        </p:nvSpPr>
        <p:spPr bwMode="auto">
          <a:xfrm>
            <a:off x="150035" y="161307"/>
            <a:ext cx="180049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核心问题分析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D3EE35E-8A88-9B30-0145-3DCC8A399276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204135C6-B53A-7A2D-43C0-295A9D08EAD6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0E4E14D5-1D2B-45E1-08A6-5C8EEC06853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1AA464A-F80C-97BA-424F-2581BDACA9DB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550594E3-105C-A1B8-F984-AE89C186769C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699E9F8-A19E-649F-01A3-5F3FC28A7B05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A120E1FA-3F68-116C-BAE9-BAF3AF97CB2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6B99F170-1549-F847-1582-CEEADB81AFF1}"/>
              </a:ext>
            </a:extLst>
          </p:cNvPr>
          <p:cNvSpPr/>
          <p:nvPr/>
        </p:nvSpPr>
        <p:spPr bwMode="auto">
          <a:xfrm>
            <a:off x="809785" y="2279225"/>
            <a:ext cx="7358584" cy="1171407"/>
          </a:xfrm>
          <a:custGeom>
            <a:avLst/>
            <a:gdLst/>
            <a:ahLst/>
            <a:cxnLst/>
            <a:rect l="l" t="t" r="r" b="b"/>
            <a:pathLst>
              <a:path w="9972375" h="1593851">
                <a:moveTo>
                  <a:pt x="3857177" y="0"/>
                </a:moveTo>
                <a:cubicBezTo>
                  <a:pt x="4297065" y="0"/>
                  <a:pt x="4653286" y="356937"/>
                  <a:pt x="4653286" y="796926"/>
                </a:cubicBezTo>
                <a:lnTo>
                  <a:pt x="4653286" y="803900"/>
                </a:lnTo>
                <a:lnTo>
                  <a:pt x="5523554" y="803900"/>
                </a:lnTo>
                <a:lnTo>
                  <a:pt x="5523554" y="930698"/>
                </a:lnTo>
                <a:cubicBezTo>
                  <a:pt x="5585671" y="1236281"/>
                  <a:pt x="5855689" y="1467053"/>
                  <a:pt x="6180217" y="1467053"/>
                </a:cubicBezTo>
                <a:cubicBezTo>
                  <a:pt x="6504111" y="1467053"/>
                  <a:pt x="6774129" y="1236281"/>
                  <a:pt x="6836246" y="930698"/>
                </a:cubicBezTo>
                <a:lnTo>
                  <a:pt x="6836246" y="803900"/>
                </a:lnTo>
                <a:lnTo>
                  <a:pt x="7735037" y="803900"/>
                </a:lnTo>
                <a:lnTo>
                  <a:pt x="7735037" y="796926"/>
                </a:lnTo>
                <a:cubicBezTo>
                  <a:pt x="7735037" y="356937"/>
                  <a:pt x="8091891" y="0"/>
                  <a:pt x="8531779" y="0"/>
                </a:cubicBezTo>
                <a:cubicBezTo>
                  <a:pt x="8971667" y="0"/>
                  <a:pt x="9328522" y="356937"/>
                  <a:pt x="9328522" y="796926"/>
                </a:cubicBezTo>
                <a:lnTo>
                  <a:pt x="9328522" y="803900"/>
                </a:lnTo>
                <a:lnTo>
                  <a:pt x="9972375" y="803900"/>
                </a:lnTo>
                <a:lnTo>
                  <a:pt x="9972375" y="930698"/>
                </a:lnTo>
                <a:lnTo>
                  <a:pt x="9201753" y="930698"/>
                </a:lnTo>
                <a:lnTo>
                  <a:pt x="9201753" y="803900"/>
                </a:lnTo>
                <a:lnTo>
                  <a:pt x="9201753" y="796926"/>
                </a:lnTo>
                <a:cubicBezTo>
                  <a:pt x="9201753" y="426675"/>
                  <a:pt x="8901944" y="126798"/>
                  <a:pt x="8531779" y="126798"/>
                </a:cubicBezTo>
                <a:cubicBezTo>
                  <a:pt x="8162248" y="126798"/>
                  <a:pt x="7861806" y="426675"/>
                  <a:pt x="7861806" y="796926"/>
                </a:cubicBezTo>
                <a:lnTo>
                  <a:pt x="7861806" y="803900"/>
                </a:lnTo>
                <a:lnTo>
                  <a:pt x="7861806" y="930698"/>
                </a:lnTo>
                <a:lnTo>
                  <a:pt x="6965550" y="930698"/>
                </a:lnTo>
                <a:cubicBezTo>
                  <a:pt x="6901532" y="1306654"/>
                  <a:pt x="6574468" y="1593851"/>
                  <a:pt x="6180217" y="1593851"/>
                </a:cubicBezTo>
                <a:cubicBezTo>
                  <a:pt x="5785332" y="1593851"/>
                  <a:pt x="5458268" y="1306654"/>
                  <a:pt x="5394884" y="930698"/>
                </a:cubicBezTo>
                <a:lnTo>
                  <a:pt x="4526517" y="930698"/>
                </a:lnTo>
                <a:lnTo>
                  <a:pt x="4526517" y="800096"/>
                </a:lnTo>
                <a:lnTo>
                  <a:pt x="4526517" y="796926"/>
                </a:lnTo>
                <a:cubicBezTo>
                  <a:pt x="4526517" y="426675"/>
                  <a:pt x="4226709" y="126798"/>
                  <a:pt x="3857177" y="126798"/>
                </a:cubicBezTo>
                <a:cubicBezTo>
                  <a:pt x="3487012" y="126798"/>
                  <a:pt x="3187204" y="426675"/>
                  <a:pt x="3187204" y="796926"/>
                </a:cubicBezTo>
                <a:lnTo>
                  <a:pt x="3187204" y="800730"/>
                </a:lnTo>
                <a:lnTo>
                  <a:pt x="3187204" y="930698"/>
                </a:lnTo>
                <a:lnTo>
                  <a:pt x="2271299" y="930698"/>
                </a:lnTo>
                <a:cubicBezTo>
                  <a:pt x="2207280" y="1306654"/>
                  <a:pt x="1880217" y="1593851"/>
                  <a:pt x="1485966" y="1593851"/>
                </a:cubicBezTo>
                <a:cubicBezTo>
                  <a:pt x="1091080" y="1593851"/>
                  <a:pt x="764017" y="1306654"/>
                  <a:pt x="700632" y="930698"/>
                </a:cubicBezTo>
                <a:lnTo>
                  <a:pt x="0" y="930698"/>
                </a:lnTo>
                <a:lnTo>
                  <a:pt x="0" y="803900"/>
                </a:lnTo>
                <a:lnTo>
                  <a:pt x="829303" y="803900"/>
                </a:lnTo>
                <a:lnTo>
                  <a:pt x="829303" y="930698"/>
                </a:lnTo>
                <a:cubicBezTo>
                  <a:pt x="891419" y="1236281"/>
                  <a:pt x="1161437" y="1467053"/>
                  <a:pt x="1485966" y="1467053"/>
                </a:cubicBezTo>
                <a:cubicBezTo>
                  <a:pt x="1809860" y="1467053"/>
                  <a:pt x="2079878" y="1236281"/>
                  <a:pt x="2141994" y="930698"/>
                </a:cubicBezTo>
                <a:lnTo>
                  <a:pt x="2141994" y="803900"/>
                </a:lnTo>
                <a:lnTo>
                  <a:pt x="3060435" y="803900"/>
                </a:lnTo>
                <a:lnTo>
                  <a:pt x="3060435" y="796926"/>
                </a:lnTo>
                <a:cubicBezTo>
                  <a:pt x="3060435" y="356937"/>
                  <a:pt x="3417289" y="0"/>
                  <a:pt x="385717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8" cap="flat">
            <a:noFill/>
            <a:prstDash val="solid"/>
            <a:miter lim="800000"/>
          </a:ln>
        </p:spPr>
        <p:txBody>
          <a:bodyPr vert="horz" wrap="square" lIns="67391" tIns="33696" rIns="67391" bIns="33696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046B6946-4C73-997A-FC5C-797FC200F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600" y="2321769"/>
            <a:ext cx="1024550" cy="1018556"/>
          </a:xfrm>
          <a:prstGeom prst="ellipse">
            <a:avLst/>
          </a:prstGeom>
          <a:solidFill>
            <a:srgbClr val="7B76AE"/>
          </a:solidFill>
          <a:ln w="25400" cap="flat" cmpd="sng">
            <a:solidFill>
              <a:srgbClr val="FFFFEB"/>
            </a:solidFill>
            <a:bevel/>
          </a:ln>
          <a:effectLst/>
        </p:spPr>
        <p:txBody>
          <a:bodyPr lIns="53487" tIns="26744" rIns="53487" bIns="26744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0" hangingPunct="0"/>
            <a:r>
              <a:rPr lang="zh-CN" altLang="en-US" sz="1800" b="1" dirty="0">
                <a:solidFill>
                  <a:schemeClr val="bg1"/>
                </a:solidFill>
                <a:latin typeface="+mn-ea"/>
                <a:ea typeface="+mn-ea"/>
                <a:sym typeface="宋体" panose="02010600030101010101" pitchFamily="2" charset="-122"/>
              </a:rPr>
              <a:t>前端架构</a:t>
            </a:r>
            <a:endParaRPr lang="zh-CN" altLang="en-US" sz="18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EA0E324-393B-F9C8-0A24-C44ACE530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2818" y="2376190"/>
            <a:ext cx="1024550" cy="1018556"/>
          </a:xfrm>
          <a:prstGeom prst="ellipse">
            <a:avLst/>
          </a:prstGeom>
          <a:solidFill>
            <a:srgbClr val="7B76AE"/>
          </a:solidFill>
          <a:ln w="25400" cap="flat" cmpd="sng">
            <a:solidFill>
              <a:srgbClr val="FFFFEB"/>
            </a:solidFill>
            <a:bevel/>
          </a:ln>
          <a:effectLst/>
        </p:spPr>
        <p:txBody>
          <a:bodyPr lIns="53487" tIns="26744" rIns="53487" bIns="26744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0" hangingPunct="0"/>
            <a:r>
              <a:rPr lang="zh-CN" altLang="en-US" sz="1800" b="1" dirty="0">
                <a:solidFill>
                  <a:schemeClr val="bg1"/>
                </a:solidFill>
                <a:latin typeface="+mn-ea"/>
                <a:ea typeface="+mn-ea"/>
                <a:sym typeface="宋体" panose="02010600030101010101" pitchFamily="2" charset="-122"/>
              </a:rPr>
              <a:t>后端接口</a:t>
            </a:r>
            <a:endParaRPr lang="zh-CN" altLang="en-US" sz="18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9A31D85-93FC-BE3B-6B29-561E3EC1A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6395" y="2332254"/>
            <a:ext cx="1024550" cy="1018556"/>
          </a:xfrm>
          <a:prstGeom prst="ellipse">
            <a:avLst/>
          </a:prstGeom>
          <a:solidFill>
            <a:srgbClr val="DC95AA"/>
          </a:solidFill>
          <a:ln w="25400" cap="flat" cmpd="sng">
            <a:solidFill>
              <a:srgbClr val="FFFFEB"/>
            </a:solidFill>
            <a:bevel/>
          </a:ln>
          <a:effectLst/>
        </p:spPr>
        <p:txBody>
          <a:bodyPr lIns="53487" tIns="26744" rIns="53487" bIns="26744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0" hangingPunct="0"/>
            <a:r>
              <a:rPr lang="zh-CN" altLang="en-US" sz="1800" b="1" dirty="0">
                <a:solidFill>
                  <a:schemeClr val="bg1"/>
                </a:solidFill>
                <a:latin typeface="+mn-ea"/>
                <a:ea typeface="+mn-ea"/>
                <a:sym typeface="宋体" panose="02010600030101010101" pitchFamily="2" charset="-122"/>
              </a:rPr>
              <a:t>数据库</a:t>
            </a:r>
            <a:endParaRPr lang="zh-CN" altLang="en-US" sz="18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5A2A0A7-F547-0402-2D87-6068317BD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6333" y="2356130"/>
            <a:ext cx="1024550" cy="1018556"/>
          </a:xfrm>
          <a:prstGeom prst="ellipse">
            <a:avLst/>
          </a:prstGeom>
          <a:solidFill>
            <a:srgbClr val="DC95AA"/>
          </a:solidFill>
          <a:ln w="25400" cap="flat" cmpd="sng">
            <a:solidFill>
              <a:srgbClr val="FFFFEB"/>
            </a:solidFill>
            <a:bevel/>
          </a:ln>
          <a:effectLst/>
        </p:spPr>
        <p:txBody>
          <a:bodyPr lIns="53487" tIns="26744" rIns="53487" bIns="26744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0" hangingPunct="0"/>
            <a:r>
              <a:rPr lang="zh-CN" altLang="en-US" sz="1800" b="1" dirty="0">
                <a:solidFill>
                  <a:schemeClr val="bg1"/>
                </a:solidFill>
                <a:latin typeface="+mn-ea"/>
                <a:ea typeface="+mn-ea"/>
                <a:sym typeface="宋体" panose="02010600030101010101" pitchFamily="2" charset="-122"/>
              </a:rPr>
              <a:t>算法逻辑</a:t>
            </a:r>
            <a:endParaRPr lang="zh-CN" altLang="en-US" sz="18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8" name="Group 6">
            <a:extLst>
              <a:ext uri="{FF2B5EF4-FFF2-40B4-BE49-F238E27FC236}">
                <a16:creationId xmlns:a16="http://schemas.microsoft.com/office/drawing/2014/main" id="{40C52DB5-3186-718D-7026-25B64C857B10}"/>
              </a:ext>
            </a:extLst>
          </p:cNvPr>
          <p:cNvGrpSpPr/>
          <p:nvPr/>
        </p:nvGrpSpPr>
        <p:grpSpPr bwMode="auto">
          <a:xfrm>
            <a:off x="564027" y="3485635"/>
            <a:ext cx="2668039" cy="1300035"/>
            <a:chOff x="0" y="0"/>
            <a:chExt cx="1856582" cy="1428701"/>
          </a:xfrm>
        </p:grpSpPr>
        <p:sp>
          <p:nvSpPr>
            <p:cNvPr id="9" name="Line 58">
              <a:extLst>
                <a:ext uri="{FF2B5EF4-FFF2-40B4-BE49-F238E27FC236}">
                  <a16:creationId xmlns:a16="http://schemas.microsoft.com/office/drawing/2014/main" id="{B4D2F0B6-294B-3016-4AEF-2DA4DC02DA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3706" y="0"/>
              <a:ext cx="1" cy="334963"/>
            </a:xfrm>
            <a:prstGeom prst="line">
              <a:avLst/>
            </a:prstGeom>
            <a:noFill/>
            <a:ln w="19050" cap="flat" cmpd="sng">
              <a:solidFill>
                <a:srgbClr val="9B827D"/>
              </a:solidFill>
              <a:beve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72574" tIns="36287" rIns="72574" bIns="36287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0" hangingPunct="0"/>
              <a:endParaRPr lang="zh-CN" altLang="zh-CN" sz="100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" name="Line 59">
              <a:extLst>
                <a:ext uri="{FF2B5EF4-FFF2-40B4-BE49-F238E27FC236}">
                  <a16:creationId xmlns:a16="http://schemas.microsoft.com/office/drawing/2014/main" id="{D75CF226-62FF-9EE5-FBB1-A4AEA4C7EC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056" y="344488"/>
              <a:ext cx="1495425" cy="1"/>
            </a:xfrm>
            <a:prstGeom prst="line">
              <a:avLst/>
            </a:prstGeom>
            <a:noFill/>
            <a:ln w="19050" cap="flat" cmpd="sng">
              <a:solidFill>
                <a:srgbClr val="9B827D"/>
              </a:solidFill>
              <a:prstDash val="sysDot"/>
              <a:beve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72574" tIns="36287" rIns="72574" bIns="36287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0" hangingPunct="0"/>
              <a:endParaRPr lang="zh-CN" altLang="zh-CN" sz="100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1" name="Text Box 60">
              <a:extLst>
                <a:ext uri="{FF2B5EF4-FFF2-40B4-BE49-F238E27FC236}">
                  <a16:creationId xmlns:a16="http://schemas.microsoft.com/office/drawing/2014/main" id="{2BC3DDB0-76DA-350D-7599-825B44E37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27111"/>
              <a:ext cx="1856582" cy="1101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72574" tIns="36287" rIns="72574" bIns="36287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>
                <a:lnSpc>
                  <a:spcPct val="130000"/>
                </a:lnSpc>
                <a:buClr>
                  <a:schemeClr val="hlink"/>
                </a:buClr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  <a:sym typeface="宋体" panose="02010600030101010101" pitchFamily="2" charset="-122"/>
                </a:rPr>
                <a:t> 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  <a:sym typeface="宋体" panose="02010600030101010101" pitchFamily="2" charset="-122"/>
                </a:rPr>
                <a:t>算法与可视化解耦不足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sym typeface="宋体" panose="02010600030101010101" pitchFamily="2" charset="-122"/>
              </a:endParaRPr>
            </a:p>
            <a:p>
              <a:pPr algn="ctr" eaLnBrk="0" hangingPunct="0">
                <a:lnSpc>
                  <a:spcPct val="130000"/>
                </a:lnSpc>
                <a:buClr>
                  <a:schemeClr val="hlink"/>
                </a:buClr>
              </a:pP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  <a:sym typeface="宋体" panose="02010600030101010101" pitchFamily="2" charset="-122"/>
                </a:rPr>
                <a:t>重复代码冗余严重</a:t>
              </a:r>
              <a:endPara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sym typeface="宋体" panose="02010600030101010101" pitchFamily="2" charset="-122"/>
              </a:endParaRPr>
            </a:p>
            <a:p>
              <a:pPr algn="ctr" eaLnBrk="0" hangingPunct="0">
                <a:lnSpc>
                  <a:spcPct val="130000"/>
                </a:lnSpc>
                <a:buClr>
                  <a:schemeClr val="hlink"/>
                </a:buClr>
              </a:pPr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  <a:sym typeface="宋体" panose="02010600030101010101" pitchFamily="2" charset="-122"/>
                </a:rPr>
                <a:t> 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  <a:sym typeface="宋体" panose="02010600030101010101" pitchFamily="2" charset="-122"/>
                </a:rPr>
                <a:t>模块分层混乱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sym typeface="宋体" panose="02010600030101010101" pitchFamily="2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7FE8E20-A30F-14F6-DF5C-00BFF92AF5B0}"/>
              </a:ext>
            </a:extLst>
          </p:cNvPr>
          <p:cNvGrpSpPr/>
          <p:nvPr/>
        </p:nvGrpSpPr>
        <p:grpSpPr>
          <a:xfrm>
            <a:off x="2565836" y="1213878"/>
            <a:ext cx="2510219" cy="1035784"/>
            <a:chOff x="3470090" y="1386916"/>
            <a:chExt cx="2952326" cy="1386944"/>
          </a:xfrm>
        </p:grpSpPr>
        <p:sp>
          <p:nvSpPr>
            <p:cNvPr id="16" name="Line 68">
              <a:extLst>
                <a:ext uri="{FF2B5EF4-FFF2-40B4-BE49-F238E27FC236}">
                  <a16:creationId xmlns:a16="http://schemas.microsoft.com/office/drawing/2014/main" id="{E4D7B6C9-07A7-4969-24D9-A49249E47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0658" y="2451956"/>
              <a:ext cx="0" cy="321904"/>
            </a:xfrm>
            <a:prstGeom prst="line">
              <a:avLst/>
            </a:prstGeom>
            <a:noFill/>
            <a:ln w="19050" cap="flat" cmpd="sng">
              <a:solidFill>
                <a:srgbClr val="9B827D"/>
              </a:solidFill>
              <a:beve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72574" tIns="36287" rIns="72574" bIns="36287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0" hangingPunct="0"/>
              <a:endParaRPr lang="zh-CN" altLang="zh-CN" sz="100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7" name="Line 69">
              <a:extLst>
                <a:ext uri="{FF2B5EF4-FFF2-40B4-BE49-F238E27FC236}">
                  <a16:creationId xmlns:a16="http://schemas.microsoft.com/office/drawing/2014/main" id="{EC1370F3-8871-EE27-AA74-F6C8020853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090" y="2441093"/>
              <a:ext cx="2872531" cy="1"/>
            </a:xfrm>
            <a:prstGeom prst="line">
              <a:avLst/>
            </a:prstGeom>
            <a:noFill/>
            <a:ln w="19050" cap="flat" cmpd="sng">
              <a:solidFill>
                <a:srgbClr val="9B827D"/>
              </a:solidFill>
              <a:prstDash val="sysDot"/>
              <a:beve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72574" tIns="36287" rIns="72574" bIns="36287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0" hangingPunct="0"/>
              <a:endParaRPr lang="zh-CN" altLang="zh-CN" sz="100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8" name="Text Box 70">
              <a:extLst>
                <a:ext uri="{FF2B5EF4-FFF2-40B4-BE49-F238E27FC236}">
                  <a16:creationId xmlns:a16="http://schemas.microsoft.com/office/drawing/2014/main" id="{21F7D8E1-E700-9469-6385-D449CAC0E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090" y="1386916"/>
              <a:ext cx="2952326" cy="9136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72574" tIns="36287" rIns="72574" bIns="36287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>
                <a:lnSpc>
                  <a:spcPct val="130000"/>
                </a:lnSpc>
                <a:buClr>
                  <a:schemeClr val="accent2"/>
                </a:buClr>
              </a:pP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  <a:sym typeface="宋体" panose="02010600030101010101" pitchFamily="2" charset="-122"/>
                </a:rPr>
                <a:t>参数校验与异常处理缺失</a:t>
              </a:r>
              <a:endPara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sym typeface="宋体" panose="02010600030101010101" pitchFamily="2" charset="-122"/>
              </a:endParaRPr>
            </a:p>
            <a:p>
              <a:pPr algn="ctr" eaLnBrk="0" hangingPunct="0">
                <a:lnSpc>
                  <a:spcPct val="130000"/>
                </a:lnSpc>
                <a:buClr>
                  <a:schemeClr val="accent2"/>
                </a:buClr>
              </a:pP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  <a:sym typeface="宋体" panose="02010600030101010101" pitchFamily="2" charset="-122"/>
                </a:rPr>
                <a:t>功能单一，扩展性差</a:t>
              </a:r>
              <a:endPara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sym typeface="宋体" panose="02010600030101010101" pitchFamily="2" charset="-122"/>
              </a:endParaRPr>
            </a:p>
          </p:txBody>
        </p:sp>
      </p:grpSp>
      <p:grpSp>
        <p:nvGrpSpPr>
          <p:cNvPr id="19" name="Group 6">
            <a:extLst>
              <a:ext uri="{FF2B5EF4-FFF2-40B4-BE49-F238E27FC236}">
                <a16:creationId xmlns:a16="http://schemas.microsoft.com/office/drawing/2014/main" id="{4AEABD62-5643-AC7B-17EC-1927176DC010}"/>
              </a:ext>
            </a:extLst>
          </p:cNvPr>
          <p:cNvGrpSpPr/>
          <p:nvPr/>
        </p:nvGrpSpPr>
        <p:grpSpPr bwMode="auto">
          <a:xfrm>
            <a:off x="4281499" y="3485635"/>
            <a:ext cx="2221244" cy="1239651"/>
            <a:chOff x="0" y="0"/>
            <a:chExt cx="1856582" cy="1310059"/>
          </a:xfrm>
        </p:grpSpPr>
        <p:sp>
          <p:nvSpPr>
            <p:cNvPr id="20" name="Line 58">
              <a:extLst>
                <a:ext uri="{FF2B5EF4-FFF2-40B4-BE49-F238E27FC236}">
                  <a16:creationId xmlns:a16="http://schemas.microsoft.com/office/drawing/2014/main" id="{D492DD4B-6726-ABD4-1DF4-9C32EF1752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3706" y="0"/>
              <a:ext cx="1" cy="334963"/>
            </a:xfrm>
            <a:prstGeom prst="line">
              <a:avLst/>
            </a:prstGeom>
            <a:noFill/>
            <a:ln w="19050" cap="flat" cmpd="sng">
              <a:solidFill>
                <a:srgbClr val="9B827D"/>
              </a:solidFill>
              <a:beve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72574" tIns="36287" rIns="72574" bIns="36287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0" hangingPunct="0"/>
              <a:endParaRPr lang="zh-CN" altLang="zh-CN" sz="100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1" name="Line 59">
              <a:extLst>
                <a:ext uri="{FF2B5EF4-FFF2-40B4-BE49-F238E27FC236}">
                  <a16:creationId xmlns:a16="http://schemas.microsoft.com/office/drawing/2014/main" id="{559AEE11-159B-05A3-C63D-23EBE612E0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056" y="344488"/>
              <a:ext cx="1495425" cy="1"/>
            </a:xfrm>
            <a:prstGeom prst="line">
              <a:avLst/>
            </a:prstGeom>
            <a:noFill/>
            <a:ln w="19050" cap="flat" cmpd="sng">
              <a:solidFill>
                <a:srgbClr val="9B827D"/>
              </a:solidFill>
              <a:prstDash val="sysDot"/>
              <a:beve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72574" tIns="36287" rIns="72574" bIns="36287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0" hangingPunct="0"/>
              <a:endParaRPr lang="zh-CN" altLang="zh-CN" sz="100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Text Box 60">
              <a:extLst>
                <a:ext uri="{FF2B5EF4-FFF2-40B4-BE49-F238E27FC236}">
                  <a16:creationId xmlns:a16="http://schemas.microsoft.com/office/drawing/2014/main" id="{F0E058F5-99D2-2106-BA9A-21CFAF709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27111"/>
              <a:ext cx="1856582" cy="9829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72574" tIns="36287" rIns="72574" bIns="36287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>
                <a:lnSpc>
                  <a:spcPct val="130000"/>
                </a:lnSpc>
                <a:buClr>
                  <a:schemeClr val="hlink"/>
                </a:buClr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  <a:sym typeface="宋体" panose="02010600030101010101" pitchFamily="2" charset="-122"/>
                </a:rPr>
                <a:t> 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  <a:sym typeface="宋体" panose="02010600030101010101" pitchFamily="2" charset="-122"/>
                </a:rPr>
                <a:t>字段类型不合理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sym typeface="宋体" panose="02010600030101010101" pitchFamily="2" charset="-122"/>
              </a:endParaRPr>
            </a:p>
            <a:p>
              <a:pPr algn="ctr" eaLnBrk="0" hangingPunct="0">
                <a:lnSpc>
                  <a:spcPct val="130000"/>
                </a:lnSpc>
                <a:buClr>
                  <a:schemeClr val="hlink"/>
                </a:buClr>
              </a:pP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  <a:sym typeface="宋体" panose="02010600030101010101" pitchFamily="2" charset="-122"/>
                </a:rPr>
                <a:t>冗余字段与性能风险</a:t>
              </a:r>
              <a:endPara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sym typeface="宋体" panose="02010600030101010101" pitchFamily="2" charset="-122"/>
              </a:endParaRPr>
            </a:p>
            <a:p>
              <a:pPr algn="ctr" eaLnBrk="0" hangingPunct="0">
                <a:lnSpc>
                  <a:spcPct val="130000"/>
                </a:lnSpc>
                <a:buClr>
                  <a:schemeClr val="hlink"/>
                </a:buClr>
              </a:pPr>
              <a:endPara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sym typeface="宋体" panose="02010600030101010101" pitchFamily="2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E4844FC-BFA8-DCA9-B80E-2760E30094EA}"/>
              </a:ext>
            </a:extLst>
          </p:cNvPr>
          <p:cNvGrpSpPr/>
          <p:nvPr/>
        </p:nvGrpSpPr>
        <p:grpSpPr>
          <a:xfrm>
            <a:off x="6048737" y="1209936"/>
            <a:ext cx="2178512" cy="1082830"/>
            <a:chOff x="3470090" y="1300530"/>
            <a:chExt cx="2952326" cy="1473330"/>
          </a:xfrm>
        </p:grpSpPr>
        <p:sp>
          <p:nvSpPr>
            <p:cNvPr id="24" name="Line 68">
              <a:extLst>
                <a:ext uri="{FF2B5EF4-FFF2-40B4-BE49-F238E27FC236}">
                  <a16:creationId xmlns:a16="http://schemas.microsoft.com/office/drawing/2014/main" id="{CC5D4EC1-E9E4-446C-3FCE-04E3A3F319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0658" y="2451956"/>
              <a:ext cx="0" cy="321904"/>
            </a:xfrm>
            <a:prstGeom prst="line">
              <a:avLst/>
            </a:prstGeom>
            <a:noFill/>
            <a:ln w="19050" cap="flat" cmpd="sng">
              <a:solidFill>
                <a:srgbClr val="9B827D"/>
              </a:solidFill>
              <a:beve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72574" tIns="36287" rIns="72574" bIns="36287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0" hangingPunct="0"/>
              <a:endParaRPr lang="zh-CN" altLang="zh-CN" sz="100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5" name="Line 69">
              <a:extLst>
                <a:ext uri="{FF2B5EF4-FFF2-40B4-BE49-F238E27FC236}">
                  <a16:creationId xmlns:a16="http://schemas.microsoft.com/office/drawing/2014/main" id="{259DD111-9B1D-72C3-136E-1201EB105B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090" y="2441093"/>
              <a:ext cx="2872531" cy="1"/>
            </a:xfrm>
            <a:prstGeom prst="line">
              <a:avLst/>
            </a:prstGeom>
            <a:noFill/>
            <a:ln w="19050" cap="flat" cmpd="sng">
              <a:solidFill>
                <a:srgbClr val="9B827D"/>
              </a:solidFill>
              <a:prstDash val="sysDot"/>
              <a:beve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72574" tIns="36287" rIns="72574" bIns="36287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0" hangingPunct="0"/>
              <a:endParaRPr lang="zh-CN" altLang="zh-CN" sz="100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6" name="Text Box 70">
              <a:extLst>
                <a:ext uri="{FF2B5EF4-FFF2-40B4-BE49-F238E27FC236}">
                  <a16:creationId xmlns:a16="http://schemas.microsoft.com/office/drawing/2014/main" id="{2CCA7A45-1DF0-C1A1-C417-1FE1A1F79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090" y="1300530"/>
              <a:ext cx="2952326" cy="928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72574" tIns="36287" rIns="72574" bIns="36287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15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0" hangingPunct="0">
                <a:lnSpc>
                  <a:spcPct val="130000"/>
                </a:lnSpc>
                <a:buClr>
                  <a:schemeClr val="accent2"/>
                </a:buClr>
              </a:pP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  <a:sym typeface="宋体" panose="02010600030101010101" pitchFamily="2" charset="-122"/>
                </a:rPr>
                <a:t>边界处理不严谨</a:t>
              </a:r>
              <a:endPara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sym typeface="宋体" panose="02010600030101010101" pitchFamily="2" charset="-122"/>
              </a:endParaRPr>
            </a:p>
            <a:p>
              <a:pPr algn="ctr" eaLnBrk="0" hangingPunct="0">
                <a:lnSpc>
                  <a:spcPct val="130000"/>
                </a:lnSpc>
                <a:buClr>
                  <a:schemeClr val="accent2"/>
                </a:buClr>
              </a:pP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  <a:sym typeface="宋体" panose="02010600030101010101" pitchFamily="2" charset="-122"/>
                </a:rPr>
                <a:t>代码可读性差</a:t>
              </a:r>
              <a:endPara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sym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7823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F514C-B333-88BC-4F1D-108FCDBED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1DABFAB-D81A-DFE0-2EF0-7904C57F1CBF}"/>
              </a:ext>
            </a:extLst>
          </p:cNvPr>
          <p:cNvSpPr/>
          <p:nvPr/>
        </p:nvSpPr>
        <p:spPr bwMode="auto">
          <a:xfrm>
            <a:off x="97452" y="173622"/>
            <a:ext cx="3659977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例</a:t>
            </a:r>
            <a:r>
              <a:rPr lang="en-US" altLang="zh-CN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1</a:t>
            </a: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：链式队列模块源码问题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30913C95-8064-F5FA-132A-A700BD17981B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040B0F66-9AC7-EAEA-5044-BB71D2117EA3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154A0E37-FEE4-109C-A1EC-1F2970115040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DF60A15-3763-5DC2-CE4F-4672B84328A2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4B8C56D0-546A-122E-FCF9-BD6C0978B1EE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3A8C4FA-E206-5CB8-C96C-8CA87B6C108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BB4FD36D-96A5-9849-41F2-2F600CDC212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39140" y="394192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75A746-2E90-71A4-C5F8-6A708D120F8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2D3FACE-7237-8AF0-A7E8-1525CB2295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526431"/>
              </p:ext>
            </p:extLst>
          </p:nvPr>
        </p:nvGraphicFramePr>
        <p:xfrm>
          <a:off x="252175" y="915566"/>
          <a:ext cx="6441951" cy="3511204"/>
        </p:xfrm>
        <a:graphic>
          <a:graphicData uri="http://schemas.openxmlformats.org/drawingml/2006/table">
            <a:tbl>
              <a:tblPr/>
              <a:tblGrid>
                <a:gridCol w="1894367">
                  <a:extLst>
                    <a:ext uri="{9D8B030D-6E8A-4147-A177-3AD203B41FA5}">
                      <a16:colId xmlns:a16="http://schemas.microsoft.com/office/drawing/2014/main" val="3039941553"/>
                    </a:ext>
                  </a:extLst>
                </a:gridCol>
                <a:gridCol w="2387344">
                  <a:extLst>
                    <a:ext uri="{9D8B030D-6E8A-4147-A177-3AD203B41FA5}">
                      <a16:colId xmlns:a16="http://schemas.microsoft.com/office/drawing/2014/main" val="2011978933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1284520918"/>
                    </a:ext>
                  </a:extLst>
                </a:gridCol>
              </a:tblGrid>
              <a:tr h="310466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问题类型</a:t>
                      </a:r>
                    </a:p>
                  </a:txBody>
                  <a:tcPr marL="94718" marR="94718" marT="63146" marB="63146" anchor="ctr">
                    <a:lnL w="4877" cap="flat" cmpd="sng" algn="ctr">
                      <a:solidFill>
                        <a:srgbClr val="A08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408D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408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A09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具体表现</a:t>
                      </a:r>
                    </a:p>
                  </a:txBody>
                  <a:tcPr marL="94718" marR="94718" marT="63146" marB="63146" anchor="ctr">
                    <a:lnL w="4877" cap="flat" cmpd="sng" algn="ctr">
                      <a:solidFill>
                        <a:srgbClr val="408D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408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A090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609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对应代码位置</a:t>
                      </a:r>
                    </a:p>
                  </a:txBody>
                  <a:tcPr marL="94718" marR="94718" marT="63146" marB="63146" anchor="ctr">
                    <a:lnL w="4877" cap="flat" cmpd="sng" algn="ctr">
                      <a:solidFill>
                        <a:srgbClr val="408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408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408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D00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682275"/>
                  </a:ext>
                </a:extLst>
              </a:tr>
              <a:tr h="86299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逻辑偏离原理</a:t>
                      </a:r>
                    </a:p>
                  </a:txBody>
                  <a:tcPr marL="94718" marR="94718" marT="63146" marB="63146" anchor="ctr">
                    <a:lnL w="4877" cap="flat" cmpd="sng" algn="ctr">
                      <a:solidFill>
                        <a:srgbClr val="2097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609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A09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E09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插入操作允许 “非队尾插入”（实际应为队列仅队尾插入），导致表现为 “栈”</a:t>
                      </a:r>
                    </a:p>
                  </a:txBody>
                  <a:tcPr marL="94718" marR="94718" marT="63146" marB="63146" anchor="ctr">
                    <a:lnL w="4877" cap="flat" cmpd="sng" algn="ctr">
                      <a:solidFill>
                        <a:srgbClr val="609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A08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609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409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linkedQueue.vue（</a:t>
                      </a:r>
                      <a:r>
                        <a:rPr lang="zh-CN" altLang="en-US" sz="1200" b="0">
                          <a:effectLst/>
                        </a:rPr>
                        <a:t>操作面板）、</a:t>
                      </a:r>
                      <a:r>
                        <a:rPr lang="en-US" sz="1200" b="0">
                          <a:effectLst/>
                        </a:rPr>
                        <a:t>LinkedQueue.js（insertNode）</a:t>
                      </a:r>
                    </a:p>
                  </a:txBody>
                  <a:tcPr marL="94718" marR="94718" marT="63146" marB="63146" anchor="ctr">
                    <a:lnL w="4877" cap="flat" cmpd="sng" algn="ctr">
                      <a:solidFill>
                        <a:srgbClr val="A08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408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D00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D00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379217"/>
                  </a:ext>
                </a:extLst>
              </a:tr>
              <a:tr h="678815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代码冗余</a:t>
                      </a:r>
                    </a:p>
                  </a:txBody>
                  <a:tcPr marL="94718" marR="94718" marT="63146" marB="63146" anchor="ctr">
                    <a:lnL w="4877" cap="flat" cmpd="sng" algn="ctr">
                      <a:solidFill>
                        <a:srgbClr val="609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409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E095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00A1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每个页面重复写 </a:t>
                      </a:r>
                      <a:r>
                        <a:rPr lang="en-US" altLang="zh-CN" sz="1200" b="0">
                          <a:effectLst/>
                        </a:rPr>
                        <a:t>Canvas </a:t>
                      </a:r>
                      <a:r>
                        <a:rPr lang="zh-CN" altLang="en-US" sz="1200" b="0">
                          <a:effectLst/>
                        </a:rPr>
                        <a:t>初始化、速度控制逻辑，未封装通用组件</a:t>
                      </a:r>
                    </a:p>
                  </a:txBody>
                  <a:tcPr marL="94718" marR="94718" marT="63146" marB="63146" anchor="ctr">
                    <a:lnL w="4877" cap="flat" cmpd="sng" algn="ctr">
                      <a:solidFill>
                        <a:srgbClr val="409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E094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409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A09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linearList.vue、linkedQueue.vue </a:t>
                      </a:r>
                      <a:r>
                        <a:rPr lang="zh-CN" altLang="en-US" sz="1200" b="0">
                          <a:effectLst/>
                        </a:rPr>
                        <a:t>等</a:t>
                      </a:r>
                    </a:p>
                  </a:txBody>
                  <a:tcPr marL="94718" marR="94718" marT="63146" marB="63146" anchor="ctr">
                    <a:lnL w="4877" cap="flat" cmpd="sng" algn="ctr">
                      <a:solidFill>
                        <a:srgbClr val="E094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408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D00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7017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117584"/>
                  </a:ext>
                </a:extLst>
              </a:tr>
              <a:tr h="86299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边界条件缺失</a:t>
                      </a:r>
                    </a:p>
                  </a:txBody>
                  <a:tcPr marL="94718" marR="94718" marT="63146" marB="63146" anchor="ctr">
                    <a:lnL w="4877" cap="flat" cmpd="sng" algn="ctr">
                      <a:solidFill>
                        <a:srgbClr val="209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80A3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00A1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E0A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插入 </a:t>
                      </a:r>
                      <a:r>
                        <a:rPr lang="en-US" altLang="zh-CN" sz="1200" b="0">
                          <a:effectLst/>
                        </a:rPr>
                        <a:t>/ </a:t>
                      </a:r>
                      <a:r>
                        <a:rPr lang="zh-CN" altLang="en-US" sz="1200" b="0">
                          <a:effectLst/>
                        </a:rPr>
                        <a:t>删除时未校验 “队列空 </a:t>
                      </a:r>
                      <a:r>
                        <a:rPr lang="en-US" altLang="zh-CN" sz="1200" b="0">
                          <a:effectLst/>
                        </a:rPr>
                        <a:t>/ </a:t>
                      </a:r>
                      <a:r>
                        <a:rPr lang="zh-CN" altLang="en-US" sz="1200" b="0">
                          <a:effectLst/>
                        </a:rPr>
                        <a:t>满”（链式队列理论无 “满”，但未提示 “空队列删除”）</a:t>
                      </a:r>
                    </a:p>
                  </a:txBody>
                  <a:tcPr marL="94718" marR="94718" marT="63146" marB="63146" anchor="ctr">
                    <a:lnL w="4877" cap="flat" cmpd="sng" algn="ctr">
                      <a:solidFill>
                        <a:srgbClr val="80A3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A093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A09F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E0A4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LinkedQueue.js（deleteNode）</a:t>
                      </a:r>
                    </a:p>
                  </a:txBody>
                  <a:tcPr marL="94718" marR="94718" marT="63146" marB="63146" anchor="ctr">
                    <a:lnL w="4877" cap="flat" cmpd="sng" algn="ctr">
                      <a:solidFill>
                        <a:srgbClr val="A093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408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7017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F027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532486"/>
                  </a:ext>
                </a:extLst>
              </a:tr>
              <a:tr h="678815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 dirty="0">
                          <a:effectLst/>
                        </a:rPr>
                        <a:t>可视化与逻辑脱节</a:t>
                      </a:r>
                    </a:p>
                  </a:txBody>
                  <a:tcPr marL="94718" marR="94718" marT="63146" marB="63146" anchor="ctr">
                    <a:lnL w="4877" cap="flat" cmpd="sng" algn="ctr">
                      <a:solidFill>
                        <a:srgbClr val="60A8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20AD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E0A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E0A3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步骤描述错误（如 “中间插入”）、节点标识混淆（重复值）</a:t>
                      </a:r>
                    </a:p>
                  </a:txBody>
                  <a:tcPr marL="94718" marR="94718" marT="63146" marB="63146" anchor="ctr">
                    <a:lnL w="4877" cap="flat" cmpd="sng" algn="ctr">
                      <a:solidFill>
                        <a:srgbClr val="20AD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4098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E0A4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40B1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sz="1200" b="0" dirty="0">
                          <a:effectLst/>
                        </a:rPr>
                        <a:t>LinkedQueue.js</a:t>
                      </a:r>
                      <a:r>
                        <a:rPr lang="zh-CN" altLang="en-US" sz="1200" b="0" dirty="0">
                          <a:effectLst/>
                        </a:rPr>
                        <a:t>（步骤生成逻辑）</a:t>
                      </a:r>
                    </a:p>
                  </a:txBody>
                  <a:tcPr marL="94718" marR="94718" marT="63146" marB="63146" anchor="ctr">
                    <a:lnL w="4877" cap="flat" cmpd="sng" algn="ctr">
                      <a:solidFill>
                        <a:srgbClr val="4098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4086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F027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0089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13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817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7A12E-7AF1-29B9-0D52-7DEB6E8FD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组合 52">
            <a:extLst>
              <a:ext uri="{FF2B5EF4-FFF2-40B4-BE49-F238E27FC236}">
                <a16:creationId xmlns:a16="http://schemas.microsoft.com/office/drawing/2014/main" id="{AAC6383F-BFBF-AB84-2766-4E8A0BBCEA4D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F6E2C6B8-53CB-F169-DBC8-5A798DD75A7D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079B1CB4-AB0D-1065-7E87-D1D62B11C3EE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409E852-5074-863E-4C61-E70F5BF4F3A2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B13146C-5963-1A0A-3455-C5EB1FBE4DE0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7BA23F6-6769-D2A8-279E-EC144EB4E2CA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923BB8CD-77BD-8290-25F8-BD97F7AE83F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39140" y="394192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A28FA57-F58B-493C-0209-42DD7E166BF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E288B41-7922-06B5-93C0-D037A458D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100950"/>
              </p:ext>
            </p:extLst>
          </p:nvPr>
        </p:nvGraphicFramePr>
        <p:xfrm>
          <a:off x="185262" y="806530"/>
          <a:ext cx="7037038" cy="3843746"/>
        </p:xfrm>
        <a:graphic>
          <a:graphicData uri="http://schemas.openxmlformats.org/drawingml/2006/table">
            <a:tbl>
              <a:tblPr/>
              <a:tblGrid>
                <a:gridCol w="1780454">
                  <a:extLst>
                    <a:ext uri="{9D8B030D-6E8A-4147-A177-3AD203B41FA5}">
                      <a16:colId xmlns:a16="http://schemas.microsoft.com/office/drawing/2014/main" val="870605235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101474918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1164338523"/>
                    </a:ext>
                  </a:extLst>
                </a:gridCol>
              </a:tblGrid>
              <a:tr h="371987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000000"/>
                          </a:solidFill>
                          <a:effectLst/>
                        </a:rPr>
                        <a:t>问题类型</a:t>
                      </a:r>
                    </a:p>
                  </a:txBody>
                  <a:tcPr marL="100153" marR="100153" marT="66769" marB="66769" anchor="ctr">
                    <a:lnL w="4877" cap="flat" cmpd="sng" algn="ctr">
                      <a:solidFill>
                        <a:srgbClr val="601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C02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601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002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000000"/>
                          </a:solidFill>
                          <a:effectLst/>
                        </a:rPr>
                        <a:t>具体表现</a:t>
                      </a:r>
                    </a:p>
                  </a:txBody>
                  <a:tcPr marL="100153" marR="100153" marT="66769" marB="66769" anchor="ctr">
                    <a:lnL w="4877" cap="flat" cmpd="sng" algn="ctr">
                      <a:solidFill>
                        <a:srgbClr val="C02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40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A01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402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000000"/>
                          </a:solidFill>
                          <a:effectLst/>
                        </a:rPr>
                        <a:t>对应代码位置</a:t>
                      </a:r>
                    </a:p>
                  </a:txBody>
                  <a:tcPr marL="100153" marR="100153" marT="66769" marB="66769" anchor="ctr">
                    <a:lnL w="4877" cap="flat" cmpd="sng" algn="ctr">
                      <a:solidFill>
                        <a:srgbClr val="40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40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40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60A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154799"/>
                  </a:ext>
                </a:extLst>
              </a:tr>
              <a:tr h="916977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300" b="0">
                          <a:effectLst/>
                        </a:rPr>
                        <a:t>编码逻辑错误</a:t>
                      </a:r>
                    </a:p>
                  </a:txBody>
                  <a:tcPr marL="100153" marR="100153" marT="66769" marB="66769" anchor="ctr">
                    <a:lnL w="4877" cap="flat" cmpd="sng" algn="ctr">
                      <a:solidFill>
                        <a:srgbClr val="202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802E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002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403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300" b="0">
                          <a:effectLst/>
                        </a:rPr>
                        <a:t>根节点编码处理不当，导致所有节点编码前缀多空格；根节点索引依赖固定位置</a:t>
                      </a:r>
                    </a:p>
                  </a:txBody>
                  <a:tcPr marL="100153" marR="100153" marT="66769" marB="66769" anchor="ctr">
                    <a:lnL w="4877" cap="flat" cmpd="sng" algn="ctr">
                      <a:solidFill>
                        <a:srgbClr val="802E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E02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402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E03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sz="1300" b="0">
                          <a:effectLst/>
                        </a:rPr>
                        <a:t>HuffmanTree.js</a:t>
                      </a:r>
                      <a:r>
                        <a:rPr lang="zh-CN" altLang="en-US" sz="1300" b="0">
                          <a:effectLst/>
                        </a:rPr>
                        <a:t>（编码生成、根节点获取）</a:t>
                      </a:r>
                    </a:p>
                  </a:txBody>
                  <a:tcPr marL="100153" marR="100153" marT="66769" marB="66769" anchor="ctr">
                    <a:lnL w="4877" cap="flat" cmpd="sng" algn="ctr">
                      <a:solidFill>
                        <a:srgbClr val="E02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601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60AC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20A4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682327"/>
                  </a:ext>
                </a:extLst>
              </a:tr>
              <a:tr h="638328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300" b="0">
                          <a:effectLst/>
                        </a:rPr>
                        <a:t>数组越界风险</a:t>
                      </a:r>
                    </a:p>
                  </a:txBody>
                  <a:tcPr marL="100153" marR="100153" marT="66769" marB="66769" anchor="ctr">
                    <a:lnL w="4877" cap="flat" cmpd="sng" algn="ctr">
                      <a:solidFill>
                        <a:srgbClr val="2038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803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403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20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300" b="0">
                          <a:effectLst/>
                        </a:rPr>
                        <a:t>字符数超过 </a:t>
                      </a:r>
                      <a:r>
                        <a:rPr lang="en-US" altLang="zh-CN" sz="1300" b="0">
                          <a:effectLst/>
                        </a:rPr>
                        <a:t>30 </a:t>
                      </a:r>
                      <a:r>
                        <a:rPr lang="zh-CN" altLang="en-US" sz="1300" b="0">
                          <a:effectLst/>
                        </a:rPr>
                        <a:t>时，节点坐标数组访问越界</a:t>
                      </a:r>
                    </a:p>
                  </a:txBody>
                  <a:tcPr marL="100153" marR="100153" marT="66769" marB="66769" anchor="ctr">
                    <a:lnL w="4877" cap="flat" cmpd="sng" algn="ctr">
                      <a:solidFill>
                        <a:srgbClr val="803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8028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E03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E03E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300" b="0">
                          <a:effectLst/>
                        </a:rPr>
                        <a:t>HuffmanTree.js（CONST_x </a:t>
                      </a:r>
                      <a:r>
                        <a:rPr lang="zh-CN" altLang="en-US" sz="1300" b="0">
                          <a:effectLst/>
                        </a:rPr>
                        <a:t>数组）</a:t>
                      </a:r>
                    </a:p>
                  </a:txBody>
                  <a:tcPr marL="100153" marR="100153" marT="66769" marB="66769" anchor="ctr">
                    <a:lnL w="4877" cap="flat" cmpd="sng" algn="ctr">
                      <a:solidFill>
                        <a:srgbClr val="8028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601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20A4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20B6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732406"/>
                  </a:ext>
                </a:extLst>
              </a:tr>
              <a:tr h="904669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300" b="0">
                          <a:effectLst/>
                        </a:rPr>
                        <a:t>代码质量问题</a:t>
                      </a:r>
                    </a:p>
                  </a:txBody>
                  <a:tcPr marL="100153" marR="100153" marT="66769" marB="66769" anchor="ctr">
                    <a:lnL w="4877" cap="flat" cmpd="sng" algn="ctr">
                      <a:solidFill>
                        <a:srgbClr val="C03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E042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203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A048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300" b="0">
                          <a:effectLst/>
                        </a:rPr>
                        <a:t>变量命名不规范（如</a:t>
                      </a:r>
                      <a:r>
                        <a:rPr lang="en-US" sz="1300" b="0">
                          <a:solidFill>
                            <a:srgbClr val="000000"/>
                          </a:solidFill>
                          <a:effectLst/>
                          <a:latin typeface="Menlo"/>
                        </a:rPr>
                        <a:t>numOfFatherNode</a:t>
                      </a:r>
                      <a:r>
                        <a:rPr lang="en-US" sz="1300" b="0">
                          <a:effectLst/>
                        </a:rPr>
                        <a:t>）、</a:t>
                      </a:r>
                      <a:r>
                        <a:rPr lang="zh-CN" altLang="en-US" sz="1300" b="0">
                          <a:effectLst/>
                        </a:rPr>
                        <a:t>注释缺失，可读性差</a:t>
                      </a:r>
                    </a:p>
                  </a:txBody>
                  <a:tcPr marL="100153" marR="100153" marT="66769" marB="66769" anchor="ctr">
                    <a:lnL w="4877" cap="flat" cmpd="sng" algn="ctr">
                      <a:solidFill>
                        <a:srgbClr val="E042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8028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E03E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404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300" b="0">
                          <a:effectLst/>
                        </a:rPr>
                        <a:t>HuffmanTree.js（</a:t>
                      </a:r>
                      <a:r>
                        <a:rPr lang="zh-CN" altLang="en-US" sz="1300" b="0">
                          <a:effectLst/>
                        </a:rPr>
                        <a:t>整体代码）</a:t>
                      </a:r>
                    </a:p>
                  </a:txBody>
                  <a:tcPr marL="100153" marR="100153" marT="66769" marB="66769" anchor="ctr">
                    <a:lnL w="4877" cap="flat" cmpd="sng" algn="ctr">
                      <a:solidFill>
                        <a:srgbClr val="8028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E02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20B6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00BB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262887"/>
                  </a:ext>
                </a:extLst>
              </a:tr>
              <a:tr h="1010422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300" b="0" dirty="0">
                          <a:effectLst/>
                        </a:rPr>
                        <a:t>显示逻辑耦合</a:t>
                      </a:r>
                    </a:p>
                  </a:txBody>
                  <a:tcPr marL="100153" marR="100153" marT="66769" marB="66769" anchor="ctr">
                    <a:lnL w="4877" cap="flat" cmpd="sng" algn="ctr">
                      <a:solidFill>
                        <a:srgbClr val="004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C04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A048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E042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300" b="0">
                          <a:effectLst/>
                        </a:rPr>
                        <a:t>算法逻辑与 </a:t>
                      </a:r>
                      <a:r>
                        <a:rPr lang="en-US" altLang="zh-CN" sz="1300" b="0">
                          <a:effectLst/>
                        </a:rPr>
                        <a:t>Canvas </a:t>
                      </a:r>
                      <a:r>
                        <a:rPr lang="zh-CN" altLang="en-US" sz="1300" b="0">
                          <a:effectLst/>
                        </a:rPr>
                        <a:t>动画指令（如</a:t>
                      </a:r>
                      <a:r>
                        <a:rPr lang="en-US" altLang="zh-CN" sz="1300" b="0">
                          <a:solidFill>
                            <a:srgbClr val="000000"/>
                          </a:solidFill>
                          <a:effectLst/>
                          <a:latin typeface="Menlo"/>
                        </a:rPr>
                        <a:t>cmd</a:t>
                      </a:r>
                      <a:r>
                        <a:rPr lang="zh-CN" altLang="en-US" sz="1300" b="0">
                          <a:effectLst/>
                        </a:rPr>
                        <a:t>）耦合，修改可视化需改动核心算法代码</a:t>
                      </a:r>
                    </a:p>
                  </a:txBody>
                  <a:tcPr marL="100153" marR="100153" marT="66769" marB="66769" anchor="ctr">
                    <a:lnL w="4877" cap="flat" cmpd="sng" algn="ctr">
                      <a:solidFill>
                        <a:srgbClr val="C04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8028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404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204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300" b="0" dirty="0">
                          <a:effectLst/>
                        </a:rPr>
                        <a:t>HuffmanTree.js（</a:t>
                      </a:r>
                      <a:r>
                        <a:rPr lang="zh-CN" altLang="en-US" sz="1300" b="0" dirty="0">
                          <a:effectLst/>
                        </a:rPr>
                        <a:t>动画指令嵌入）</a:t>
                      </a:r>
                    </a:p>
                  </a:txBody>
                  <a:tcPr marL="100153" marR="100153" marT="66769" marB="66769" anchor="ctr">
                    <a:lnL w="4877" cap="flat" cmpd="sng" algn="ctr">
                      <a:solidFill>
                        <a:srgbClr val="8028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77" cap="flat" cmpd="sng" algn="ctr">
                      <a:solidFill>
                        <a:srgbClr val="C02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77" cap="flat" cmpd="sng" algn="ctr">
                      <a:solidFill>
                        <a:srgbClr val="00BB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77" cap="flat" cmpd="sng" algn="ctr">
                      <a:solidFill>
                        <a:srgbClr val="E02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73867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957568C5-27D0-F6BF-E11A-C09D4AE782E3}"/>
              </a:ext>
            </a:extLst>
          </p:cNvPr>
          <p:cNvSpPr/>
          <p:nvPr/>
        </p:nvSpPr>
        <p:spPr bwMode="auto">
          <a:xfrm>
            <a:off x="120748" y="145047"/>
            <a:ext cx="3583032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例</a:t>
            </a:r>
            <a:r>
              <a:rPr lang="en-US" altLang="zh-CN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2</a:t>
            </a: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：哈夫曼树模块源码问题</a:t>
            </a:r>
          </a:p>
        </p:txBody>
      </p:sp>
    </p:spTree>
    <p:extLst>
      <p:ext uri="{BB962C8B-B14F-4D97-AF65-F5344CB8AC3E}">
        <p14:creationId xmlns:p14="http://schemas.microsoft.com/office/powerpoint/2010/main" val="98967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8D919-12C4-B0B0-044A-65FFB4C45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6">
            <a:extLst>
              <a:ext uri="{FF2B5EF4-FFF2-40B4-BE49-F238E27FC236}">
                <a16:creationId xmlns:a16="http://schemas.microsoft.com/office/drawing/2014/main" id="{4C267F9A-71B3-CBE5-717A-F6D88D239334}"/>
              </a:ext>
            </a:extLst>
          </p:cNvPr>
          <p:cNvGrpSpPr/>
          <p:nvPr/>
        </p:nvGrpSpPr>
        <p:grpSpPr>
          <a:xfrm>
            <a:off x="2823370" y="3490916"/>
            <a:ext cx="652760" cy="652962"/>
            <a:chOff x="3237545" y="4561747"/>
            <a:chExt cx="1146960" cy="1146960"/>
          </a:xfrm>
        </p:grpSpPr>
        <p:sp>
          <p:nvSpPr>
            <p:cNvPr id="33" name="圆角矩形 7">
              <a:extLst>
                <a:ext uri="{FF2B5EF4-FFF2-40B4-BE49-F238E27FC236}">
                  <a16:creationId xmlns:a16="http://schemas.microsoft.com/office/drawing/2014/main" id="{1B19D41A-AD42-E99F-D8A4-721C2B46EA93}"/>
                </a:ext>
              </a:extLst>
            </p:cNvPr>
            <p:cNvSpPr/>
            <p:nvPr/>
          </p:nvSpPr>
          <p:spPr>
            <a:xfrm>
              <a:off x="3237545" y="4561747"/>
              <a:ext cx="1146960" cy="114696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25400"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27000" dist="63500" dir="13500000">
                <a:schemeClr val="tx1">
                  <a:lumMod val="65000"/>
                  <a:lumOff val="35000"/>
                  <a:alpha val="49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  <p:sp>
          <p:nvSpPr>
            <p:cNvPr id="34" name="圆角矩形 8">
              <a:extLst>
                <a:ext uri="{FF2B5EF4-FFF2-40B4-BE49-F238E27FC236}">
                  <a16:creationId xmlns:a16="http://schemas.microsoft.com/office/drawing/2014/main" id="{31161631-DD13-F5DE-1DE5-C8621DFB2B08}"/>
                </a:ext>
              </a:extLst>
            </p:cNvPr>
            <p:cNvSpPr/>
            <p:nvPr/>
          </p:nvSpPr>
          <p:spPr>
            <a:xfrm>
              <a:off x="3351014" y="4675216"/>
              <a:ext cx="920023" cy="92002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50800">
              <a:noFill/>
            </a:ln>
            <a:effectLst/>
            <a:scene3d>
              <a:camera prst="orthographicFront"/>
              <a:lightRig rig="threePt" dir="t"/>
            </a:scene3d>
            <a:sp3d prstMaterial="softEdge">
              <a:bevelT w="0" h="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83FFB923-7881-72D7-CBAD-5C54321137E6}"/>
              </a:ext>
            </a:extLst>
          </p:cNvPr>
          <p:cNvSpPr/>
          <p:nvPr/>
        </p:nvSpPr>
        <p:spPr bwMode="auto">
          <a:xfrm>
            <a:off x="125511" y="162180"/>
            <a:ext cx="126188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改进目标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45D3DC30-C021-A3FA-23F7-A23C49507888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67CDB6ED-83F6-D003-652B-C0E7FCA1E4E0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84280FEF-E046-604E-4232-F68D5F530FD3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C7E25CF-D2DE-2521-708B-0DD8F3C6E233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0C87C1DE-D78B-2651-ABBC-C8AAB9B278AE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9881394-4486-970B-D617-19B5990A17F8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93575EB7-AAB8-D6DC-A6F0-2ADAE883828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39140" y="394192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F5F4677-0D93-6FAC-AC91-534BC13F030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grpSp>
        <p:nvGrpSpPr>
          <p:cNvPr id="5" name="组合 3">
            <a:extLst>
              <a:ext uri="{FF2B5EF4-FFF2-40B4-BE49-F238E27FC236}">
                <a16:creationId xmlns:a16="http://schemas.microsoft.com/office/drawing/2014/main" id="{7B8A4531-F777-CA0E-F7BE-FEBD525D4D30}"/>
              </a:ext>
            </a:extLst>
          </p:cNvPr>
          <p:cNvGrpSpPr/>
          <p:nvPr/>
        </p:nvGrpSpPr>
        <p:grpSpPr>
          <a:xfrm>
            <a:off x="3837409" y="3022266"/>
            <a:ext cx="1469181" cy="1469635"/>
            <a:chOff x="2193191" y="1899415"/>
            <a:chExt cx="2421376" cy="2421376"/>
          </a:xfrm>
          <a:effectLst/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3956783A-95FC-A58D-3F3A-D7A32641D396}"/>
                </a:ext>
              </a:extLst>
            </p:cNvPr>
            <p:cNvSpPr/>
            <p:nvPr/>
          </p:nvSpPr>
          <p:spPr>
            <a:xfrm>
              <a:off x="2193191" y="1899415"/>
              <a:ext cx="2421376" cy="2421376"/>
            </a:xfrm>
            <a:prstGeom prst="ellipse">
              <a:avLst/>
            </a:prstGeom>
            <a:solidFill>
              <a:srgbClr val="DC95AA"/>
            </a:solidFill>
            <a:ln w="31750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4F72256F-A717-A46B-5783-34A4252B5E36}"/>
                </a:ext>
              </a:extLst>
            </p:cNvPr>
            <p:cNvSpPr/>
            <p:nvPr/>
          </p:nvSpPr>
          <p:spPr>
            <a:xfrm>
              <a:off x="2345502" y="2051726"/>
              <a:ext cx="2116756" cy="2116756"/>
            </a:xfrm>
            <a:prstGeom prst="ellipse">
              <a:avLst/>
            </a:prstGeom>
            <a:solidFill>
              <a:schemeClr val="accent2"/>
            </a:solidFill>
            <a:ln w="50800">
              <a:noFill/>
            </a:ln>
            <a:effectLst/>
            <a:scene3d>
              <a:camera prst="orthographicFront"/>
              <a:lightRig rig="threePt" dir="t"/>
            </a:scene3d>
            <a:sp3d prstMaterial="softEdge">
              <a:bevelT w="0" h="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8" name="组合 12">
            <a:extLst>
              <a:ext uri="{FF2B5EF4-FFF2-40B4-BE49-F238E27FC236}">
                <a16:creationId xmlns:a16="http://schemas.microsoft.com/office/drawing/2014/main" id="{7E87B882-C7C3-5CC6-3CED-ED45A4111987}"/>
              </a:ext>
            </a:extLst>
          </p:cNvPr>
          <p:cNvGrpSpPr/>
          <p:nvPr/>
        </p:nvGrpSpPr>
        <p:grpSpPr>
          <a:xfrm>
            <a:off x="4245620" y="2070092"/>
            <a:ext cx="652760" cy="652962"/>
            <a:chOff x="3237545" y="4561747"/>
            <a:chExt cx="1146960" cy="1146960"/>
          </a:xfrm>
        </p:grpSpPr>
        <p:sp>
          <p:nvSpPr>
            <p:cNvPr id="9" name="圆角矩形 13">
              <a:extLst>
                <a:ext uri="{FF2B5EF4-FFF2-40B4-BE49-F238E27FC236}">
                  <a16:creationId xmlns:a16="http://schemas.microsoft.com/office/drawing/2014/main" id="{04AEAD78-6D32-BE5E-A022-096004158A01}"/>
                </a:ext>
              </a:extLst>
            </p:cNvPr>
            <p:cNvSpPr/>
            <p:nvPr/>
          </p:nvSpPr>
          <p:spPr>
            <a:xfrm>
              <a:off x="3237545" y="4561747"/>
              <a:ext cx="1146960" cy="114696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25400"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27000" dist="63500" dir="13500000">
                <a:schemeClr val="tx1">
                  <a:lumMod val="65000"/>
                  <a:lumOff val="35000"/>
                  <a:alpha val="49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圆角矩形 14">
              <a:extLst>
                <a:ext uri="{FF2B5EF4-FFF2-40B4-BE49-F238E27FC236}">
                  <a16:creationId xmlns:a16="http://schemas.microsoft.com/office/drawing/2014/main" id="{73028831-0693-FA25-69C2-8C8856EB3339}"/>
                </a:ext>
              </a:extLst>
            </p:cNvPr>
            <p:cNvSpPr/>
            <p:nvPr/>
          </p:nvSpPr>
          <p:spPr>
            <a:xfrm>
              <a:off x="3351014" y="4675216"/>
              <a:ext cx="920023" cy="92002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50800">
              <a:noFill/>
            </a:ln>
            <a:effectLst/>
            <a:scene3d>
              <a:camera prst="orthographicFront"/>
              <a:lightRig rig="threePt" dir="t"/>
            </a:scene3d>
            <a:sp3d prstMaterial="softEdge">
              <a:bevelT w="0" h="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饼形 18">
            <a:extLst>
              <a:ext uri="{FF2B5EF4-FFF2-40B4-BE49-F238E27FC236}">
                <a16:creationId xmlns:a16="http://schemas.microsoft.com/office/drawing/2014/main" id="{649EEFE6-3BF2-42CB-9AB1-CD0E7BA77739}"/>
              </a:ext>
            </a:extLst>
          </p:cNvPr>
          <p:cNvSpPr/>
          <p:nvPr/>
        </p:nvSpPr>
        <p:spPr>
          <a:xfrm>
            <a:off x="3152595" y="2406548"/>
            <a:ext cx="1053098" cy="1051463"/>
          </a:xfrm>
          <a:custGeom>
            <a:avLst/>
            <a:gdLst>
              <a:gd name="connsiteX0" fmla="*/ 57234 w 3556000"/>
              <a:gd name="connsiteY0" fmla="*/ 1330509 h 3556000"/>
              <a:gd name="connsiteX1" fmla="*/ 1333717 w 3556000"/>
              <a:gd name="connsiteY1" fmla="*/ 56403 h 3556000"/>
              <a:gd name="connsiteX2" fmla="*/ 1778000 w 3556000"/>
              <a:gd name="connsiteY2" fmla="*/ 1778000 h 3556000"/>
              <a:gd name="connsiteX3" fmla="*/ 57234 w 3556000"/>
              <a:gd name="connsiteY3" fmla="*/ 1330509 h 3556000"/>
              <a:gd name="connsiteX0-1" fmla="*/ 1720766 w 1812206"/>
              <a:gd name="connsiteY0-2" fmla="*/ 1721597 h 1813037"/>
              <a:gd name="connsiteX1-3" fmla="*/ 0 w 1812206"/>
              <a:gd name="connsiteY1-4" fmla="*/ 1274106 h 1813037"/>
              <a:gd name="connsiteX2-5" fmla="*/ 1276483 w 1812206"/>
              <a:gd name="connsiteY2-6" fmla="*/ 0 h 1813037"/>
              <a:gd name="connsiteX3-7" fmla="*/ 1812206 w 1812206"/>
              <a:gd name="connsiteY3-8" fmla="*/ 1813037 h 1813037"/>
              <a:gd name="connsiteX0-9" fmla="*/ 1720766 w 1720766"/>
              <a:gd name="connsiteY0-10" fmla="*/ 1721597 h 1721597"/>
              <a:gd name="connsiteX1-11" fmla="*/ 0 w 1720766"/>
              <a:gd name="connsiteY1-12" fmla="*/ 1274106 h 1721597"/>
              <a:gd name="connsiteX2-13" fmla="*/ 1276483 w 1720766"/>
              <a:gd name="connsiteY2-14" fmla="*/ 0 h 1721597"/>
              <a:gd name="connsiteX0-15" fmla="*/ 0 w 1276483"/>
              <a:gd name="connsiteY0-16" fmla="*/ 1274106 h 1274106"/>
              <a:gd name="connsiteX1-17" fmla="*/ 1276483 w 1276483"/>
              <a:gd name="connsiteY1-18" fmla="*/ 0 h 127410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276483" h="1274106">
                <a:moveTo>
                  <a:pt x="0" y="1274106"/>
                </a:moveTo>
                <a:cubicBezTo>
                  <a:pt x="162534" y="649103"/>
                  <a:pt x="651178" y="161369"/>
                  <a:pt x="1276483" y="0"/>
                </a:cubicBezTo>
              </a:path>
            </a:pathLst>
          </a:custGeom>
          <a:noFill/>
          <a:ln w="12700">
            <a:solidFill>
              <a:srgbClr val="847DB5"/>
            </a:solidFill>
            <a:prstDash val="sysDot"/>
            <a:headEnd type="oval" w="med" len="med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9" name="饼形 18">
            <a:extLst>
              <a:ext uri="{FF2B5EF4-FFF2-40B4-BE49-F238E27FC236}">
                <a16:creationId xmlns:a16="http://schemas.microsoft.com/office/drawing/2014/main" id="{3A094EF5-ECB8-C46C-82C7-465E573B0F38}"/>
              </a:ext>
            </a:extLst>
          </p:cNvPr>
          <p:cNvSpPr/>
          <p:nvPr/>
        </p:nvSpPr>
        <p:spPr>
          <a:xfrm flipH="1">
            <a:off x="4936045" y="2388133"/>
            <a:ext cx="1053098" cy="1051463"/>
          </a:xfrm>
          <a:custGeom>
            <a:avLst/>
            <a:gdLst>
              <a:gd name="connsiteX0" fmla="*/ 57234 w 3556000"/>
              <a:gd name="connsiteY0" fmla="*/ 1330509 h 3556000"/>
              <a:gd name="connsiteX1" fmla="*/ 1333717 w 3556000"/>
              <a:gd name="connsiteY1" fmla="*/ 56403 h 3556000"/>
              <a:gd name="connsiteX2" fmla="*/ 1778000 w 3556000"/>
              <a:gd name="connsiteY2" fmla="*/ 1778000 h 3556000"/>
              <a:gd name="connsiteX3" fmla="*/ 57234 w 3556000"/>
              <a:gd name="connsiteY3" fmla="*/ 1330509 h 3556000"/>
              <a:gd name="connsiteX0-1" fmla="*/ 1720766 w 1812206"/>
              <a:gd name="connsiteY0-2" fmla="*/ 1721597 h 1813037"/>
              <a:gd name="connsiteX1-3" fmla="*/ 0 w 1812206"/>
              <a:gd name="connsiteY1-4" fmla="*/ 1274106 h 1813037"/>
              <a:gd name="connsiteX2-5" fmla="*/ 1276483 w 1812206"/>
              <a:gd name="connsiteY2-6" fmla="*/ 0 h 1813037"/>
              <a:gd name="connsiteX3-7" fmla="*/ 1812206 w 1812206"/>
              <a:gd name="connsiteY3-8" fmla="*/ 1813037 h 1813037"/>
              <a:gd name="connsiteX0-9" fmla="*/ 1720766 w 1720766"/>
              <a:gd name="connsiteY0-10" fmla="*/ 1721597 h 1721597"/>
              <a:gd name="connsiteX1-11" fmla="*/ 0 w 1720766"/>
              <a:gd name="connsiteY1-12" fmla="*/ 1274106 h 1721597"/>
              <a:gd name="connsiteX2-13" fmla="*/ 1276483 w 1720766"/>
              <a:gd name="connsiteY2-14" fmla="*/ 0 h 1721597"/>
              <a:gd name="connsiteX0-15" fmla="*/ 0 w 1276483"/>
              <a:gd name="connsiteY0-16" fmla="*/ 1274106 h 1274106"/>
              <a:gd name="connsiteX1-17" fmla="*/ 1276483 w 1276483"/>
              <a:gd name="connsiteY1-18" fmla="*/ 0 h 127410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276483" h="1274106">
                <a:moveTo>
                  <a:pt x="0" y="1274106"/>
                </a:moveTo>
                <a:cubicBezTo>
                  <a:pt x="162534" y="649103"/>
                  <a:pt x="651178" y="161369"/>
                  <a:pt x="1276483" y="0"/>
                </a:cubicBezTo>
              </a:path>
            </a:pathLst>
          </a:custGeom>
          <a:noFill/>
          <a:ln w="12700">
            <a:solidFill>
              <a:schemeClr val="accent1"/>
            </a:solidFill>
            <a:headEnd type="oval" w="med" len="med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23" name="组合 9">
            <a:extLst>
              <a:ext uri="{FF2B5EF4-FFF2-40B4-BE49-F238E27FC236}">
                <a16:creationId xmlns:a16="http://schemas.microsoft.com/office/drawing/2014/main" id="{AB2ECF21-8C29-7197-CB6C-0854B207E774}"/>
              </a:ext>
            </a:extLst>
          </p:cNvPr>
          <p:cNvGrpSpPr/>
          <p:nvPr/>
        </p:nvGrpSpPr>
        <p:grpSpPr>
          <a:xfrm>
            <a:off x="5690894" y="3490916"/>
            <a:ext cx="652760" cy="652962"/>
            <a:chOff x="3237545" y="4561747"/>
            <a:chExt cx="1146960" cy="1146960"/>
          </a:xfrm>
        </p:grpSpPr>
        <p:sp>
          <p:nvSpPr>
            <p:cNvPr id="24" name="圆角矩形 10">
              <a:extLst>
                <a:ext uri="{FF2B5EF4-FFF2-40B4-BE49-F238E27FC236}">
                  <a16:creationId xmlns:a16="http://schemas.microsoft.com/office/drawing/2014/main" id="{28B08BFE-EB55-6373-B000-32D5017A1D06}"/>
                </a:ext>
              </a:extLst>
            </p:cNvPr>
            <p:cNvSpPr/>
            <p:nvPr/>
          </p:nvSpPr>
          <p:spPr>
            <a:xfrm>
              <a:off x="3237545" y="4561747"/>
              <a:ext cx="1146960" cy="114696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5400"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27000" dist="63500" dir="13500000">
                <a:schemeClr val="tx1">
                  <a:lumMod val="65000"/>
                  <a:lumOff val="35000"/>
                  <a:alpha val="49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  <p:sp>
          <p:nvSpPr>
            <p:cNvPr id="25" name="圆角矩形 11">
              <a:extLst>
                <a:ext uri="{FF2B5EF4-FFF2-40B4-BE49-F238E27FC236}">
                  <a16:creationId xmlns:a16="http://schemas.microsoft.com/office/drawing/2014/main" id="{73F57D45-E736-E9C7-1206-7D5CB0619D35}"/>
                </a:ext>
              </a:extLst>
            </p:cNvPr>
            <p:cNvSpPr/>
            <p:nvPr/>
          </p:nvSpPr>
          <p:spPr>
            <a:xfrm>
              <a:off x="3351014" y="4675216"/>
              <a:ext cx="920023" cy="92002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50800">
              <a:noFill/>
            </a:ln>
            <a:effectLst/>
            <a:scene3d>
              <a:camera prst="orthographicFront"/>
              <a:lightRig rig="threePt" dir="t"/>
            </a:scene3d>
            <a:sp3d prstMaterial="softEdge">
              <a:bevelT w="25400" h="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>
                <a:solidFill>
                  <a:srgbClr val="FFFFFF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6" name="Freeform 40">
            <a:extLst>
              <a:ext uri="{FF2B5EF4-FFF2-40B4-BE49-F238E27FC236}">
                <a16:creationId xmlns:a16="http://schemas.microsoft.com/office/drawing/2014/main" id="{08DD08D9-AE98-6D84-A7EE-335A79448456}"/>
              </a:ext>
            </a:extLst>
          </p:cNvPr>
          <p:cNvSpPr/>
          <p:nvPr/>
        </p:nvSpPr>
        <p:spPr bwMode="auto">
          <a:xfrm>
            <a:off x="4448695" y="2289288"/>
            <a:ext cx="246613" cy="223355"/>
          </a:xfrm>
          <a:custGeom>
            <a:avLst/>
            <a:gdLst>
              <a:gd name="T0" fmla="*/ 161 w 188"/>
              <a:gd name="T1" fmla="*/ 58 h 170"/>
              <a:gd name="T2" fmla="*/ 147 w 188"/>
              <a:gd name="T3" fmla="*/ 51 h 170"/>
              <a:gd name="T4" fmla="*/ 142 w 188"/>
              <a:gd name="T5" fmla="*/ 54 h 170"/>
              <a:gd name="T6" fmla="*/ 149 w 188"/>
              <a:gd name="T7" fmla="*/ 85 h 170"/>
              <a:gd name="T8" fmla="*/ 85 w 188"/>
              <a:gd name="T9" fmla="*/ 149 h 170"/>
              <a:gd name="T10" fmla="*/ 21 w 188"/>
              <a:gd name="T11" fmla="*/ 85 h 170"/>
              <a:gd name="T12" fmla="*/ 85 w 188"/>
              <a:gd name="T13" fmla="*/ 21 h 170"/>
              <a:gd name="T14" fmla="*/ 135 w 188"/>
              <a:gd name="T15" fmla="*/ 45 h 170"/>
              <a:gd name="T16" fmla="*/ 125 w 188"/>
              <a:gd name="T17" fmla="*/ 51 h 170"/>
              <a:gd name="T18" fmla="*/ 85 w 188"/>
              <a:gd name="T19" fmla="*/ 33 h 170"/>
              <a:gd name="T20" fmla="*/ 33 w 188"/>
              <a:gd name="T21" fmla="*/ 85 h 170"/>
              <a:gd name="T22" fmla="*/ 85 w 188"/>
              <a:gd name="T23" fmla="*/ 137 h 170"/>
              <a:gd name="T24" fmla="*/ 138 w 188"/>
              <a:gd name="T25" fmla="*/ 85 h 170"/>
              <a:gd name="T26" fmla="*/ 132 w 188"/>
              <a:gd name="T27" fmla="*/ 61 h 170"/>
              <a:gd name="T28" fmla="*/ 115 w 188"/>
              <a:gd name="T29" fmla="*/ 72 h 170"/>
              <a:gd name="T30" fmla="*/ 118 w 188"/>
              <a:gd name="T31" fmla="*/ 85 h 170"/>
              <a:gd name="T32" fmla="*/ 85 w 188"/>
              <a:gd name="T33" fmla="*/ 118 h 170"/>
              <a:gd name="T34" fmla="*/ 53 w 188"/>
              <a:gd name="T35" fmla="*/ 85 h 170"/>
              <a:gd name="T36" fmla="*/ 85 w 188"/>
              <a:gd name="T37" fmla="*/ 52 h 170"/>
              <a:gd name="T38" fmla="*/ 109 w 188"/>
              <a:gd name="T39" fmla="*/ 62 h 170"/>
              <a:gd name="T40" fmla="*/ 97 w 188"/>
              <a:gd name="T41" fmla="*/ 70 h 170"/>
              <a:gd name="T42" fmla="*/ 85 w 188"/>
              <a:gd name="T43" fmla="*/ 65 h 170"/>
              <a:gd name="T44" fmla="*/ 65 w 188"/>
              <a:gd name="T45" fmla="*/ 85 h 170"/>
              <a:gd name="T46" fmla="*/ 85 w 188"/>
              <a:gd name="T47" fmla="*/ 105 h 170"/>
              <a:gd name="T48" fmla="*/ 105 w 188"/>
              <a:gd name="T49" fmla="*/ 85 h 170"/>
              <a:gd name="T50" fmla="*/ 104 w 188"/>
              <a:gd name="T51" fmla="*/ 79 h 170"/>
              <a:gd name="T52" fmla="*/ 88 w 188"/>
              <a:gd name="T53" fmla="*/ 89 h 170"/>
              <a:gd name="T54" fmla="*/ 86 w 188"/>
              <a:gd name="T55" fmla="*/ 86 h 170"/>
              <a:gd name="T56" fmla="*/ 148 w 188"/>
              <a:gd name="T57" fmla="*/ 45 h 170"/>
              <a:gd name="T58" fmla="*/ 163 w 188"/>
              <a:gd name="T59" fmla="*/ 52 h 170"/>
              <a:gd name="T60" fmla="*/ 188 w 188"/>
              <a:gd name="T61" fmla="*/ 36 h 170"/>
              <a:gd name="T62" fmla="*/ 173 w 188"/>
              <a:gd name="T63" fmla="*/ 29 h 170"/>
              <a:gd name="T64" fmla="*/ 177 w 188"/>
              <a:gd name="T65" fmla="*/ 26 h 170"/>
              <a:gd name="T66" fmla="*/ 173 w 188"/>
              <a:gd name="T67" fmla="*/ 20 h 170"/>
              <a:gd name="T68" fmla="*/ 169 w 188"/>
              <a:gd name="T69" fmla="*/ 23 h 170"/>
              <a:gd name="T70" fmla="*/ 169 w 188"/>
              <a:gd name="T71" fmla="*/ 6 h 170"/>
              <a:gd name="T72" fmla="*/ 144 w 188"/>
              <a:gd name="T73" fmla="*/ 22 h 170"/>
              <a:gd name="T74" fmla="*/ 144 w 188"/>
              <a:gd name="T75" fmla="*/ 39 h 170"/>
              <a:gd name="T76" fmla="*/ 139 w 188"/>
              <a:gd name="T77" fmla="*/ 42 h 170"/>
              <a:gd name="T78" fmla="*/ 139 w 188"/>
              <a:gd name="T79" fmla="*/ 24 h 170"/>
              <a:gd name="T80" fmla="*/ 141 w 188"/>
              <a:gd name="T81" fmla="*/ 22 h 170"/>
              <a:gd name="T82" fmla="*/ 85 w 188"/>
              <a:gd name="T83" fmla="*/ 0 h 170"/>
              <a:gd name="T84" fmla="*/ 0 w 188"/>
              <a:gd name="T85" fmla="*/ 85 h 170"/>
              <a:gd name="T86" fmla="*/ 85 w 188"/>
              <a:gd name="T87" fmla="*/ 170 h 170"/>
              <a:gd name="T88" fmla="*/ 170 w 188"/>
              <a:gd name="T89" fmla="*/ 85 h 170"/>
              <a:gd name="T90" fmla="*/ 165 w 188"/>
              <a:gd name="T91" fmla="*/ 55 h 170"/>
              <a:gd name="T92" fmla="*/ 161 w 188"/>
              <a:gd name="T93" fmla="*/ 58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88" h="170">
                <a:moveTo>
                  <a:pt x="161" y="58"/>
                </a:moveTo>
                <a:cubicBezTo>
                  <a:pt x="147" y="51"/>
                  <a:pt x="147" y="51"/>
                  <a:pt x="147" y="51"/>
                </a:cubicBezTo>
                <a:cubicBezTo>
                  <a:pt x="142" y="54"/>
                  <a:pt x="142" y="54"/>
                  <a:pt x="142" y="54"/>
                </a:cubicBezTo>
                <a:cubicBezTo>
                  <a:pt x="147" y="64"/>
                  <a:pt x="149" y="74"/>
                  <a:pt x="149" y="85"/>
                </a:cubicBezTo>
                <a:cubicBezTo>
                  <a:pt x="149" y="120"/>
                  <a:pt x="121" y="149"/>
                  <a:pt x="85" y="149"/>
                </a:cubicBezTo>
                <a:cubicBezTo>
                  <a:pt x="50" y="149"/>
                  <a:pt x="21" y="120"/>
                  <a:pt x="21" y="85"/>
                </a:cubicBezTo>
                <a:cubicBezTo>
                  <a:pt x="21" y="50"/>
                  <a:pt x="50" y="21"/>
                  <a:pt x="85" y="21"/>
                </a:cubicBezTo>
                <a:cubicBezTo>
                  <a:pt x="105" y="21"/>
                  <a:pt x="123" y="30"/>
                  <a:pt x="135" y="45"/>
                </a:cubicBezTo>
                <a:cubicBezTo>
                  <a:pt x="125" y="51"/>
                  <a:pt x="125" y="51"/>
                  <a:pt x="125" y="51"/>
                </a:cubicBezTo>
                <a:cubicBezTo>
                  <a:pt x="116" y="40"/>
                  <a:pt x="101" y="33"/>
                  <a:pt x="85" y="33"/>
                </a:cubicBezTo>
                <a:cubicBezTo>
                  <a:pt x="56" y="33"/>
                  <a:pt x="33" y="56"/>
                  <a:pt x="33" y="85"/>
                </a:cubicBezTo>
                <a:cubicBezTo>
                  <a:pt x="33" y="114"/>
                  <a:pt x="56" y="137"/>
                  <a:pt x="85" y="137"/>
                </a:cubicBezTo>
                <a:cubicBezTo>
                  <a:pt x="114" y="137"/>
                  <a:pt x="138" y="114"/>
                  <a:pt x="138" y="85"/>
                </a:cubicBezTo>
                <a:cubicBezTo>
                  <a:pt x="138" y="76"/>
                  <a:pt x="135" y="68"/>
                  <a:pt x="132" y="61"/>
                </a:cubicBezTo>
                <a:cubicBezTo>
                  <a:pt x="115" y="72"/>
                  <a:pt x="115" y="72"/>
                  <a:pt x="115" y="72"/>
                </a:cubicBezTo>
                <a:cubicBezTo>
                  <a:pt x="117" y="76"/>
                  <a:pt x="118" y="80"/>
                  <a:pt x="118" y="85"/>
                </a:cubicBezTo>
                <a:cubicBezTo>
                  <a:pt x="118" y="103"/>
                  <a:pt x="103" y="118"/>
                  <a:pt x="85" y="118"/>
                </a:cubicBezTo>
                <a:cubicBezTo>
                  <a:pt x="67" y="118"/>
                  <a:pt x="53" y="103"/>
                  <a:pt x="53" y="85"/>
                </a:cubicBezTo>
                <a:cubicBezTo>
                  <a:pt x="53" y="67"/>
                  <a:pt x="67" y="52"/>
                  <a:pt x="85" y="52"/>
                </a:cubicBezTo>
                <a:cubicBezTo>
                  <a:pt x="94" y="52"/>
                  <a:pt x="103" y="56"/>
                  <a:pt x="109" y="62"/>
                </a:cubicBezTo>
                <a:cubicBezTo>
                  <a:pt x="97" y="70"/>
                  <a:pt x="97" y="70"/>
                  <a:pt x="97" y="70"/>
                </a:cubicBezTo>
                <a:cubicBezTo>
                  <a:pt x="94" y="67"/>
                  <a:pt x="90" y="65"/>
                  <a:pt x="85" y="65"/>
                </a:cubicBezTo>
                <a:cubicBezTo>
                  <a:pt x="74" y="65"/>
                  <a:pt x="65" y="74"/>
                  <a:pt x="65" y="85"/>
                </a:cubicBezTo>
                <a:cubicBezTo>
                  <a:pt x="65" y="96"/>
                  <a:pt x="74" y="105"/>
                  <a:pt x="85" y="105"/>
                </a:cubicBezTo>
                <a:cubicBezTo>
                  <a:pt x="96" y="105"/>
                  <a:pt x="105" y="96"/>
                  <a:pt x="105" y="85"/>
                </a:cubicBezTo>
                <a:cubicBezTo>
                  <a:pt x="105" y="83"/>
                  <a:pt x="105" y="81"/>
                  <a:pt x="104" y="79"/>
                </a:cubicBezTo>
                <a:cubicBezTo>
                  <a:pt x="88" y="89"/>
                  <a:pt x="88" y="89"/>
                  <a:pt x="88" y="89"/>
                </a:cubicBezTo>
                <a:cubicBezTo>
                  <a:pt x="86" y="86"/>
                  <a:pt x="86" y="86"/>
                  <a:pt x="86" y="86"/>
                </a:cubicBezTo>
                <a:cubicBezTo>
                  <a:pt x="148" y="45"/>
                  <a:pt x="148" y="45"/>
                  <a:pt x="148" y="45"/>
                </a:cubicBezTo>
                <a:cubicBezTo>
                  <a:pt x="163" y="52"/>
                  <a:pt x="163" y="52"/>
                  <a:pt x="163" y="52"/>
                </a:cubicBezTo>
                <a:cubicBezTo>
                  <a:pt x="188" y="36"/>
                  <a:pt x="188" y="36"/>
                  <a:pt x="188" y="36"/>
                </a:cubicBezTo>
                <a:cubicBezTo>
                  <a:pt x="173" y="29"/>
                  <a:pt x="173" y="29"/>
                  <a:pt x="173" y="29"/>
                </a:cubicBezTo>
                <a:cubicBezTo>
                  <a:pt x="177" y="26"/>
                  <a:pt x="177" y="26"/>
                  <a:pt x="177" y="26"/>
                </a:cubicBezTo>
                <a:cubicBezTo>
                  <a:pt x="173" y="20"/>
                  <a:pt x="173" y="20"/>
                  <a:pt x="173" y="20"/>
                </a:cubicBezTo>
                <a:cubicBezTo>
                  <a:pt x="169" y="23"/>
                  <a:pt x="169" y="23"/>
                  <a:pt x="169" y="23"/>
                </a:cubicBezTo>
                <a:cubicBezTo>
                  <a:pt x="169" y="6"/>
                  <a:pt x="169" y="6"/>
                  <a:pt x="169" y="6"/>
                </a:cubicBezTo>
                <a:cubicBezTo>
                  <a:pt x="144" y="22"/>
                  <a:pt x="144" y="22"/>
                  <a:pt x="144" y="22"/>
                </a:cubicBezTo>
                <a:cubicBezTo>
                  <a:pt x="144" y="39"/>
                  <a:pt x="144" y="39"/>
                  <a:pt x="144" y="39"/>
                </a:cubicBezTo>
                <a:cubicBezTo>
                  <a:pt x="139" y="42"/>
                  <a:pt x="139" y="42"/>
                  <a:pt x="139" y="42"/>
                </a:cubicBezTo>
                <a:cubicBezTo>
                  <a:pt x="139" y="24"/>
                  <a:pt x="139" y="24"/>
                  <a:pt x="139" y="24"/>
                </a:cubicBezTo>
                <a:cubicBezTo>
                  <a:pt x="141" y="22"/>
                  <a:pt x="141" y="22"/>
                  <a:pt x="141" y="22"/>
                </a:cubicBezTo>
                <a:cubicBezTo>
                  <a:pt x="126" y="8"/>
                  <a:pt x="107" y="0"/>
                  <a:pt x="85" y="0"/>
                </a:cubicBezTo>
                <a:cubicBezTo>
                  <a:pt x="38" y="0"/>
                  <a:pt x="0" y="38"/>
                  <a:pt x="0" y="85"/>
                </a:cubicBezTo>
                <a:cubicBezTo>
                  <a:pt x="0" y="132"/>
                  <a:pt x="38" y="170"/>
                  <a:pt x="85" y="170"/>
                </a:cubicBezTo>
                <a:cubicBezTo>
                  <a:pt x="132" y="170"/>
                  <a:pt x="170" y="132"/>
                  <a:pt x="170" y="85"/>
                </a:cubicBezTo>
                <a:cubicBezTo>
                  <a:pt x="170" y="75"/>
                  <a:pt x="168" y="65"/>
                  <a:pt x="165" y="55"/>
                </a:cubicBezTo>
                <a:lnTo>
                  <a:pt x="161" y="5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15">
              <a:solidFill>
                <a:srgbClr val="000000"/>
              </a:solidFill>
              <a:latin typeface="+mj-ea"/>
              <a:ea typeface="+mj-ea"/>
            </a:endParaRPr>
          </a:p>
        </p:txBody>
      </p:sp>
      <p:grpSp>
        <p:nvGrpSpPr>
          <p:cNvPr id="27" name="组合 28">
            <a:extLst>
              <a:ext uri="{FF2B5EF4-FFF2-40B4-BE49-F238E27FC236}">
                <a16:creationId xmlns:a16="http://schemas.microsoft.com/office/drawing/2014/main" id="{1D0D3954-A6C4-60B2-EC9A-A0B8737A8C83}"/>
              </a:ext>
            </a:extLst>
          </p:cNvPr>
          <p:cNvGrpSpPr/>
          <p:nvPr/>
        </p:nvGrpSpPr>
        <p:grpSpPr>
          <a:xfrm>
            <a:off x="3039496" y="3704252"/>
            <a:ext cx="220508" cy="218910"/>
            <a:chOff x="7078908" y="5461438"/>
            <a:chExt cx="430461" cy="427208"/>
          </a:xfrm>
          <a:solidFill>
            <a:schemeClr val="accent2"/>
          </a:solidFill>
        </p:grpSpPr>
        <p:sp>
          <p:nvSpPr>
            <p:cNvPr id="30" name="Freeform 236">
              <a:extLst>
                <a:ext uri="{FF2B5EF4-FFF2-40B4-BE49-F238E27FC236}">
                  <a16:creationId xmlns:a16="http://schemas.microsoft.com/office/drawing/2014/main" id="{4A02E119-3DC1-384E-0196-319EC69F9260}"/>
                </a:ext>
              </a:extLst>
            </p:cNvPr>
            <p:cNvSpPr/>
            <p:nvPr/>
          </p:nvSpPr>
          <p:spPr bwMode="auto">
            <a:xfrm>
              <a:off x="7078908" y="5461438"/>
              <a:ext cx="418534" cy="417450"/>
            </a:xfrm>
            <a:custGeom>
              <a:avLst/>
              <a:gdLst>
                <a:gd name="T0" fmla="*/ 84 w 163"/>
                <a:gd name="T1" fmla="*/ 129 h 163"/>
                <a:gd name="T2" fmla="*/ 46 w 163"/>
                <a:gd name="T3" fmla="*/ 50 h 163"/>
                <a:gd name="T4" fmla="*/ 81 w 163"/>
                <a:gd name="T5" fmla="*/ 34 h 163"/>
                <a:gd name="T6" fmla="*/ 127 w 163"/>
                <a:gd name="T7" fmla="*/ 89 h 163"/>
                <a:gd name="T8" fmla="*/ 147 w 163"/>
                <a:gd name="T9" fmla="*/ 94 h 163"/>
                <a:gd name="T10" fmla="*/ 162 w 163"/>
                <a:gd name="T11" fmla="*/ 86 h 163"/>
                <a:gd name="T12" fmla="*/ 162 w 163"/>
                <a:gd name="T13" fmla="*/ 70 h 163"/>
                <a:gd name="T14" fmla="*/ 144 w 163"/>
                <a:gd name="T15" fmla="*/ 59 h 163"/>
                <a:gd name="T16" fmla="*/ 154 w 163"/>
                <a:gd name="T17" fmla="*/ 45 h 163"/>
                <a:gd name="T18" fmla="*/ 145 w 163"/>
                <a:gd name="T19" fmla="*/ 32 h 163"/>
                <a:gd name="T20" fmla="*/ 125 w 163"/>
                <a:gd name="T21" fmla="*/ 30 h 163"/>
                <a:gd name="T22" fmla="*/ 126 w 163"/>
                <a:gd name="T23" fmla="*/ 13 h 163"/>
                <a:gd name="T24" fmla="*/ 112 w 163"/>
                <a:gd name="T25" fmla="*/ 6 h 163"/>
                <a:gd name="T26" fmla="*/ 93 w 163"/>
                <a:gd name="T27" fmla="*/ 15 h 163"/>
                <a:gd name="T28" fmla="*/ 86 w 163"/>
                <a:gd name="T29" fmla="*/ 0 h 163"/>
                <a:gd name="T30" fmla="*/ 70 w 163"/>
                <a:gd name="T31" fmla="*/ 1 h 163"/>
                <a:gd name="T32" fmla="*/ 58 w 163"/>
                <a:gd name="T33" fmla="*/ 18 h 163"/>
                <a:gd name="T34" fmla="*/ 44 w 163"/>
                <a:gd name="T35" fmla="*/ 9 h 163"/>
                <a:gd name="T36" fmla="*/ 31 w 163"/>
                <a:gd name="T37" fmla="*/ 17 h 163"/>
                <a:gd name="T38" fmla="*/ 31 w 163"/>
                <a:gd name="T39" fmla="*/ 36 h 163"/>
                <a:gd name="T40" fmla="*/ 15 w 163"/>
                <a:gd name="T41" fmla="*/ 33 h 163"/>
                <a:gd name="T42" fmla="*/ 8 w 163"/>
                <a:gd name="T43" fmla="*/ 47 h 163"/>
                <a:gd name="T44" fmla="*/ 18 w 163"/>
                <a:gd name="T45" fmla="*/ 59 h 163"/>
                <a:gd name="T46" fmla="*/ 0 w 163"/>
                <a:gd name="T47" fmla="*/ 73 h 163"/>
                <a:gd name="T48" fmla="*/ 0 w 163"/>
                <a:gd name="T49" fmla="*/ 88 h 163"/>
                <a:gd name="T50" fmla="*/ 15 w 163"/>
                <a:gd name="T51" fmla="*/ 94 h 163"/>
                <a:gd name="T52" fmla="*/ 6 w 163"/>
                <a:gd name="T53" fmla="*/ 114 h 163"/>
                <a:gd name="T54" fmla="*/ 15 w 163"/>
                <a:gd name="T55" fmla="*/ 128 h 163"/>
                <a:gd name="T56" fmla="*/ 30 w 163"/>
                <a:gd name="T57" fmla="*/ 125 h 163"/>
                <a:gd name="T58" fmla="*/ 33 w 163"/>
                <a:gd name="T59" fmla="*/ 148 h 163"/>
                <a:gd name="T60" fmla="*/ 47 w 163"/>
                <a:gd name="T61" fmla="*/ 155 h 163"/>
                <a:gd name="T62" fmla="*/ 59 w 163"/>
                <a:gd name="T63" fmla="*/ 145 h 163"/>
                <a:gd name="T64" fmla="*/ 72 w 163"/>
                <a:gd name="T65" fmla="*/ 163 h 163"/>
                <a:gd name="T66" fmla="*/ 88 w 163"/>
                <a:gd name="T67" fmla="*/ 162 h 163"/>
                <a:gd name="T68" fmla="*/ 94 w 163"/>
                <a:gd name="T69" fmla="*/ 148 h 163"/>
                <a:gd name="T70" fmla="*/ 89 w 163"/>
                <a:gd name="T71" fmla="*/ 12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3" h="163">
                  <a:moveTo>
                    <a:pt x="89" y="128"/>
                  </a:moveTo>
                  <a:cubicBezTo>
                    <a:pt x="88" y="128"/>
                    <a:pt x="86" y="129"/>
                    <a:pt x="84" y="129"/>
                  </a:cubicBezTo>
                  <a:cubicBezTo>
                    <a:pt x="58" y="130"/>
                    <a:pt x="36" y="110"/>
                    <a:pt x="35" y="84"/>
                  </a:cubicBezTo>
                  <a:cubicBezTo>
                    <a:pt x="34" y="71"/>
                    <a:pt x="38" y="59"/>
                    <a:pt x="46" y="50"/>
                  </a:cubicBezTo>
                  <a:cubicBezTo>
                    <a:pt x="55" y="40"/>
                    <a:pt x="66" y="35"/>
                    <a:pt x="79" y="34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106" y="34"/>
                    <a:pt x="127" y="54"/>
                    <a:pt x="128" y="79"/>
                  </a:cubicBezTo>
                  <a:cubicBezTo>
                    <a:pt x="128" y="82"/>
                    <a:pt x="128" y="85"/>
                    <a:pt x="127" y="89"/>
                  </a:cubicBezTo>
                  <a:cubicBezTo>
                    <a:pt x="144" y="105"/>
                    <a:pt x="144" y="105"/>
                    <a:pt x="144" y="105"/>
                  </a:cubicBezTo>
                  <a:cubicBezTo>
                    <a:pt x="145" y="101"/>
                    <a:pt x="146" y="97"/>
                    <a:pt x="147" y="94"/>
                  </a:cubicBezTo>
                  <a:cubicBezTo>
                    <a:pt x="163" y="90"/>
                    <a:pt x="163" y="90"/>
                    <a:pt x="163" y="90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2" y="70"/>
                    <a:pt x="162" y="70"/>
                    <a:pt x="162" y="70"/>
                  </a:cubicBezTo>
                  <a:cubicBezTo>
                    <a:pt x="147" y="69"/>
                    <a:pt x="147" y="69"/>
                    <a:pt x="147" y="69"/>
                  </a:cubicBezTo>
                  <a:cubicBezTo>
                    <a:pt x="146" y="66"/>
                    <a:pt x="145" y="62"/>
                    <a:pt x="144" y="59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48" y="35"/>
                    <a:pt x="148" y="35"/>
                    <a:pt x="148" y="35"/>
                  </a:cubicBezTo>
                  <a:cubicBezTo>
                    <a:pt x="145" y="32"/>
                    <a:pt x="145" y="32"/>
                    <a:pt x="145" y="32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30" y="35"/>
                    <a:pt x="127" y="32"/>
                    <a:pt x="125" y="30"/>
                  </a:cubicBezTo>
                  <a:cubicBezTo>
                    <a:pt x="130" y="15"/>
                    <a:pt x="130" y="15"/>
                    <a:pt x="130" y="15"/>
                  </a:cubicBezTo>
                  <a:cubicBezTo>
                    <a:pt x="126" y="13"/>
                    <a:pt x="126" y="13"/>
                    <a:pt x="126" y="13"/>
                  </a:cubicBezTo>
                  <a:cubicBezTo>
                    <a:pt x="116" y="8"/>
                    <a:pt x="116" y="8"/>
                    <a:pt x="116" y="8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04" y="18"/>
                    <a:pt x="104" y="18"/>
                    <a:pt x="104" y="18"/>
                  </a:cubicBezTo>
                  <a:cubicBezTo>
                    <a:pt x="100" y="17"/>
                    <a:pt x="97" y="16"/>
                    <a:pt x="93" y="15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75" y="1"/>
                    <a:pt x="75" y="1"/>
                    <a:pt x="75" y="1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69" y="15"/>
                    <a:pt x="69" y="15"/>
                    <a:pt x="69" y="15"/>
                  </a:cubicBezTo>
                  <a:cubicBezTo>
                    <a:pt x="65" y="16"/>
                    <a:pt x="62" y="17"/>
                    <a:pt x="58" y="18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5" y="32"/>
                    <a:pt x="33" y="34"/>
                    <a:pt x="31" y="36"/>
                  </a:cubicBezTo>
                  <a:cubicBezTo>
                    <a:pt x="31" y="37"/>
                    <a:pt x="30" y="37"/>
                    <a:pt x="30" y="38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7" y="63"/>
                    <a:pt x="16" y="66"/>
                    <a:pt x="15" y="69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5" y="94"/>
                    <a:pt x="15" y="94"/>
                    <a:pt x="15" y="94"/>
                  </a:cubicBezTo>
                  <a:cubicBezTo>
                    <a:pt x="16" y="97"/>
                    <a:pt x="17" y="101"/>
                    <a:pt x="18" y="104"/>
                  </a:cubicBezTo>
                  <a:cubicBezTo>
                    <a:pt x="6" y="114"/>
                    <a:pt x="6" y="114"/>
                    <a:pt x="6" y="114"/>
                  </a:cubicBezTo>
                  <a:cubicBezTo>
                    <a:pt x="9" y="118"/>
                    <a:pt x="9" y="118"/>
                    <a:pt x="9" y="118"/>
                  </a:cubicBezTo>
                  <a:cubicBezTo>
                    <a:pt x="15" y="128"/>
                    <a:pt x="15" y="128"/>
                    <a:pt x="15" y="128"/>
                  </a:cubicBezTo>
                  <a:cubicBezTo>
                    <a:pt x="17" y="131"/>
                    <a:pt x="17" y="131"/>
                    <a:pt x="17" y="131"/>
                  </a:cubicBezTo>
                  <a:cubicBezTo>
                    <a:pt x="30" y="125"/>
                    <a:pt x="30" y="125"/>
                    <a:pt x="30" y="125"/>
                  </a:cubicBezTo>
                  <a:cubicBezTo>
                    <a:pt x="33" y="128"/>
                    <a:pt x="35" y="130"/>
                    <a:pt x="38" y="133"/>
                  </a:cubicBezTo>
                  <a:cubicBezTo>
                    <a:pt x="33" y="148"/>
                    <a:pt x="33" y="148"/>
                    <a:pt x="33" y="148"/>
                  </a:cubicBezTo>
                  <a:cubicBezTo>
                    <a:pt x="37" y="150"/>
                    <a:pt x="37" y="150"/>
                    <a:pt x="37" y="150"/>
                  </a:cubicBezTo>
                  <a:cubicBezTo>
                    <a:pt x="47" y="155"/>
                    <a:pt x="47" y="155"/>
                    <a:pt x="47" y="155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9" y="145"/>
                    <a:pt x="59" y="145"/>
                    <a:pt x="59" y="145"/>
                  </a:cubicBezTo>
                  <a:cubicBezTo>
                    <a:pt x="62" y="146"/>
                    <a:pt x="66" y="147"/>
                    <a:pt x="69" y="148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7" y="163"/>
                    <a:pt x="77" y="163"/>
                    <a:pt x="77" y="163"/>
                  </a:cubicBezTo>
                  <a:cubicBezTo>
                    <a:pt x="88" y="162"/>
                    <a:pt x="88" y="162"/>
                    <a:pt x="88" y="162"/>
                  </a:cubicBezTo>
                  <a:cubicBezTo>
                    <a:pt x="92" y="162"/>
                    <a:pt x="92" y="162"/>
                    <a:pt x="92" y="162"/>
                  </a:cubicBezTo>
                  <a:cubicBezTo>
                    <a:pt x="94" y="148"/>
                    <a:pt x="94" y="148"/>
                    <a:pt x="94" y="148"/>
                  </a:cubicBezTo>
                  <a:cubicBezTo>
                    <a:pt x="98" y="147"/>
                    <a:pt x="102" y="146"/>
                    <a:pt x="105" y="144"/>
                  </a:cubicBezTo>
                  <a:lnTo>
                    <a:pt x="89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sp>
          <p:nvSpPr>
            <p:cNvPr id="31" name="Freeform 237">
              <a:extLst>
                <a:ext uri="{FF2B5EF4-FFF2-40B4-BE49-F238E27FC236}">
                  <a16:creationId xmlns:a16="http://schemas.microsoft.com/office/drawing/2014/main" id="{C90DBD82-51F3-80DC-C0D4-34B5B7A6EED7}"/>
                </a:ext>
              </a:extLst>
            </p:cNvPr>
            <p:cNvSpPr/>
            <p:nvPr/>
          </p:nvSpPr>
          <p:spPr bwMode="auto">
            <a:xfrm>
              <a:off x="7197095" y="5576372"/>
              <a:ext cx="312274" cy="312274"/>
            </a:xfrm>
            <a:custGeom>
              <a:avLst/>
              <a:gdLst>
                <a:gd name="T0" fmla="*/ 122 w 122"/>
                <a:gd name="T1" fmla="*/ 101 h 122"/>
                <a:gd name="T2" fmla="*/ 119 w 122"/>
                <a:gd name="T3" fmla="*/ 94 h 122"/>
                <a:gd name="T4" fmla="*/ 67 w 122"/>
                <a:gd name="T5" fmla="*/ 43 h 122"/>
                <a:gd name="T6" fmla="*/ 58 w 122"/>
                <a:gd name="T7" fmla="*/ 12 h 122"/>
                <a:gd name="T8" fmla="*/ 23 w 122"/>
                <a:gd name="T9" fmla="*/ 5 h 122"/>
                <a:gd name="T10" fmla="*/ 41 w 122"/>
                <a:gd name="T11" fmla="*/ 23 h 122"/>
                <a:gd name="T12" fmla="*/ 41 w 122"/>
                <a:gd name="T13" fmla="*/ 29 h 122"/>
                <a:gd name="T14" fmla="*/ 29 w 122"/>
                <a:gd name="T15" fmla="*/ 41 h 122"/>
                <a:gd name="T16" fmla="*/ 23 w 122"/>
                <a:gd name="T17" fmla="*/ 41 h 122"/>
                <a:gd name="T18" fmla="*/ 5 w 122"/>
                <a:gd name="T19" fmla="*/ 23 h 122"/>
                <a:gd name="T20" fmla="*/ 12 w 122"/>
                <a:gd name="T21" fmla="*/ 58 h 122"/>
                <a:gd name="T22" fmla="*/ 43 w 122"/>
                <a:gd name="T23" fmla="*/ 67 h 122"/>
                <a:gd name="T24" fmla="*/ 94 w 122"/>
                <a:gd name="T25" fmla="*/ 119 h 122"/>
                <a:gd name="T26" fmla="*/ 101 w 122"/>
                <a:gd name="T27" fmla="*/ 122 h 122"/>
                <a:gd name="T28" fmla="*/ 122 w 122"/>
                <a:gd name="T29" fmla="*/ 101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22">
                  <a:moveTo>
                    <a:pt x="122" y="101"/>
                  </a:moveTo>
                  <a:cubicBezTo>
                    <a:pt x="122" y="99"/>
                    <a:pt x="121" y="95"/>
                    <a:pt x="119" y="94"/>
                  </a:cubicBezTo>
                  <a:cubicBezTo>
                    <a:pt x="102" y="77"/>
                    <a:pt x="84" y="60"/>
                    <a:pt x="67" y="43"/>
                  </a:cubicBezTo>
                  <a:cubicBezTo>
                    <a:pt x="69" y="32"/>
                    <a:pt x="66" y="21"/>
                    <a:pt x="58" y="12"/>
                  </a:cubicBezTo>
                  <a:cubicBezTo>
                    <a:pt x="49" y="3"/>
                    <a:pt x="35" y="0"/>
                    <a:pt x="23" y="5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42" y="25"/>
                    <a:pt x="42" y="27"/>
                    <a:pt x="41" y="29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7" y="43"/>
                    <a:pt x="25" y="43"/>
                    <a:pt x="23" y="41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0" y="35"/>
                    <a:pt x="3" y="49"/>
                    <a:pt x="12" y="58"/>
                  </a:cubicBezTo>
                  <a:cubicBezTo>
                    <a:pt x="20" y="66"/>
                    <a:pt x="32" y="69"/>
                    <a:pt x="43" y="67"/>
                  </a:cubicBezTo>
                  <a:cubicBezTo>
                    <a:pt x="60" y="84"/>
                    <a:pt x="77" y="102"/>
                    <a:pt x="94" y="119"/>
                  </a:cubicBezTo>
                  <a:cubicBezTo>
                    <a:pt x="95" y="121"/>
                    <a:pt x="98" y="122"/>
                    <a:pt x="101" y="122"/>
                  </a:cubicBezTo>
                  <a:cubicBezTo>
                    <a:pt x="111" y="120"/>
                    <a:pt x="120" y="112"/>
                    <a:pt x="122" y="1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5" name="圆角矩形 26">
            <a:extLst>
              <a:ext uri="{FF2B5EF4-FFF2-40B4-BE49-F238E27FC236}">
                <a16:creationId xmlns:a16="http://schemas.microsoft.com/office/drawing/2014/main" id="{11F43FB0-E3C1-610A-59CC-E8791CBD8E90}"/>
              </a:ext>
            </a:extLst>
          </p:cNvPr>
          <p:cNvSpPr/>
          <p:nvPr/>
        </p:nvSpPr>
        <p:spPr>
          <a:xfrm>
            <a:off x="4495998" y="3249979"/>
            <a:ext cx="152006" cy="265047"/>
          </a:xfrm>
          <a:prstGeom prst="roundRect">
            <a:avLst>
              <a:gd name="adj" fmla="val 50000"/>
            </a:avLst>
          </a:prstGeom>
          <a:solidFill>
            <a:srgbClr val="DC95AA"/>
          </a:solidFill>
          <a:ln w="12700"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latin typeface="+mj-ea"/>
              <a:ea typeface="+mj-ea"/>
            </a:endParaRPr>
          </a:p>
        </p:txBody>
      </p:sp>
      <p:grpSp>
        <p:nvGrpSpPr>
          <p:cNvPr id="36" name="组合 31">
            <a:extLst>
              <a:ext uri="{FF2B5EF4-FFF2-40B4-BE49-F238E27FC236}">
                <a16:creationId xmlns:a16="http://schemas.microsoft.com/office/drawing/2014/main" id="{D1C8DBCE-0935-7DB3-0AE3-19EEE852823F}"/>
              </a:ext>
            </a:extLst>
          </p:cNvPr>
          <p:cNvGrpSpPr/>
          <p:nvPr/>
        </p:nvGrpSpPr>
        <p:grpSpPr>
          <a:xfrm>
            <a:off x="5890636" y="3678347"/>
            <a:ext cx="253279" cy="241690"/>
            <a:chOff x="8145843" y="5425657"/>
            <a:chExt cx="494435" cy="471664"/>
          </a:xfrm>
          <a:solidFill>
            <a:schemeClr val="accent4"/>
          </a:solidFill>
        </p:grpSpPr>
        <p:sp>
          <p:nvSpPr>
            <p:cNvPr id="37" name="Freeform 850">
              <a:extLst>
                <a:ext uri="{FF2B5EF4-FFF2-40B4-BE49-F238E27FC236}">
                  <a16:creationId xmlns:a16="http://schemas.microsoft.com/office/drawing/2014/main" id="{5118FFB3-A31B-6540-0E0E-5ED1F5555C9D}"/>
                </a:ext>
              </a:extLst>
            </p:cNvPr>
            <p:cNvSpPr/>
            <p:nvPr/>
          </p:nvSpPr>
          <p:spPr bwMode="auto">
            <a:xfrm>
              <a:off x="8294391" y="5425657"/>
              <a:ext cx="89996" cy="101923"/>
            </a:xfrm>
            <a:custGeom>
              <a:avLst/>
              <a:gdLst>
                <a:gd name="T0" fmla="*/ 9 w 35"/>
                <a:gd name="T1" fmla="*/ 35 h 40"/>
                <a:gd name="T2" fmla="*/ 5 w 35"/>
                <a:gd name="T3" fmla="*/ 13 h 40"/>
                <a:gd name="T4" fmla="*/ 27 w 35"/>
                <a:gd name="T5" fmla="*/ 4 h 40"/>
                <a:gd name="T6" fmla="*/ 30 w 35"/>
                <a:gd name="T7" fmla="*/ 27 h 40"/>
                <a:gd name="T8" fmla="*/ 9 w 35"/>
                <a:gd name="T9" fmla="*/ 3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40">
                  <a:moveTo>
                    <a:pt x="9" y="35"/>
                  </a:moveTo>
                  <a:cubicBezTo>
                    <a:pt x="2" y="31"/>
                    <a:pt x="0" y="21"/>
                    <a:pt x="5" y="13"/>
                  </a:cubicBezTo>
                  <a:cubicBezTo>
                    <a:pt x="10" y="4"/>
                    <a:pt x="20" y="0"/>
                    <a:pt x="27" y="4"/>
                  </a:cubicBezTo>
                  <a:cubicBezTo>
                    <a:pt x="34" y="8"/>
                    <a:pt x="35" y="19"/>
                    <a:pt x="30" y="27"/>
                  </a:cubicBezTo>
                  <a:cubicBezTo>
                    <a:pt x="25" y="36"/>
                    <a:pt x="16" y="40"/>
                    <a:pt x="9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sp>
          <p:nvSpPr>
            <p:cNvPr id="38" name="Freeform 851">
              <a:extLst>
                <a:ext uri="{FF2B5EF4-FFF2-40B4-BE49-F238E27FC236}">
                  <a16:creationId xmlns:a16="http://schemas.microsoft.com/office/drawing/2014/main" id="{205184C1-F444-FC7A-5A7B-63482E121D38}"/>
                </a:ext>
              </a:extLst>
            </p:cNvPr>
            <p:cNvSpPr/>
            <p:nvPr/>
          </p:nvSpPr>
          <p:spPr bwMode="auto">
            <a:xfrm>
              <a:off x="8145843" y="5499388"/>
              <a:ext cx="489012" cy="397933"/>
            </a:xfrm>
            <a:custGeom>
              <a:avLst/>
              <a:gdLst>
                <a:gd name="T0" fmla="*/ 3 w 191"/>
                <a:gd name="T1" fmla="*/ 12 h 155"/>
                <a:gd name="T2" fmla="*/ 4 w 191"/>
                <a:gd name="T3" fmla="*/ 12 h 155"/>
                <a:gd name="T4" fmla="*/ 10 w 191"/>
                <a:gd name="T5" fmla="*/ 10 h 155"/>
                <a:gd name="T6" fmla="*/ 35 w 191"/>
                <a:gd name="T7" fmla="*/ 1 h 155"/>
                <a:gd name="T8" fmla="*/ 58 w 191"/>
                <a:gd name="T9" fmla="*/ 6 h 155"/>
                <a:gd name="T10" fmla="*/ 52 w 191"/>
                <a:gd name="T11" fmla="*/ 9 h 155"/>
                <a:gd name="T12" fmla="*/ 50 w 191"/>
                <a:gd name="T13" fmla="*/ 19 h 155"/>
                <a:gd name="T14" fmla="*/ 60 w 191"/>
                <a:gd name="T15" fmla="*/ 14 h 155"/>
                <a:gd name="T16" fmla="*/ 64 w 191"/>
                <a:gd name="T17" fmla="*/ 7 h 155"/>
                <a:gd name="T18" fmla="*/ 65 w 191"/>
                <a:gd name="T19" fmla="*/ 15 h 155"/>
                <a:gd name="T20" fmla="*/ 53 w 191"/>
                <a:gd name="T21" fmla="*/ 41 h 155"/>
                <a:gd name="T22" fmla="*/ 65 w 191"/>
                <a:gd name="T23" fmla="*/ 20 h 155"/>
                <a:gd name="T24" fmla="*/ 70 w 191"/>
                <a:gd name="T25" fmla="*/ 19 h 155"/>
                <a:gd name="T26" fmla="*/ 75 w 191"/>
                <a:gd name="T27" fmla="*/ 50 h 155"/>
                <a:gd name="T28" fmla="*/ 95 w 191"/>
                <a:gd name="T29" fmla="*/ 63 h 155"/>
                <a:gd name="T30" fmla="*/ 130 w 191"/>
                <a:gd name="T31" fmla="*/ 35 h 155"/>
                <a:gd name="T32" fmla="*/ 191 w 191"/>
                <a:gd name="T33" fmla="*/ 79 h 155"/>
                <a:gd name="T34" fmla="*/ 183 w 191"/>
                <a:gd name="T35" fmla="*/ 81 h 155"/>
                <a:gd name="T36" fmla="*/ 92 w 191"/>
                <a:gd name="T37" fmla="*/ 81 h 155"/>
                <a:gd name="T38" fmla="*/ 77 w 191"/>
                <a:gd name="T39" fmla="*/ 79 h 155"/>
                <a:gd name="T40" fmla="*/ 71 w 191"/>
                <a:gd name="T41" fmla="*/ 71 h 155"/>
                <a:gd name="T42" fmla="*/ 61 w 191"/>
                <a:gd name="T43" fmla="*/ 63 h 155"/>
                <a:gd name="T44" fmla="*/ 61 w 191"/>
                <a:gd name="T45" fmla="*/ 63 h 155"/>
                <a:gd name="T46" fmla="*/ 61 w 191"/>
                <a:gd name="T47" fmla="*/ 63 h 155"/>
                <a:gd name="T48" fmla="*/ 57 w 191"/>
                <a:gd name="T49" fmla="*/ 57 h 155"/>
                <a:gd name="T50" fmla="*/ 57 w 191"/>
                <a:gd name="T51" fmla="*/ 55 h 155"/>
                <a:gd name="T52" fmla="*/ 56 w 191"/>
                <a:gd name="T53" fmla="*/ 50 h 155"/>
                <a:gd name="T54" fmla="*/ 60 w 191"/>
                <a:gd name="T55" fmla="*/ 94 h 155"/>
                <a:gd name="T56" fmla="*/ 46 w 191"/>
                <a:gd name="T57" fmla="*/ 155 h 155"/>
                <a:gd name="T58" fmla="*/ 41 w 191"/>
                <a:gd name="T59" fmla="*/ 105 h 155"/>
                <a:gd name="T60" fmla="*/ 40 w 191"/>
                <a:gd name="T61" fmla="*/ 104 h 155"/>
                <a:gd name="T62" fmla="*/ 32 w 191"/>
                <a:gd name="T63" fmla="*/ 87 h 155"/>
                <a:gd name="T64" fmla="*/ 5 w 191"/>
                <a:gd name="T65" fmla="*/ 152 h 155"/>
                <a:gd name="T66" fmla="*/ 2 w 191"/>
                <a:gd name="T67" fmla="*/ 66 h 155"/>
                <a:gd name="T68" fmla="*/ 15 w 191"/>
                <a:gd name="T69" fmla="*/ 40 h 155"/>
                <a:gd name="T70" fmla="*/ 1 w 191"/>
                <a:gd name="T71" fmla="*/ 29 h 155"/>
                <a:gd name="T72" fmla="*/ 0 w 191"/>
                <a:gd name="T73" fmla="*/ 28 h 155"/>
                <a:gd name="T74" fmla="*/ 3 w 191"/>
                <a:gd name="T75" fmla="*/ 12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1" h="155"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7" y="0"/>
                    <a:pt x="44" y="0"/>
                    <a:pt x="46" y="1"/>
                  </a:cubicBezTo>
                  <a:cubicBezTo>
                    <a:pt x="51" y="2"/>
                    <a:pt x="54" y="4"/>
                    <a:pt x="58" y="6"/>
                  </a:cubicBezTo>
                  <a:cubicBezTo>
                    <a:pt x="57" y="6"/>
                    <a:pt x="57" y="6"/>
                    <a:pt x="57" y="6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60" y="14"/>
                    <a:pt x="60" y="14"/>
                    <a:pt x="60" y="14"/>
                  </a:cubicBezTo>
                  <a:cubicBezTo>
                    <a:pt x="60" y="13"/>
                    <a:pt x="60" y="13"/>
                    <a:pt x="60" y="13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65" y="15"/>
                    <a:pt x="65" y="15"/>
                    <a:pt x="65" y="15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65" y="26"/>
                    <a:pt x="65" y="26"/>
                    <a:pt x="65" y="26"/>
                  </a:cubicBezTo>
                  <a:cubicBezTo>
                    <a:pt x="65" y="20"/>
                    <a:pt x="65" y="20"/>
                    <a:pt x="65" y="20"/>
                  </a:cubicBezTo>
                  <a:cubicBezTo>
                    <a:pt x="69" y="19"/>
                    <a:pt x="69" y="19"/>
                    <a:pt x="69" y="19"/>
                  </a:cubicBezTo>
                  <a:cubicBezTo>
                    <a:pt x="69" y="19"/>
                    <a:pt x="69" y="19"/>
                    <a:pt x="70" y="19"/>
                  </a:cubicBezTo>
                  <a:cubicBezTo>
                    <a:pt x="75" y="50"/>
                    <a:pt x="75" y="50"/>
                    <a:pt x="75" y="50"/>
                  </a:cubicBezTo>
                  <a:cubicBezTo>
                    <a:pt x="75" y="50"/>
                    <a:pt x="75" y="50"/>
                    <a:pt x="75" y="50"/>
                  </a:cubicBezTo>
                  <a:cubicBezTo>
                    <a:pt x="82" y="55"/>
                    <a:pt x="82" y="55"/>
                    <a:pt x="82" y="55"/>
                  </a:cubicBezTo>
                  <a:cubicBezTo>
                    <a:pt x="95" y="63"/>
                    <a:pt x="95" y="63"/>
                    <a:pt x="95" y="63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130" y="35"/>
                    <a:pt x="130" y="35"/>
                    <a:pt x="130" y="35"/>
                  </a:cubicBezTo>
                  <a:cubicBezTo>
                    <a:pt x="132" y="33"/>
                    <a:pt x="136" y="33"/>
                    <a:pt x="138" y="35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90" y="80"/>
                    <a:pt x="189" y="81"/>
                    <a:pt x="187" y="81"/>
                  </a:cubicBezTo>
                  <a:cubicBezTo>
                    <a:pt x="183" y="81"/>
                    <a:pt x="183" y="81"/>
                    <a:pt x="183" y="81"/>
                  </a:cubicBezTo>
                  <a:cubicBezTo>
                    <a:pt x="94" y="67"/>
                    <a:pt x="94" y="67"/>
                    <a:pt x="94" y="67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80" y="81"/>
                    <a:pt x="80" y="81"/>
                    <a:pt x="80" y="81"/>
                  </a:cubicBezTo>
                  <a:cubicBezTo>
                    <a:pt x="79" y="81"/>
                    <a:pt x="78" y="80"/>
                    <a:pt x="77" y="79"/>
                  </a:cubicBezTo>
                  <a:cubicBezTo>
                    <a:pt x="79" y="77"/>
                    <a:pt x="79" y="77"/>
                    <a:pt x="79" y="77"/>
                  </a:cubicBezTo>
                  <a:cubicBezTo>
                    <a:pt x="71" y="71"/>
                    <a:pt x="71" y="71"/>
                    <a:pt x="71" y="71"/>
                  </a:cubicBezTo>
                  <a:cubicBezTo>
                    <a:pt x="65" y="66"/>
                    <a:pt x="65" y="66"/>
                    <a:pt x="65" y="66"/>
                  </a:cubicBezTo>
                  <a:cubicBezTo>
                    <a:pt x="61" y="63"/>
                    <a:pt x="61" y="63"/>
                    <a:pt x="61" y="63"/>
                  </a:cubicBezTo>
                  <a:cubicBezTo>
                    <a:pt x="61" y="63"/>
                    <a:pt x="61" y="63"/>
                    <a:pt x="61" y="63"/>
                  </a:cubicBezTo>
                  <a:cubicBezTo>
                    <a:pt x="61" y="63"/>
                    <a:pt x="61" y="63"/>
                    <a:pt x="61" y="63"/>
                  </a:cubicBezTo>
                  <a:cubicBezTo>
                    <a:pt x="61" y="63"/>
                    <a:pt x="61" y="63"/>
                    <a:pt x="61" y="63"/>
                  </a:cubicBezTo>
                  <a:cubicBezTo>
                    <a:pt x="61" y="63"/>
                    <a:pt x="61" y="63"/>
                    <a:pt x="61" y="63"/>
                  </a:cubicBezTo>
                  <a:cubicBezTo>
                    <a:pt x="53" y="50"/>
                    <a:pt x="59" y="59"/>
                    <a:pt x="57" y="57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7" y="53"/>
                    <a:pt x="57" y="53"/>
                    <a:pt x="57" y="53"/>
                  </a:cubicBezTo>
                  <a:cubicBezTo>
                    <a:pt x="56" y="50"/>
                    <a:pt x="56" y="50"/>
                    <a:pt x="56" y="50"/>
                  </a:cubicBezTo>
                  <a:cubicBezTo>
                    <a:pt x="54" y="56"/>
                    <a:pt x="51" y="63"/>
                    <a:pt x="49" y="71"/>
                  </a:cubicBezTo>
                  <a:cubicBezTo>
                    <a:pt x="51" y="76"/>
                    <a:pt x="55" y="85"/>
                    <a:pt x="60" y="94"/>
                  </a:cubicBezTo>
                  <a:cubicBezTo>
                    <a:pt x="65" y="120"/>
                    <a:pt x="64" y="137"/>
                    <a:pt x="65" y="154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1" y="111"/>
                    <a:pt x="41" y="111"/>
                    <a:pt x="41" y="111"/>
                  </a:cubicBezTo>
                  <a:cubicBezTo>
                    <a:pt x="41" y="105"/>
                    <a:pt x="41" y="105"/>
                    <a:pt x="41" y="105"/>
                  </a:cubicBezTo>
                  <a:cubicBezTo>
                    <a:pt x="41" y="105"/>
                    <a:pt x="41" y="105"/>
                    <a:pt x="41" y="105"/>
                  </a:cubicBezTo>
                  <a:cubicBezTo>
                    <a:pt x="40" y="104"/>
                    <a:pt x="40" y="104"/>
                    <a:pt x="40" y="104"/>
                  </a:cubicBezTo>
                  <a:cubicBezTo>
                    <a:pt x="35" y="94"/>
                    <a:pt x="35" y="94"/>
                    <a:pt x="35" y="94"/>
                  </a:cubicBezTo>
                  <a:cubicBezTo>
                    <a:pt x="32" y="87"/>
                    <a:pt x="32" y="87"/>
                    <a:pt x="32" y="87"/>
                  </a:cubicBezTo>
                  <a:cubicBezTo>
                    <a:pt x="31" y="106"/>
                    <a:pt x="28" y="136"/>
                    <a:pt x="25" y="154"/>
                  </a:cubicBezTo>
                  <a:cubicBezTo>
                    <a:pt x="5" y="152"/>
                    <a:pt x="5" y="152"/>
                    <a:pt x="5" y="152"/>
                  </a:cubicBezTo>
                  <a:cubicBezTo>
                    <a:pt x="8" y="124"/>
                    <a:pt x="10" y="98"/>
                    <a:pt x="11" y="70"/>
                  </a:cubicBezTo>
                  <a:cubicBezTo>
                    <a:pt x="8" y="69"/>
                    <a:pt x="5" y="67"/>
                    <a:pt x="2" y="66"/>
                  </a:cubicBezTo>
                  <a:cubicBezTo>
                    <a:pt x="2" y="66"/>
                    <a:pt x="2" y="66"/>
                    <a:pt x="2" y="66"/>
                  </a:cubicBezTo>
                  <a:cubicBezTo>
                    <a:pt x="6" y="57"/>
                    <a:pt x="11" y="49"/>
                    <a:pt x="15" y="40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3" y="8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sp>
          <p:nvSpPr>
            <p:cNvPr id="39" name="Freeform 852">
              <a:extLst>
                <a:ext uri="{FF2B5EF4-FFF2-40B4-BE49-F238E27FC236}">
                  <a16:creationId xmlns:a16="http://schemas.microsoft.com/office/drawing/2014/main" id="{37EFFED6-2D01-CDDF-9F4B-B528A776C6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37762" y="5711908"/>
              <a:ext cx="302516" cy="176739"/>
            </a:xfrm>
            <a:custGeom>
              <a:avLst/>
              <a:gdLst>
                <a:gd name="T0" fmla="*/ 63 w 118"/>
                <a:gd name="T1" fmla="*/ 46 h 69"/>
                <a:gd name="T2" fmla="*/ 118 w 118"/>
                <a:gd name="T3" fmla="*/ 0 h 69"/>
                <a:gd name="T4" fmla="*/ 118 w 118"/>
                <a:gd name="T5" fmla="*/ 63 h 69"/>
                <a:gd name="T6" fmla="*/ 112 w 118"/>
                <a:gd name="T7" fmla="*/ 69 h 69"/>
                <a:gd name="T8" fmla="*/ 5 w 118"/>
                <a:gd name="T9" fmla="*/ 69 h 69"/>
                <a:gd name="T10" fmla="*/ 0 w 118"/>
                <a:gd name="T11" fmla="*/ 63 h 69"/>
                <a:gd name="T12" fmla="*/ 0 w 118"/>
                <a:gd name="T13" fmla="*/ 0 h 69"/>
                <a:gd name="T14" fmla="*/ 55 w 118"/>
                <a:gd name="T15" fmla="*/ 46 h 69"/>
                <a:gd name="T16" fmla="*/ 63 w 118"/>
                <a:gd name="T17" fmla="*/ 46 h 69"/>
                <a:gd name="T18" fmla="*/ 84 w 118"/>
                <a:gd name="T19" fmla="*/ 39 h 69"/>
                <a:gd name="T20" fmla="*/ 110 w 118"/>
                <a:gd name="T21" fmla="*/ 64 h 69"/>
                <a:gd name="T22" fmla="*/ 111 w 118"/>
                <a:gd name="T23" fmla="*/ 64 h 69"/>
                <a:gd name="T24" fmla="*/ 113 w 118"/>
                <a:gd name="T25" fmla="*/ 64 h 69"/>
                <a:gd name="T26" fmla="*/ 113 w 118"/>
                <a:gd name="T27" fmla="*/ 61 h 69"/>
                <a:gd name="T28" fmla="*/ 87 w 118"/>
                <a:gd name="T29" fmla="*/ 36 h 69"/>
                <a:gd name="T30" fmla="*/ 84 w 118"/>
                <a:gd name="T31" fmla="*/ 37 h 69"/>
                <a:gd name="T32" fmla="*/ 84 w 118"/>
                <a:gd name="T33" fmla="*/ 39 h 69"/>
                <a:gd name="T34" fmla="*/ 34 w 118"/>
                <a:gd name="T35" fmla="*/ 37 h 69"/>
                <a:gd name="T36" fmla="*/ 31 w 118"/>
                <a:gd name="T37" fmla="*/ 36 h 69"/>
                <a:gd name="T38" fmla="*/ 5 w 118"/>
                <a:gd name="T39" fmla="*/ 61 h 69"/>
                <a:gd name="T40" fmla="*/ 5 w 118"/>
                <a:gd name="T41" fmla="*/ 64 h 69"/>
                <a:gd name="T42" fmla="*/ 6 w 118"/>
                <a:gd name="T43" fmla="*/ 64 h 69"/>
                <a:gd name="T44" fmla="*/ 8 w 118"/>
                <a:gd name="T45" fmla="*/ 64 h 69"/>
                <a:gd name="T46" fmla="*/ 34 w 118"/>
                <a:gd name="T47" fmla="*/ 39 h 69"/>
                <a:gd name="T48" fmla="*/ 34 w 118"/>
                <a:gd name="T49" fmla="*/ 3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18" h="69">
                  <a:moveTo>
                    <a:pt x="63" y="46"/>
                  </a:moveTo>
                  <a:cubicBezTo>
                    <a:pt x="118" y="0"/>
                    <a:pt x="118" y="0"/>
                    <a:pt x="118" y="0"/>
                  </a:cubicBezTo>
                  <a:cubicBezTo>
                    <a:pt x="118" y="63"/>
                    <a:pt x="118" y="63"/>
                    <a:pt x="118" y="63"/>
                  </a:cubicBezTo>
                  <a:cubicBezTo>
                    <a:pt x="118" y="66"/>
                    <a:pt x="116" y="69"/>
                    <a:pt x="112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2" y="69"/>
                    <a:pt x="0" y="66"/>
                    <a:pt x="0" y="6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7" y="47"/>
                    <a:pt x="61" y="47"/>
                    <a:pt x="63" y="46"/>
                  </a:cubicBezTo>
                  <a:close/>
                  <a:moveTo>
                    <a:pt x="84" y="39"/>
                  </a:moveTo>
                  <a:cubicBezTo>
                    <a:pt x="110" y="64"/>
                    <a:pt x="110" y="64"/>
                    <a:pt x="110" y="64"/>
                  </a:cubicBezTo>
                  <a:cubicBezTo>
                    <a:pt x="110" y="64"/>
                    <a:pt x="111" y="64"/>
                    <a:pt x="111" y="64"/>
                  </a:cubicBezTo>
                  <a:cubicBezTo>
                    <a:pt x="112" y="64"/>
                    <a:pt x="112" y="64"/>
                    <a:pt x="113" y="64"/>
                  </a:cubicBezTo>
                  <a:cubicBezTo>
                    <a:pt x="113" y="63"/>
                    <a:pt x="113" y="62"/>
                    <a:pt x="113" y="61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6" y="36"/>
                    <a:pt x="85" y="36"/>
                    <a:pt x="84" y="37"/>
                  </a:cubicBezTo>
                  <a:cubicBezTo>
                    <a:pt x="84" y="37"/>
                    <a:pt x="84" y="38"/>
                    <a:pt x="84" y="39"/>
                  </a:cubicBezTo>
                  <a:close/>
                  <a:moveTo>
                    <a:pt x="34" y="37"/>
                  </a:moveTo>
                  <a:cubicBezTo>
                    <a:pt x="33" y="36"/>
                    <a:pt x="32" y="36"/>
                    <a:pt x="31" y="36"/>
                  </a:cubicBezTo>
                  <a:cubicBezTo>
                    <a:pt x="5" y="61"/>
                    <a:pt x="5" y="61"/>
                    <a:pt x="5" y="61"/>
                  </a:cubicBezTo>
                  <a:cubicBezTo>
                    <a:pt x="4" y="62"/>
                    <a:pt x="4" y="63"/>
                    <a:pt x="5" y="64"/>
                  </a:cubicBezTo>
                  <a:cubicBezTo>
                    <a:pt x="5" y="64"/>
                    <a:pt x="6" y="64"/>
                    <a:pt x="6" y="64"/>
                  </a:cubicBezTo>
                  <a:cubicBezTo>
                    <a:pt x="7" y="64"/>
                    <a:pt x="7" y="64"/>
                    <a:pt x="8" y="64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8"/>
                    <a:pt x="34" y="37"/>
                    <a:pt x="34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sp>
          <p:nvSpPr>
            <p:cNvPr id="40" name="Freeform 853">
              <a:extLst>
                <a:ext uri="{FF2B5EF4-FFF2-40B4-BE49-F238E27FC236}">
                  <a16:creationId xmlns:a16="http://schemas.microsoft.com/office/drawing/2014/main" id="{166FBC4D-4A67-24E5-9E86-159E04056265}"/>
                </a:ext>
              </a:extLst>
            </p:cNvPr>
            <p:cNvSpPr/>
            <p:nvPr/>
          </p:nvSpPr>
          <p:spPr bwMode="auto">
            <a:xfrm>
              <a:off x="8414746" y="5709740"/>
              <a:ext cx="169148" cy="43371"/>
            </a:xfrm>
            <a:custGeom>
              <a:avLst/>
              <a:gdLst>
                <a:gd name="T0" fmla="*/ 4 w 66"/>
                <a:gd name="T1" fmla="*/ 1 h 17"/>
                <a:gd name="T2" fmla="*/ 63 w 66"/>
                <a:gd name="T3" fmla="*/ 11 h 17"/>
                <a:gd name="T4" fmla="*/ 66 w 66"/>
                <a:gd name="T5" fmla="*/ 15 h 17"/>
                <a:gd name="T6" fmla="*/ 62 w 66"/>
                <a:gd name="T7" fmla="*/ 17 h 17"/>
                <a:gd name="T8" fmla="*/ 62 w 66"/>
                <a:gd name="T9" fmla="*/ 17 h 17"/>
                <a:gd name="T10" fmla="*/ 2 w 66"/>
                <a:gd name="T11" fmla="*/ 7 h 17"/>
                <a:gd name="T12" fmla="*/ 0 w 66"/>
                <a:gd name="T13" fmla="*/ 3 h 17"/>
                <a:gd name="T14" fmla="*/ 4 w 66"/>
                <a:gd name="T15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" h="17">
                  <a:moveTo>
                    <a:pt x="4" y="1"/>
                  </a:moveTo>
                  <a:cubicBezTo>
                    <a:pt x="63" y="11"/>
                    <a:pt x="63" y="11"/>
                    <a:pt x="63" y="11"/>
                  </a:cubicBezTo>
                  <a:cubicBezTo>
                    <a:pt x="65" y="11"/>
                    <a:pt x="66" y="13"/>
                    <a:pt x="66" y="15"/>
                  </a:cubicBezTo>
                  <a:cubicBezTo>
                    <a:pt x="65" y="16"/>
                    <a:pt x="64" y="17"/>
                    <a:pt x="62" y="17"/>
                  </a:cubicBezTo>
                  <a:cubicBezTo>
                    <a:pt x="62" y="17"/>
                    <a:pt x="62" y="17"/>
                    <a:pt x="62" y="1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7"/>
                    <a:pt x="0" y="5"/>
                    <a:pt x="0" y="3"/>
                  </a:cubicBezTo>
                  <a:cubicBezTo>
                    <a:pt x="0" y="2"/>
                    <a:pt x="2" y="0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sp>
          <p:nvSpPr>
            <p:cNvPr id="41" name="Freeform 854">
              <a:extLst>
                <a:ext uri="{FF2B5EF4-FFF2-40B4-BE49-F238E27FC236}">
                  <a16:creationId xmlns:a16="http://schemas.microsoft.com/office/drawing/2014/main" id="{C671A228-7949-DC87-B044-618AF8098899}"/>
                </a:ext>
              </a:extLst>
            </p:cNvPr>
            <p:cNvSpPr/>
            <p:nvPr/>
          </p:nvSpPr>
          <p:spPr bwMode="auto">
            <a:xfrm>
              <a:off x="8407156" y="5743352"/>
              <a:ext cx="135536" cy="35782"/>
            </a:xfrm>
            <a:custGeom>
              <a:avLst/>
              <a:gdLst>
                <a:gd name="T0" fmla="*/ 1 w 53"/>
                <a:gd name="T1" fmla="*/ 3 h 14"/>
                <a:gd name="T2" fmla="*/ 4 w 53"/>
                <a:gd name="T3" fmla="*/ 0 h 14"/>
                <a:gd name="T4" fmla="*/ 50 w 53"/>
                <a:gd name="T5" fmla="*/ 8 h 14"/>
                <a:gd name="T6" fmla="*/ 53 w 53"/>
                <a:gd name="T7" fmla="*/ 12 h 14"/>
                <a:gd name="T8" fmla="*/ 50 w 53"/>
                <a:gd name="T9" fmla="*/ 14 h 14"/>
                <a:gd name="T10" fmla="*/ 49 w 53"/>
                <a:gd name="T11" fmla="*/ 14 h 14"/>
                <a:gd name="T12" fmla="*/ 3 w 53"/>
                <a:gd name="T13" fmla="*/ 7 h 14"/>
                <a:gd name="T14" fmla="*/ 1 w 53"/>
                <a:gd name="T1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" h="14">
                  <a:moveTo>
                    <a:pt x="1" y="3"/>
                  </a:moveTo>
                  <a:cubicBezTo>
                    <a:pt x="1" y="1"/>
                    <a:pt x="2" y="0"/>
                    <a:pt x="4" y="0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2" y="8"/>
                    <a:pt x="53" y="10"/>
                    <a:pt x="53" y="12"/>
                  </a:cubicBezTo>
                  <a:cubicBezTo>
                    <a:pt x="53" y="13"/>
                    <a:pt x="51" y="14"/>
                    <a:pt x="50" y="14"/>
                  </a:cubicBezTo>
                  <a:cubicBezTo>
                    <a:pt x="50" y="14"/>
                    <a:pt x="49" y="14"/>
                    <a:pt x="49" y="14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0" y="5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sp>
          <p:nvSpPr>
            <p:cNvPr id="42" name="Freeform 855">
              <a:extLst>
                <a:ext uri="{FF2B5EF4-FFF2-40B4-BE49-F238E27FC236}">
                  <a16:creationId xmlns:a16="http://schemas.microsoft.com/office/drawing/2014/main" id="{E0FC4AE2-F631-1E0B-44EB-EB6B8788299B}"/>
                </a:ext>
              </a:extLst>
            </p:cNvPr>
            <p:cNvSpPr/>
            <p:nvPr/>
          </p:nvSpPr>
          <p:spPr bwMode="auto">
            <a:xfrm>
              <a:off x="8450527" y="5784555"/>
              <a:ext cx="61805" cy="22770"/>
            </a:xfrm>
            <a:custGeom>
              <a:avLst/>
              <a:gdLst>
                <a:gd name="T0" fmla="*/ 21 w 24"/>
                <a:gd name="T1" fmla="*/ 3 h 9"/>
                <a:gd name="T2" fmla="*/ 24 w 24"/>
                <a:gd name="T3" fmla="*/ 6 h 9"/>
                <a:gd name="T4" fmla="*/ 21 w 24"/>
                <a:gd name="T5" fmla="*/ 9 h 9"/>
                <a:gd name="T6" fmla="*/ 20 w 24"/>
                <a:gd name="T7" fmla="*/ 9 h 9"/>
                <a:gd name="T8" fmla="*/ 3 w 24"/>
                <a:gd name="T9" fmla="*/ 6 h 9"/>
                <a:gd name="T10" fmla="*/ 0 w 24"/>
                <a:gd name="T11" fmla="*/ 3 h 9"/>
                <a:gd name="T12" fmla="*/ 4 w 24"/>
                <a:gd name="T13" fmla="*/ 0 h 9"/>
                <a:gd name="T14" fmla="*/ 21 w 24"/>
                <a:gd name="T15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" h="9">
                  <a:moveTo>
                    <a:pt x="21" y="3"/>
                  </a:moveTo>
                  <a:cubicBezTo>
                    <a:pt x="23" y="3"/>
                    <a:pt x="24" y="5"/>
                    <a:pt x="24" y="6"/>
                  </a:cubicBezTo>
                  <a:cubicBezTo>
                    <a:pt x="24" y="8"/>
                    <a:pt x="22" y="9"/>
                    <a:pt x="21" y="9"/>
                  </a:cubicBezTo>
                  <a:cubicBezTo>
                    <a:pt x="21" y="9"/>
                    <a:pt x="21" y="9"/>
                    <a:pt x="20" y="9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lnTo>
                    <a:pt x="2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44" name="组合 20">
            <a:extLst>
              <a:ext uri="{FF2B5EF4-FFF2-40B4-BE49-F238E27FC236}">
                <a16:creationId xmlns:a16="http://schemas.microsoft.com/office/drawing/2014/main" id="{04EC42D6-51BC-DA85-1016-16BCF7B19F3C}"/>
              </a:ext>
            </a:extLst>
          </p:cNvPr>
          <p:cNvGrpSpPr/>
          <p:nvPr/>
        </p:nvGrpSpPr>
        <p:grpSpPr>
          <a:xfrm>
            <a:off x="6397333" y="3011357"/>
            <a:ext cx="2340297" cy="1388087"/>
            <a:chOff x="2744012" y="4481922"/>
            <a:chExt cx="2654788" cy="1810925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4F9B875B-2891-957D-2F24-415A23F714E2}"/>
                </a:ext>
              </a:extLst>
            </p:cNvPr>
            <p:cNvSpPr txBox="1"/>
            <p:nvPr/>
          </p:nvSpPr>
          <p:spPr bwMode="auto">
            <a:xfrm>
              <a:off x="2744012" y="5125711"/>
              <a:ext cx="2654788" cy="11671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Light" charset="0"/>
                  <a:sym typeface="Lato Light" charset="0"/>
                </a:rPr>
                <a:t>降低维护成本（复用性提升）、提升开发效率（分层明确）</a:t>
              </a:r>
              <a:endPara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Lato Light" charset="0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FADB5DFD-9C69-19F0-78A6-6BA088781D7D}"/>
                </a:ext>
              </a:extLst>
            </p:cNvPr>
            <p:cNvSpPr txBox="1"/>
            <p:nvPr/>
          </p:nvSpPr>
          <p:spPr bwMode="auto">
            <a:xfrm>
              <a:off x="2744012" y="4481922"/>
              <a:ext cx="2349784" cy="533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CN" altLang="en-US" sz="2000" dirty="0">
                  <a:solidFill>
                    <a:srgbClr val="000000"/>
                  </a:solidFill>
                  <a:latin typeface="Inter"/>
                </a:rPr>
                <a:t>开发层面</a:t>
              </a:r>
              <a:endParaRPr lang="zh-CN" altLang="en-US" sz="2000" spc="7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7" name="组合 17">
            <a:extLst>
              <a:ext uri="{FF2B5EF4-FFF2-40B4-BE49-F238E27FC236}">
                <a16:creationId xmlns:a16="http://schemas.microsoft.com/office/drawing/2014/main" id="{B4112A02-BC71-4B48-3EA5-FD47503333C9}"/>
              </a:ext>
            </a:extLst>
          </p:cNvPr>
          <p:cNvGrpSpPr/>
          <p:nvPr/>
        </p:nvGrpSpPr>
        <p:grpSpPr>
          <a:xfrm>
            <a:off x="3208550" y="1040128"/>
            <a:ext cx="2581714" cy="1286035"/>
            <a:chOff x="5332890" y="1567589"/>
            <a:chExt cx="2349784" cy="1699040"/>
          </a:xfrm>
        </p:grpSpPr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69037753-8657-494C-9C79-C439662C2C21}"/>
                </a:ext>
              </a:extLst>
            </p:cNvPr>
            <p:cNvSpPr txBox="1"/>
            <p:nvPr/>
          </p:nvSpPr>
          <p:spPr bwMode="auto">
            <a:xfrm>
              <a:off x="5372353" y="2099491"/>
              <a:ext cx="2253439" cy="11671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Light" charset="0"/>
                  <a:sym typeface="Lato Light" charset="0"/>
                </a:rPr>
                <a:t>实现 “模块分层清晰、逻辑解耦彻底、状态管理统一”</a:t>
              </a:r>
              <a:endPara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Lato Light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FCD57824-160C-F64B-283A-8F9655E64CFE}"/>
                </a:ext>
              </a:extLst>
            </p:cNvPr>
            <p:cNvSpPr txBox="1"/>
            <p:nvPr/>
          </p:nvSpPr>
          <p:spPr bwMode="auto">
            <a:xfrm>
              <a:off x="5332890" y="1567589"/>
              <a:ext cx="2349784" cy="533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nter"/>
                  <a:cs typeface="+mn-cs"/>
                </a:rPr>
                <a:t>架构层面</a:t>
              </a:r>
              <a:endParaRPr lang="zh-CN" altLang="en-US" sz="2000" spc="7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组合 23">
            <a:extLst>
              <a:ext uri="{FF2B5EF4-FFF2-40B4-BE49-F238E27FC236}">
                <a16:creationId xmlns:a16="http://schemas.microsoft.com/office/drawing/2014/main" id="{845382C6-7D5F-163A-2FE3-E581182CFD5A}"/>
              </a:ext>
            </a:extLst>
          </p:cNvPr>
          <p:cNvGrpSpPr/>
          <p:nvPr/>
        </p:nvGrpSpPr>
        <p:grpSpPr>
          <a:xfrm>
            <a:off x="406370" y="3014783"/>
            <a:ext cx="2460472" cy="1768263"/>
            <a:chOff x="1010144" y="4271844"/>
            <a:chExt cx="2814765" cy="2036581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4CAE30DA-F005-ED34-2922-F6475794A12C}"/>
                </a:ext>
              </a:extLst>
            </p:cNvPr>
            <p:cNvSpPr txBox="1"/>
            <p:nvPr/>
          </p:nvSpPr>
          <p:spPr bwMode="auto">
            <a:xfrm>
              <a:off x="1010144" y="4782327"/>
              <a:ext cx="2814765" cy="15260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Light" charset="0"/>
                  <a:sym typeface="Lato Light" charset="0"/>
                </a:rPr>
                <a:t>增强系统稳定性（参数校验、异常处理）、扩展性（接口扩展、字段优化）</a:t>
              </a:r>
              <a:endPara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Lato Light" charset="0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B1E4779B-0048-82C0-A2F1-DC4CD159C3D2}"/>
                </a:ext>
              </a:extLst>
            </p:cNvPr>
            <p:cNvSpPr txBox="1"/>
            <p:nvPr/>
          </p:nvSpPr>
          <p:spPr bwMode="auto">
            <a:xfrm>
              <a:off x="1278030" y="4271844"/>
              <a:ext cx="1708803" cy="4608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zh-CN" altLang="en-US" sz="2000" dirty="0">
                  <a:solidFill>
                    <a:srgbClr val="000000"/>
                  </a:solidFill>
                  <a:latin typeface="Inter"/>
                </a:rPr>
                <a:t>功能层面</a:t>
              </a:r>
              <a:endParaRPr lang="zh-CN" altLang="en-US" sz="2000" spc="7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248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55FD0-6469-B0AA-5336-EE0887F94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E6FD352-E9A4-C21F-EEFD-6D6106E1E80B}"/>
              </a:ext>
            </a:extLst>
          </p:cNvPr>
          <p:cNvGrpSpPr/>
          <p:nvPr/>
        </p:nvGrpSpPr>
        <p:grpSpPr>
          <a:xfrm>
            <a:off x="1042910" y="1709802"/>
            <a:ext cx="6933827" cy="2180059"/>
            <a:chOff x="1042910" y="1921926"/>
            <a:chExt cx="6933827" cy="2180059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5DE3C86-AD60-1B77-6367-A138C33B9DB9}"/>
                </a:ext>
              </a:extLst>
            </p:cNvPr>
            <p:cNvGrpSpPr/>
            <p:nvPr/>
          </p:nvGrpSpPr>
          <p:grpSpPr>
            <a:xfrm>
              <a:off x="1664970" y="2063794"/>
              <a:ext cx="1234440" cy="1036320"/>
              <a:chOff x="2017395" y="2063794"/>
              <a:chExt cx="1234440" cy="1036320"/>
            </a:xfrm>
          </p:grpSpPr>
          <p:sp>
            <p:nvSpPr>
              <p:cNvPr id="8" name="任意多边形 7">
                <a:extLst>
                  <a:ext uri="{FF2B5EF4-FFF2-40B4-BE49-F238E27FC236}">
                    <a16:creationId xmlns:a16="http://schemas.microsoft.com/office/drawing/2014/main" id="{7A5399F0-458C-3387-67D4-E84A7CF7CD9D}"/>
                  </a:ext>
                </a:extLst>
              </p:cNvPr>
              <p:cNvSpPr/>
              <p:nvPr/>
            </p:nvSpPr>
            <p:spPr>
              <a:xfrm rot="5400000">
                <a:off x="2116455" y="1964734"/>
                <a:ext cx="1036320" cy="1234440"/>
              </a:xfrm>
              <a:custGeom>
                <a:avLst/>
                <a:gdLst>
                  <a:gd name="connsiteX0" fmla="*/ 863597 w 1036320"/>
                  <a:gd name="connsiteY0" fmla="*/ 1234440 h 1234440"/>
                  <a:gd name="connsiteX1" fmla="*/ 172723 w 1036320"/>
                  <a:gd name="connsiteY1" fmla="*/ 1234440 h 1234440"/>
                  <a:gd name="connsiteX2" fmla="*/ 0 w 1036320"/>
                  <a:gd name="connsiteY2" fmla="*/ 1061717 h 1234440"/>
                  <a:gd name="connsiteX3" fmla="*/ 0 w 1036320"/>
                  <a:gd name="connsiteY3" fmla="*/ 340363 h 1234440"/>
                  <a:gd name="connsiteX4" fmla="*/ 172723 w 1036320"/>
                  <a:gd name="connsiteY4" fmla="*/ 167640 h 1234440"/>
                  <a:gd name="connsiteX5" fmla="*/ 259080 w 1036320"/>
                  <a:gd name="connsiteY5" fmla="*/ 167640 h 1234440"/>
                  <a:gd name="connsiteX6" fmla="*/ 518160 w 1036320"/>
                  <a:gd name="connsiteY6" fmla="*/ 0 h 1234440"/>
                  <a:gd name="connsiteX7" fmla="*/ 777240 w 1036320"/>
                  <a:gd name="connsiteY7" fmla="*/ 167640 h 1234440"/>
                  <a:gd name="connsiteX8" fmla="*/ 863597 w 1036320"/>
                  <a:gd name="connsiteY8" fmla="*/ 167640 h 1234440"/>
                  <a:gd name="connsiteX9" fmla="*/ 1036320 w 1036320"/>
                  <a:gd name="connsiteY9" fmla="*/ 340363 h 1234440"/>
                  <a:gd name="connsiteX10" fmla="*/ 1036320 w 1036320"/>
                  <a:gd name="connsiteY10" fmla="*/ 1061717 h 1234440"/>
                  <a:gd name="connsiteX11" fmla="*/ 863597 w 1036320"/>
                  <a:gd name="connsiteY11" fmla="*/ 1234440 h 1234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36320" h="1234440">
                    <a:moveTo>
                      <a:pt x="863597" y="1234440"/>
                    </a:moveTo>
                    <a:lnTo>
                      <a:pt x="172723" y="1234440"/>
                    </a:lnTo>
                    <a:cubicBezTo>
                      <a:pt x="77331" y="1234440"/>
                      <a:pt x="0" y="1157109"/>
                      <a:pt x="0" y="1061717"/>
                    </a:cubicBezTo>
                    <a:lnTo>
                      <a:pt x="0" y="340363"/>
                    </a:lnTo>
                    <a:cubicBezTo>
                      <a:pt x="0" y="244971"/>
                      <a:pt x="77331" y="167640"/>
                      <a:pt x="172723" y="167640"/>
                    </a:cubicBezTo>
                    <a:lnTo>
                      <a:pt x="259080" y="167640"/>
                    </a:lnTo>
                    <a:lnTo>
                      <a:pt x="518160" y="0"/>
                    </a:lnTo>
                    <a:lnTo>
                      <a:pt x="777240" y="167640"/>
                    </a:lnTo>
                    <a:lnTo>
                      <a:pt x="863597" y="167640"/>
                    </a:lnTo>
                    <a:cubicBezTo>
                      <a:pt x="958989" y="167640"/>
                      <a:pt x="1036320" y="244971"/>
                      <a:pt x="1036320" y="340363"/>
                    </a:cubicBezTo>
                    <a:lnTo>
                      <a:pt x="1036320" y="1061717"/>
                    </a:lnTo>
                    <a:cubicBezTo>
                      <a:pt x="1036320" y="1157109"/>
                      <a:pt x="958989" y="1234440"/>
                      <a:pt x="863597" y="1234440"/>
                    </a:cubicBezTo>
                    <a:close/>
                  </a:path>
                </a:pathLst>
              </a:custGeom>
              <a:solidFill>
                <a:srgbClr val="DC95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文本框 4">
                <a:extLst>
                  <a:ext uri="{FF2B5EF4-FFF2-40B4-BE49-F238E27FC236}">
                    <a16:creationId xmlns:a16="http://schemas.microsoft.com/office/drawing/2014/main" id="{3F75EC3B-EC98-2453-480B-7E8CE0985A2A}"/>
                  </a:ext>
                </a:extLst>
              </p:cNvPr>
              <p:cNvSpPr txBox="1"/>
              <p:nvPr/>
            </p:nvSpPr>
            <p:spPr>
              <a:xfrm>
                <a:off x="2079307" y="2192622"/>
                <a:ext cx="1110615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chemeClr val="bg1"/>
                    </a:solidFill>
                    <a:latin typeface="+mn-ea"/>
                  </a:rPr>
                  <a:t>02</a:t>
                </a:r>
                <a:endParaRPr lang="zh-CN" altLang="en-US" sz="440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F03AE3D5-9C4D-BFEE-311B-9FA855B82A66}"/>
                </a:ext>
              </a:extLst>
            </p:cNvPr>
            <p:cNvSpPr/>
            <p:nvPr/>
          </p:nvSpPr>
          <p:spPr>
            <a:xfrm>
              <a:off x="1042910" y="2864108"/>
              <a:ext cx="357266" cy="357266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718BBB16-57B6-6225-CD46-7F727CB0DC4D}"/>
                </a:ext>
              </a:extLst>
            </p:cNvPr>
            <p:cNvSpPr/>
            <p:nvPr/>
          </p:nvSpPr>
          <p:spPr>
            <a:xfrm>
              <a:off x="1418918" y="2588741"/>
              <a:ext cx="227310" cy="227310"/>
            </a:xfrm>
            <a:prstGeom prst="ellipse">
              <a:avLst/>
            </a:prstGeom>
            <a:solidFill>
              <a:srgbClr val="DC95AA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56B5336F-76F4-7298-3741-0082891ACDFD}"/>
                </a:ext>
              </a:extLst>
            </p:cNvPr>
            <p:cNvSpPr/>
            <p:nvPr/>
          </p:nvSpPr>
          <p:spPr>
            <a:xfrm>
              <a:off x="1726873" y="3535644"/>
              <a:ext cx="187970" cy="187970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CC622DFB-618B-9210-29F2-465D866342BB}"/>
                </a:ext>
              </a:extLst>
            </p:cNvPr>
            <p:cNvSpPr/>
            <p:nvPr/>
          </p:nvSpPr>
          <p:spPr>
            <a:xfrm>
              <a:off x="1493828" y="3154864"/>
              <a:ext cx="304801" cy="304800"/>
            </a:xfrm>
            <a:prstGeom prst="ellipse">
              <a:avLst/>
            </a:prstGeom>
            <a:solidFill>
              <a:srgbClr val="DC95AA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86301792-8FCE-0F14-704D-30E250127E43}"/>
                </a:ext>
              </a:extLst>
            </p:cNvPr>
            <p:cNvSpPr/>
            <p:nvPr/>
          </p:nvSpPr>
          <p:spPr>
            <a:xfrm>
              <a:off x="2033905" y="3221374"/>
              <a:ext cx="193010" cy="193010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C89F3736-0105-3E35-4F67-1F1F74C83858}"/>
                </a:ext>
              </a:extLst>
            </p:cNvPr>
            <p:cNvSpPr/>
            <p:nvPr/>
          </p:nvSpPr>
          <p:spPr>
            <a:xfrm>
              <a:off x="2226916" y="3280034"/>
              <a:ext cx="483587" cy="483587"/>
            </a:xfrm>
            <a:prstGeom prst="ellipse">
              <a:avLst/>
            </a:prstGeom>
            <a:solidFill>
              <a:srgbClr val="DC95AA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73CFA101-9617-B81C-873F-20138B0565A6}"/>
                </a:ext>
              </a:extLst>
            </p:cNvPr>
            <p:cNvSpPr/>
            <p:nvPr/>
          </p:nvSpPr>
          <p:spPr>
            <a:xfrm>
              <a:off x="2532214" y="3022693"/>
              <a:ext cx="171464" cy="171464"/>
            </a:xfrm>
            <a:prstGeom prst="ellipse">
              <a:avLst/>
            </a:prstGeom>
            <a:solidFill>
              <a:srgbClr val="DC95AA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EBE920B-770F-E506-2259-760581DFEC90}"/>
                </a:ext>
              </a:extLst>
            </p:cNvPr>
            <p:cNvSpPr/>
            <p:nvPr/>
          </p:nvSpPr>
          <p:spPr>
            <a:xfrm>
              <a:off x="2834829" y="3161396"/>
              <a:ext cx="291736" cy="291736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724822AF-42C0-9852-1B4F-288971610EEC}"/>
                </a:ext>
              </a:extLst>
            </p:cNvPr>
            <p:cNvSpPr/>
            <p:nvPr/>
          </p:nvSpPr>
          <p:spPr>
            <a:xfrm>
              <a:off x="2130410" y="3907685"/>
              <a:ext cx="194300" cy="194300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8">
              <a:extLst>
                <a:ext uri="{FF2B5EF4-FFF2-40B4-BE49-F238E27FC236}">
                  <a16:creationId xmlns:a16="http://schemas.microsoft.com/office/drawing/2014/main" id="{8E2FF70D-78D0-02C6-5BF4-271D29AFA9EC}"/>
                </a:ext>
              </a:extLst>
            </p:cNvPr>
            <p:cNvSpPr/>
            <p:nvPr/>
          </p:nvSpPr>
          <p:spPr>
            <a:xfrm>
              <a:off x="2878455" y="2164081"/>
              <a:ext cx="4589145" cy="731520"/>
            </a:xfrm>
            <a:custGeom>
              <a:avLst/>
              <a:gdLst>
                <a:gd name="connsiteX0" fmla="*/ 0 w 5943600"/>
                <a:gd name="connsiteY0" fmla="*/ 411480 h 731520"/>
                <a:gd name="connsiteX1" fmla="*/ 289560 w 5943600"/>
                <a:gd name="connsiteY1" fmla="*/ 731520 h 731520"/>
                <a:gd name="connsiteX2" fmla="*/ 617220 w 5943600"/>
                <a:gd name="connsiteY2" fmla="*/ 0 h 731520"/>
                <a:gd name="connsiteX3" fmla="*/ 731520 w 5943600"/>
                <a:gd name="connsiteY3" fmla="*/ 419100 h 731520"/>
                <a:gd name="connsiteX4" fmla="*/ 5943600 w 5943600"/>
                <a:gd name="connsiteY4" fmla="*/ 419100 h 73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43600" h="731520">
                  <a:moveTo>
                    <a:pt x="0" y="411480"/>
                  </a:moveTo>
                  <a:lnTo>
                    <a:pt x="289560" y="731520"/>
                  </a:lnTo>
                  <a:lnTo>
                    <a:pt x="617220" y="0"/>
                  </a:lnTo>
                  <a:lnTo>
                    <a:pt x="731520" y="419100"/>
                  </a:lnTo>
                  <a:lnTo>
                    <a:pt x="5943600" y="419100"/>
                  </a:lnTo>
                </a:path>
              </a:pathLst>
            </a:custGeom>
            <a:noFill/>
            <a:ln>
              <a:solidFill>
                <a:srgbClr val="DC95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5">
              <a:extLst>
                <a:ext uri="{FF2B5EF4-FFF2-40B4-BE49-F238E27FC236}">
                  <a16:creationId xmlns:a16="http://schemas.microsoft.com/office/drawing/2014/main" id="{0C73241B-D29D-FF92-BAE6-0DA313E99E41}"/>
                </a:ext>
              </a:extLst>
            </p:cNvPr>
            <p:cNvSpPr txBox="1"/>
            <p:nvPr/>
          </p:nvSpPr>
          <p:spPr>
            <a:xfrm>
              <a:off x="4530092" y="1921926"/>
              <a:ext cx="3429000" cy="707876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zh-CN" altLang="en-US" sz="4000" b="1" dirty="0">
                  <a:solidFill>
                    <a:schemeClr val="bg1">
                      <a:lumMod val="65000"/>
                    </a:schemeClr>
                  </a:solidFill>
                </a:rPr>
                <a:t>框架设计</a:t>
              </a: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1E70BAEE-5753-111C-67EC-44EA8B998F1E}"/>
                </a:ext>
              </a:extLst>
            </p:cNvPr>
            <p:cNvSpPr/>
            <p:nvPr/>
          </p:nvSpPr>
          <p:spPr>
            <a:xfrm>
              <a:off x="7354908" y="2187623"/>
              <a:ext cx="228321" cy="228320"/>
            </a:xfrm>
            <a:prstGeom prst="ellipse">
              <a:avLst/>
            </a:prstGeom>
            <a:solidFill>
              <a:srgbClr val="DC95AA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5446991E-6CDF-C61F-84B6-CA86144DF6A1}"/>
                </a:ext>
              </a:extLst>
            </p:cNvPr>
            <p:cNvSpPr/>
            <p:nvPr/>
          </p:nvSpPr>
          <p:spPr>
            <a:xfrm>
              <a:off x="7657523" y="2383183"/>
              <a:ext cx="319214" cy="319214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FFBC7541-99D2-F77C-4A71-E0F5174A323C}"/>
              </a:ext>
            </a:extLst>
          </p:cNvPr>
          <p:cNvSpPr/>
          <p:nvPr/>
        </p:nvSpPr>
        <p:spPr>
          <a:xfrm>
            <a:off x="379730" y="344805"/>
            <a:ext cx="8384540" cy="4453890"/>
          </a:xfrm>
          <a:prstGeom prst="rect">
            <a:avLst/>
          </a:prstGeom>
          <a:noFill/>
          <a:ln w="57150">
            <a:solidFill>
              <a:srgbClr val="DC95AA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331903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93B6B-293D-DE2E-8EB7-AD2FF142A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9870BA4-0A8F-83F2-A567-D337677933A6}"/>
              </a:ext>
            </a:extLst>
          </p:cNvPr>
          <p:cNvSpPr/>
          <p:nvPr/>
        </p:nvSpPr>
        <p:spPr bwMode="auto">
          <a:xfrm>
            <a:off x="419340" y="161307"/>
            <a:ext cx="126188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框架设计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FB74CF81-2F79-4A0C-5891-465970256D0E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AA6C6508-1A24-B2D6-D5CC-0DB1C32CB13A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155FE4ED-9062-09FF-7953-F7B0D08552A5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6897074-2101-377A-05EC-7050BFCBE49A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5D00F6BD-D2CD-0BA7-B599-E2E2898F9008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9F7F7A3-D69E-EC14-8C11-2B6E14D21885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8171F983-1A24-E5E1-65AC-16CF6142CEB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39140" y="394192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B62A188-351D-8D39-453A-038B121FCDA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pic>
        <p:nvPicPr>
          <p:cNvPr id="3" name="Drawing 4">
            <a:extLst>
              <a:ext uri="{FF2B5EF4-FFF2-40B4-BE49-F238E27FC236}">
                <a16:creationId xmlns:a16="http://schemas.microsoft.com/office/drawing/2014/main" id="{5D23FBDA-5DB6-D223-2D3A-9064F25FB4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5736" y="915566"/>
            <a:ext cx="3704828" cy="352511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55E3BD4-2280-503E-5A9A-7743624EAB96}"/>
              </a:ext>
            </a:extLst>
          </p:cNvPr>
          <p:cNvSpPr txBox="1"/>
          <p:nvPr/>
        </p:nvSpPr>
        <p:spPr>
          <a:xfrm>
            <a:off x="3247228" y="1835444"/>
            <a:ext cx="2160240" cy="2355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9633C1E-CA08-0DB0-B4A7-FB666D059F93}"/>
              </a:ext>
            </a:extLst>
          </p:cNvPr>
          <p:cNvSpPr txBox="1"/>
          <p:nvPr/>
        </p:nvSpPr>
        <p:spPr>
          <a:xfrm>
            <a:off x="3247228" y="4249011"/>
            <a:ext cx="1180756" cy="2355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893C53-431D-5E13-101A-E4A58EA66F47}"/>
              </a:ext>
            </a:extLst>
          </p:cNvPr>
          <p:cNvSpPr txBox="1"/>
          <p:nvPr/>
        </p:nvSpPr>
        <p:spPr>
          <a:xfrm>
            <a:off x="5796136" y="1793959"/>
            <a:ext cx="172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评论互动（点赞）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1415CBB-617E-60EE-CDA4-C269875D0A79}"/>
              </a:ext>
            </a:extLst>
          </p:cNvPr>
          <p:cNvSpPr txBox="1"/>
          <p:nvPr/>
        </p:nvSpPr>
        <p:spPr>
          <a:xfrm>
            <a:off x="4726533" y="4294892"/>
            <a:ext cx="1728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专家</a:t>
            </a:r>
          </a:p>
        </p:txBody>
      </p:sp>
    </p:spTree>
    <p:extLst>
      <p:ext uri="{BB962C8B-B14F-4D97-AF65-F5344CB8AC3E}">
        <p14:creationId xmlns:p14="http://schemas.microsoft.com/office/powerpoint/2010/main" val="2857449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93B6B-293D-DE2E-8EB7-AD2FF142A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9870BA4-0A8F-83F2-A567-D337677933A6}"/>
              </a:ext>
            </a:extLst>
          </p:cNvPr>
          <p:cNvSpPr/>
          <p:nvPr/>
        </p:nvSpPr>
        <p:spPr bwMode="auto">
          <a:xfrm>
            <a:off x="419340" y="161307"/>
            <a:ext cx="126188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框架设计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FB74CF81-2F79-4A0C-5891-465970256D0E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AA6C6508-1A24-B2D6-D5CC-0DB1C32CB13A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155FE4ED-9062-09FF-7953-F7B0D08552A5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6897074-2101-377A-05EC-7050BFCBE49A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5D00F6BD-D2CD-0BA7-B599-E2E2898F9008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9F7F7A3-D69E-EC14-8C11-2B6E14D21885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8171F983-1A24-E5E1-65AC-16CF6142CEB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39140" y="394192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B62A188-351D-8D39-453A-038B121FCDA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B236923-77A0-5264-132E-BC1D08E6E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37" y="1274506"/>
            <a:ext cx="3484358" cy="297213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5CF379B-F867-6499-FE45-122E112F3B59}"/>
              </a:ext>
            </a:extLst>
          </p:cNvPr>
          <p:cNvSpPr txBox="1"/>
          <p:nvPr/>
        </p:nvSpPr>
        <p:spPr>
          <a:xfrm>
            <a:off x="3990062" y="1707654"/>
            <a:ext cx="490593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b="1" dirty="0"/>
              <a:t>评论系统数据库设计说明</a:t>
            </a:r>
          </a:p>
          <a:p>
            <a:pPr>
              <a:buNone/>
            </a:pPr>
            <a:r>
              <a:rPr lang="en-US" altLang="zh-CN" sz="1400" b="1" dirty="0"/>
              <a:t>1. </a:t>
            </a:r>
            <a:r>
              <a:rPr lang="zh-CN" altLang="en-US" sz="1400" b="1" dirty="0"/>
              <a:t>架构模式：二级扁平化 </a:t>
            </a:r>
            <a:r>
              <a:rPr lang="en-US" altLang="zh-CN" sz="1400" b="1" dirty="0"/>
              <a:t>(Two-Level Flat Structure)</a:t>
            </a:r>
          </a:p>
          <a:p>
            <a:pPr>
              <a:buNone/>
            </a:pPr>
            <a:r>
              <a:rPr lang="zh-CN" altLang="en-US" sz="1400" dirty="0"/>
              <a:t>本设计采用了目前主流的</a:t>
            </a:r>
            <a:r>
              <a:rPr lang="zh-CN" altLang="en-US" sz="1400" b="1" dirty="0"/>
              <a:t>顶级评论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扁平化回复</a:t>
            </a:r>
            <a:r>
              <a:rPr lang="zh-CN" altLang="en-US" sz="1400" dirty="0"/>
              <a:t>的结构。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400" b="1" dirty="0"/>
              <a:t>层级 </a:t>
            </a:r>
            <a:r>
              <a:rPr lang="en-US" altLang="zh-CN" sz="1400" b="1" dirty="0"/>
              <a:t>1 (</a:t>
            </a:r>
            <a:r>
              <a:rPr lang="en-US" altLang="zh-CN" sz="1400" b="1" dirty="0">
                <a:latin typeface="Courier New" panose="02070309020205020404" pitchFamily="49" charset="0"/>
              </a:rPr>
              <a:t>comment</a:t>
            </a:r>
            <a:r>
              <a:rPr lang="en-US" altLang="zh-CN" sz="1400" b="1" dirty="0"/>
              <a:t>)</a:t>
            </a:r>
            <a:r>
              <a:rPr lang="en-US" altLang="zh-CN" sz="1400" dirty="0"/>
              <a:t>: </a:t>
            </a:r>
            <a:r>
              <a:rPr lang="zh-CN" altLang="en-US" sz="1400" dirty="0"/>
              <a:t>依附于资源（视频、文章）的根评论。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400" b="1" dirty="0"/>
              <a:t>层级 </a:t>
            </a:r>
            <a:r>
              <a:rPr lang="en-US" altLang="zh-CN" sz="1400" b="1" dirty="0"/>
              <a:t>2 (</a:t>
            </a:r>
            <a:r>
              <a:rPr lang="en-US" altLang="zh-CN" sz="1400" b="1" dirty="0" err="1">
                <a:latin typeface="Courier New" panose="02070309020205020404" pitchFamily="49" charset="0"/>
              </a:rPr>
              <a:t>comment_reply</a:t>
            </a:r>
            <a:r>
              <a:rPr lang="en-US" altLang="zh-CN" sz="1400" b="1" dirty="0"/>
              <a:t>)</a:t>
            </a:r>
            <a:r>
              <a:rPr lang="en-US" altLang="zh-CN" sz="1400" dirty="0"/>
              <a:t>: </a:t>
            </a:r>
            <a:r>
              <a:rPr lang="zh-CN" altLang="en-US" sz="1400" dirty="0"/>
              <a:t>依附于根评论的所有回复。</a:t>
            </a:r>
          </a:p>
          <a:p>
            <a:pPr>
              <a:buNone/>
            </a:pPr>
            <a:r>
              <a:rPr lang="zh-CN" altLang="en-US" sz="1400" b="1" dirty="0"/>
              <a:t>为什么不使用无限嵌套树形结构 </a:t>
            </a:r>
            <a:r>
              <a:rPr lang="en-US" altLang="zh-CN" sz="1400" b="1" dirty="0"/>
              <a:t>(Adjacency List)?</a:t>
            </a:r>
            <a:endParaRPr lang="zh-CN" alt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400" b="1" dirty="0"/>
              <a:t>查询性能</a:t>
            </a:r>
            <a:r>
              <a:rPr lang="en-US" altLang="zh-CN" sz="1400" dirty="0"/>
              <a:t>: </a:t>
            </a:r>
            <a:r>
              <a:rPr lang="zh-CN" altLang="en-US" sz="1400" dirty="0"/>
              <a:t>树形结构在 </a:t>
            </a:r>
            <a:r>
              <a:rPr lang="en-US" altLang="zh-CN" sz="1400" dirty="0"/>
              <a:t>SQL </a:t>
            </a:r>
            <a:r>
              <a:rPr lang="zh-CN" altLang="en-US" sz="1400" dirty="0"/>
              <a:t>中递归查询（</a:t>
            </a:r>
            <a:r>
              <a:rPr lang="en-US" altLang="zh-CN" sz="1400" dirty="0"/>
              <a:t>Recursive CTE</a:t>
            </a:r>
            <a:r>
              <a:rPr lang="zh-CN" altLang="en-US" sz="1400" dirty="0"/>
              <a:t>）非常消耗性能，且难以分页。。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400" b="1" dirty="0"/>
              <a:t>解决方案</a:t>
            </a:r>
            <a:r>
              <a:rPr lang="en-US" altLang="zh-CN" sz="1400" dirty="0"/>
              <a:t>: </a:t>
            </a:r>
            <a:r>
              <a:rPr lang="zh-CN" altLang="en-US" sz="1400" dirty="0"/>
              <a:t>所有的回复在数据库中通过 </a:t>
            </a:r>
            <a:r>
              <a:rPr lang="en-US" altLang="zh-CN" sz="1400" dirty="0" err="1">
                <a:latin typeface="Courier New" panose="02070309020205020404" pitchFamily="49" charset="0"/>
              </a:rPr>
              <a:t>comment_id</a:t>
            </a:r>
            <a:r>
              <a:rPr lang="zh-CN" altLang="en-US" sz="1400" dirty="0"/>
              <a:t> 关联存储在同一层级。在 </a:t>
            </a:r>
            <a:r>
              <a:rPr lang="en-US" altLang="zh-CN" sz="1400" dirty="0"/>
              <a:t>UI </a:t>
            </a:r>
            <a:r>
              <a:rPr lang="zh-CN" altLang="en-US" sz="1400" dirty="0"/>
              <a:t>上，通常只展示两层，或者点击“查看更多回复”弹窗显示线性时间流的对话列表。</a:t>
            </a:r>
          </a:p>
        </p:txBody>
      </p:sp>
    </p:spTree>
    <p:extLst>
      <p:ext uri="{BB962C8B-B14F-4D97-AF65-F5344CB8AC3E}">
        <p14:creationId xmlns:p14="http://schemas.microsoft.com/office/powerpoint/2010/main" val="1885349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D8C0B43-8443-924B-6B0E-5FA990F357EF}"/>
              </a:ext>
            </a:extLst>
          </p:cNvPr>
          <p:cNvSpPr/>
          <p:nvPr/>
        </p:nvSpPr>
        <p:spPr bwMode="auto">
          <a:xfrm>
            <a:off x="419340" y="161307"/>
            <a:ext cx="126188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框架设计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243B95E-5CE3-79DA-34E3-E67C299A0450}"/>
              </a:ext>
            </a:extLst>
          </p:cNvPr>
          <p:cNvGrpSpPr/>
          <p:nvPr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52C3B782-1B9C-68F8-66F9-3FA22DC97A43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4241490-4189-4F96-BE2B-06BA0FD37DD7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1F02648-A4B2-2A23-508D-54278FA066FF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B02694EB-12DC-64FD-4FC6-683AB05E6401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0901946-E939-0538-D851-CDF7250E32D8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FC7A4B51-E9ED-F300-0A91-5AAF506F8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619" y="915566"/>
            <a:ext cx="2863001" cy="337869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B53F737-CC43-5AE1-8057-DFD8A331D637}"/>
              </a:ext>
            </a:extLst>
          </p:cNvPr>
          <p:cNvSpPr txBox="1"/>
          <p:nvPr/>
        </p:nvSpPr>
        <p:spPr>
          <a:xfrm>
            <a:off x="3851920" y="617695"/>
            <a:ext cx="4572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用户在这个系统中主要产生三种行为，分别对应三条从用户出发的实线箭头：</a:t>
            </a:r>
          </a:p>
          <a:p>
            <a:pPr>
              <a:buFont typeface="+mj-lt"/>
              <a:buAutoNum type="arabicPeriod"/>
            </a:pPr>
            <a:r>
              <a:rPr lang="zh-CN" altLang="en-US" b="1" dirty="0"/>
              <a:t>发布主评论</a:t>
            </a:r>
            <a:r>
              <a:rPr lang="zh-CN" altLang="en-US" dirty="0"/>
              <a:t>：用户可以直接发布针对某个资源（如视频、文章）的一级评论，数据存入 </a:t>
            </a:r>
            <a:r>
              <a:rPr lang="en-US" altLang="zh-CN" dirty="0">
                <a:latin typeface="Courier New" panose="02070309020205020404" pitchFamily="49" charset="0"/>
              </a:rPr>
              <a:t>COMMENT </a:t>
            </a:r>
            <a:r>
              <a:rPr lang="zh-CN" altLang="en-US" dirty="0">
                <a:latin typeface="Courier New" panose="02070309020205020404" pitchFamily="49" charset="0"/>
              </a:rPr>
              <a:t>评论主表</a:t>
            </a:r>
            <a:r>
              <a:rPr lang="zh-CN" altLang="en-US" dirty="0"/>
              <a:t>。</a:t>
            </a:r>
          </a:p>
          <a:p>
            <a:pPr>
              <a:buFont typeface="+mj-lt"/>
              <a:buAutoNum type="arabicPeriod"/>
            </a:pPr>
            <a:r>
              <a:rPr lang="zh-CN" altLang="en-US" b="1" dirty="0"/>
              <a:t>发布回复</a:t>
            </a:r>
            <a:r>
              <a:rPr lang="zh-CN" altLang="en-US" dirty="0"/>
              <a:t>：用户可以回复已有的主评论，或者回复其他人的回复，数据存入 </a:t>
            </a:r>
            <a:r>
              <a:rPr lang="en-US" altLang="zh-CN" dirty="0">
                <a:latin typeface="Courier New" panose="02070309020205020404" pitchFamily="49" charset="0"/>
              </a:rPr>
              <a:t>COMMENT_REPLY </a:t>
            </a:r>
            <a:r>
              <a:rPr lang="zh-CN" altLang="en-US" dirty="0">
                <a:latin typeface="Courier New" panose="02070309020205020404" pitchFamily="49" charset="0"/>
              </a:rPr>
              <a:t>回复表</a:t>
            </a:r>
            <a:r>
              <a:rPr lang="zh-CN" altLang="en-US" dirty="0"/>
              <a:t>。</a:t>
            </a:r>
          </a:p>
          <a:p>
            <a:pPr>
              <a:buFont typeface="+mj-lt"/>
              <a:buAutoNum type="arabicPeriod"/>
            </a:pPr>
            <a:r>
              <a:rPr lang="zh-CN" altLang="en-US" b="1" dirty="0"/>
              <a:t>点击（点赞）</a:t>
            </a:r>
            <a:r>
              <a:rPr lang="zh-CN" altLang="en-US" dirty="0"/>
              <a:t>：用户产生点赞行为，系统会生成一条点赞记录，存入 </a:t>
            </a:r>
            <a:r>
              <a:rPr lang="en-US" altLang="zh-CN" dirty="0">
                <a:latin typeface="Courier New" panose="02070309020205020404" pitchFamily="49" charset="0"/>
              </a:rPr>
              <a:t>COMMENT_LIKE </a:t>
            </a:r>
            <a:r>
              <a:rPr lang="zh-CN" altLang="en-US" dirty="0">
                <a:latin typeface="Courier New" panose="02070309020205020404" pitchFamily="49" charset="0"/>
              </a:rPr>
              <a:t>点赞流水表</a:t>
            </a:r>
            <a:r>
              <a:rPr lang="zh-CN" altLang="en-US" dirty="0"/>
              <a:t>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F1222F1-A0A3-54DA-DBD9-A37D380596F0}"/>
              </a:ext>
            </a:extLst>
          </p:cNvPr>
          <p:cNvSpPr txBox="1"/>
          <p:nvPr/>
        </p:nvSpPr>
        <p:spPr>
          <a:xfrm>
            <a:off x="3765381" y="3694097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点赞功能没有为评论和回复分别建表（例如没有 </a:t>
            </a:r>
            <a:r>
              <a:rPr lang="en-US" altLang="zh-CN" dirty="0" err="1">
                <a:latin typeface="Courier New" panose="02070309020205020404" pitchFamily="49" charset="0"/>
              </a:rPr>
              <a:t>CommentLike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>
                <a:latin typeface="Courier New" panose="02070309020205020404" pitchFamily="49" charset="0"/>
              </a:rPr>
              <a:t>ReplyLike</a:t>
            </a:r>
            <a:r>
              <a:rPr lang="en-US" altLang="zh-CN" dirty="0"/>
              <a:t> </a:t>
            </a:r>
            <a:r>
              <a:rPr lang="zh-CN" altLang="en-US" dirty="0"/>
              <a:t>两张表），而是使用了一张通用的 </a:t>
            </a:r>
            <a:r>
              <a:rPr lang="en-US" altLang="zh-CN" dirty="0">
                <a:latin typeface="Courier New" panose="02070309020205020404" pitchFamily="49" charset="0"/>
              </a:rPr>
              <a:t>COMMENT_LIKE</a:t>
            </a:r>
            <a:r>
              <a:rPr lang="en-US" altLang="zh-CN" dirty="0"/>
              <a:t> </a:t>
            </a:r>
            <a:r>
              <a:rPr lang="zh-CN" altLang="en-US" dirty="0"/>
              <a:t>流水表。</a:t>
            </a:r>
          </a:p>
        </p:txBody>
      </p:sp>
    </p:spTree>
    <p:extLst>
      <p:ext uri="{BB962C8B-B14F-4D97-AF65-F5344CB8AC3E}">
        <p14:creationId xmlns:p14="http://schemas.microsoft.com/office/powerpoint/2010/main" val="2624655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9FCAE-7D42-C323-C75F-35B9DD084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C785D6-E0B7-AB23-46E6-56322504150F}"/>
              </a:ext>
            </a:extLst>
          </p:cNvPr>
          <p:cNvSpPr/>
          <p:nvPr/>
        </p:nvSpPr>
        <p:spPr bwMode="auto">
          <a:xfrm>
            <a:off x="419340" y="161307"/>
            <a:ext cx="126188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小组分工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78EC2B5A-C01F-3590-5001-BDC160685545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74133FA5-ED51-8E81-0295-F282E63130A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45FB3525-546C-DC5F-3D6B-7F551645D1C2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EFD57F6-E0BB-2F7E-C340-3CE1838452FD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D63E3523-5D5A-B1CB-A6AA-AA32A5784EF9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FB2118C-C2F0-EEB9-CE94-674A6A82D0B8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041D3CFE-B75E-C11B-2BEE-3F21B0EF03B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39140" y="394192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77747C7-E528-8BB2-591B-C0F444842FE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graphicFrame>
        <p:nvGraphicFramePr>
          <p:cNvPr id="3" name="表格 8">
            <a:extLst>
              <a:ext uri="{FF2B5EF4-FFF2-40B4-BE49-F238E27FC236}">
                <a16:creationId xmlns:a16="http://schemas.microsoft.com/office/drawing/2014/main" id="{ECC9F816-6BF4-374F-6986-F24F061AD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838868"/>
              </p:ext>
            </p:extLst>
          </p:nvPr>
        </p:nvGraphicFramePr>
        <p:xfrm>
          <a:off x="252175" y="1016935"/>
          <a:ext cx="7416169" cy="31932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2334">
                  <a:extLst>
                    <a:ext uri="{9D8B030D-6E8A-4147-A177-3AD203B41FA5}">
                      <a16:colId xmlns:a16="http://schemas.microsoft.com/office/drawing/2014/main" val="162213501"/>
                    </a:ext>
                  </a:extLst>
                </a:gridCol>
                <a:gridCol w="4483835">
                  <a:extLst>
                    <a:ext uri="{9D8B030D-6E8A-4147-A177-3AD203B41FA5}">
                      <a16:colId xmlns:a16="http://schemas.microsoft.com/office/drawing/2014/main" val="2623856799"/>
                    </a:ext>
                  </a:extLst>
                </a:gridCol>
              </a:tblGrid>
              <a:tr h="3408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成员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分工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9313464"/>
                  </a:ext>
                </a:extLst>
              </a:tr>
              <a:tr h="57047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王雪洋</a:t>
                      </a:r>
                      <a:endParaRPr lang="en-US" altLang="zh-CN" sz="1600" dirty="0"/>
                    </a:p>
                    <a:p>
                      <a:pPr algn="ctr"/>
                      <a:r>
                        <a:rPr lang="en-US" altLang="zh-CN" sz="1600" dirty="0"/>
                        <a:t>2025214447</a:t>
                      </a:r>
                      <a:endParaRPr lang="zh-CN" altLang="en-US" sz="1600" dirty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数据库设计修改，后端</a:t>
                      </a:r>
                      <a:r>
                        <a:rPr lang="en-US" altLang="zh-CN" sz="1600" dirty="0"/>
                        <a:t>dao</a:t>
                      </a:r>
                      <a:r>
                        <a:rPr lang="zh-CN" altLang="en-US" sz="1600" dirty="0"/>
                        <a:t>层重构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37685221"/>
                  </a:ext>
                </a:extLst>
              </a:tr>
              <a:tr h="57047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路毅</a:t>
                      </a:r>
                      <a:endParaRPr lang="en-US" altLang="zh-CN" sz="160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/>
                        <a:t>2025214445</a:t>
                      </a:r>
                      <a:endParaRPr lang="zh-CN" alt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前端代码修复，</a:t>
                      </a:r>
                      <a:r>
                        <a:rPr lang="en-US" altLang="zh-CN" sz="1600" dirty="0"/>
                        <a:t>API</a:t>
                      </a:r>
                      <a:r>
                        <a:rPr lang="zh-CN" altLang="en-US" sz="1600" dirty="0"/>
                        <a:t>风格统一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81792791"/>
                  </a:ext>
                </a:extLst>
              </a:tr>
              <a:tr h="57047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廖闻</a:t>
                      </a:r>
                      <a:endParaRPr lang="en-US" altLang="zh-CN" sz="1600"/>
                    </a:p>
                    <a:p>
                      <a:pPr algn="ctr"/>
                      <a:r>
                        <a:rPr lang="en-US" altLang="zh-CN" sz="1600"/>
                        <a:t>2025214437</a:t>
                      </a:r>
                      <a:endParaRPr lang="zh-CN" alt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后端评论数据库设计，评论代码实现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41816698"/>
                  </a:ext>
                </a:extLst>
              </a:tr>
              <a:tr h="57047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陈佩瑶</a:t>
                      </a:r>
                      <a:endParaRPr lang="en-US" altLang="zh-CN" sz="1600"/>
                    </a:p>
                    <a:p>
                      <a:pPr algn="ctr"/>
                      <a:r>
                        <a:rPr lang="en-US" altLang="zh-CN" sz="1600"/>
                        <a:t>2025214439</a:t>
                      </a:r>
                      <a:endParaRPr lang="zh-CN" alt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网站功能测试、源码分析、</a:t>
                      </a:r>
                      <a:r>
                        <a:rPr lang="en-US" altLang="zh-CN" sz="1600" dirty="0"/>
                        <a:t>PPT</a:t>
                      </a:r>
                      <a:r>
                        <a:rPr lang="zh-CN" altLang="en-US" sz="1600" dirty="0"/>
                        <a:t>制作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65310298"/>
                  </a:ext>
                </a:extLst>
              </a:tr>
              <a:tr h="57047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崔婧莹</a:t>
                      </a:r>
                      <a:endParaRPr lang="en-US" altLang="zh-CN" sz="1600"/>
                    </a:p>
                    <a:p>
                      <a:pPr algn="ctr"/>
                      <a:r>
                        <a:rPr lang="en-US" altLang="zh-CN" sz="1600"/>
                        <a:t>2025214434</a:t>
                      </a:r>
                      <a:endParaRPr lang="zh-CN" alt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AI agent</a:t>
                      </a:r>
                      <a:r>
                        <a:rPr lang="zh-CN" altLang="en-US" sz="1600" dirty="0"/>
                        <a:t>优化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49111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4297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CA5F1-C073-9108-FCF0-8EC3D519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3DF8E4A-CA05-495A-EE11-D1CEA2B0E2BD}"/>
              </a:ext>
            </a:extLst>
          </p:cNvPr>
          <p:cNvGrpSpPr/>
          <p:nvPr/>
        </p:nvGrpSpPr>
        <p:grpSpPr>
          <a:xfrm>
            <a:off x="1042910" y="1709802"/>
            <a:ext cx="6933827" cy="2180059"/>
            <a:chOff x="1042910" y="1921926"/>
            <a:chExt cx="6933827" cy="2180059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893D7914-3513-2EA9-C86E-D2EF712F8F06}"/>
                </a:ext>
              </a:extLst>
            </p:cNvPr>
            <p:cNvGrpSpPr/>
            <p:nvPr/>
          </p:nvGrpSpPr>
          <p:grpSpPr>
            <a:xfrm>
              <a:off x="1664970" y="2063794"/>
              <a:ext cx="1234440" cy="1036320"/>
              <a:chOff x="2017395" y="2063794"/>
              <a:chExt cx="1234440" cy="1036320"/>
            </a:xfrm>
          </p:grpSpPr>
          <p:sp>
            <p:nvSpPr>
              <p:cNvPr id="8" name="任意多边形 7">
                <a:extLst>
                  <a:ext uri="{FF2B5EF4-FFF2-40B4-BE49-F238E27FC236}">
                    <a16:creationId xmlns:a16="http://schemas.microsoft.com/office/drawing/2014/main" id="{9B9A5CC1-E9D3-BF71-8553-4276BE8FB1E3}"/>
                  </a:ext>
                </a:extLst>
              </p:cNvPr>
              <p:cNvSpPr/>
              <p:nvPr/>
            </p:nvSpPr>
            <p:spPr>
              <a:xfrm rot="5400000">
                <a:off x="2116455" y="1964734"/>
                <a:ext cx="1036320" cy="1234440"/>
              </a:xfrm>
              <a:custGeom>
                <a:avLst/>
                <a:gdLst>
                  <a:gd name="connsiteX0" fmla="*/ 863597 w 1036320"/>
                  <a:gd name="connsiteY0" fmla="*/ 1234440 h 1234440"/>
                  <a:gd name="connsiteX1" fmla="*/ 172723 w 1036320"/>
                  <a:gd name="connsiteY1" fmla="*/ 1234440 h 1234440"/>
                  <a:gd name="connsiteX2" fmla="*/ 0 w 1036320"/>
                  <a:gd name="connsiteY2" fmla="*/ 1061717 h 1234440"/>
                  <a:gd name="connsiteX3" fmla="*/ 0 w 1036320"/>
                  <a:gd name="connsiteY3" fmla="*/ 340363 h 1234440"/>
                  <a:gd name="connsiteX4" fmla="*/ 172723 w 1036320"/>
                  <a:gd name="connsiteY4" fmla="*/ 167640 h 1234440"/>
                  <a:gd name="connsiteX5" fmla="*/ 259080 w 1036320"/>
                  <a:gd name="connsiteY5" fmla="*/ 167640 h 1234440"/>
                  <a:gd name="connsiteX6" fmla="*/ 518160 w 1036320"/>
                  <a:gd name="connsiteY6" fmla="*/ 0 h 1234440"/>
                  <a:gd name="connsiteX7" fmla="*/ 777240 w 1036320"/>
                  <a:gd name="connsiteY7" fmla="*/ 167640 h 1234440"/>
                  <a:gd name="connsiteX8" fmla="*/ 863597 w 1036320"/>
                  <a:gd name="connsiteY8" fmla="*/ 167640 h 1234440"/>
                  <a:gd name="connsiteX9" fmla="*/ 1036320 w 1036320"/>
                  <a:gd name="connsiteY9" fmla="*/ 340363 h 1234440"/>
                  <a:gd name="connsiteX10" fmla="*/ 1036320 w 1036320"/>
                  <a:gd name="connsiteY10" fmla="*/ 1061717 h 1234440"/>
                  <a:gd name="connsiteX11" fmla="*/ 863597 w 1036320"/>
                  <a:gd name="connsiteY11" fmla="*/ 1234440 h 1234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36320" h="1234440">
                    <a:moveTo>
                      <a:pt x="863597" y="1234440"/>
                    </a:moveTo>
                    <a:lnTo>
                      <a:pt x="172723" y="1234440"/>
                    </a:lnTo>
                    <a:cubicBezTo>
                      <a:pt x="77331" y="1234440"/>
                      <a:pt x="0" y="1157109"/>
                      <a:pt x="0" y="1061717"/>
                    </a:cubicBezTo>
                    <a:lnTo>
                      <a:pt x="0" y="340363"/>
                    </a:lnTo>
                    <a:cubicBezTo>
                      <a:pt x="0" y="244971"/>
                      <a:pt x="77331" y="167640"/>
                      <a:pt x="172723" y="167640"/>
                    </a:cubicBezTo>
                    <a:lnTo>
                      <a:pt x="259080" y="167640"/>
                    </a:lnTo>
                    <a:lnTo>
                      <a:pt x="518160" y="0"/>
                    </a:lnTo>
                    <a:lnTo>
                      <a:pt x="777240" y="167640"/>
                    </a:lnTo>
                    <a:lnTo>
                      <a:pt x="863597" y="167640"/>
                    </a:lnTo>
                    <a:cubicBezTo>
                      <a:pt x="958989" y="167640"/>
                      <a:pt x="1036320" y="244971"/>
                      <a:pt x="1036320" y="340363"/>
                    </a:cubicBezTo>
                    <a:lnTo>
                      <a:pt x="1036320" y="1061717"/>
                    </a:lnTo>
                    <a:cubicBezTo>
                      <a:pt x="1036320" y="1157109"/>
                      <a:pt x="958989" y="1234440"/>
                      <a:pt x="863597" y="1234440"/>
                    </a:cubicBezTo>
                    <a:close/>
                  </a:path>
                </a:pathLst>
              </a:custGeom>
              <a:solidFill>
                <a:srgbClr val="DC95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文本框 4">
                <a:extLst>
                  <a:ext uri="{FF2B5EF4-FFF2-40B4-BE49-F238E27FC236}">
                    <a16:creationId xmlns:a16="http://schemas.microsoft.com/office/drawing/2014/main" id="{1B965332-B044-F617-F0AF-63B614C1BBE2}"/>
                  </a:ext>
                </a:extLst>
              </p:cNvPr>
              <p:cNvSpPr txBox="1"/>
              <p:nvPr/>
            </p:nvSpPr>
            <p:spPr>
              <a:xfrm>
                <a:off x="2079307" y="2192622"/>
                <a:ext cx="1110615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chemeClr val="bg1"/>
                    </a:solidFill>
                    <a:latin typeface="+mn-ea"/>
                  </a:rPr>
                  <a:t>03</a:t>
                </a:r>
                <a:endParaRPr lang="zh-CN" altLang="en-US" sz="440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3F1D4BC0-1BF4-70EB-C8AC-590F3E7FB894}"/>
                </a:ext>
              </a:extLst>
            </p:cNvPr>
            <p:cNvSpPr/>
            <p:nvPr/>
          </p:nvSpPr>
          <p:spPr>
            <a:xfrm>
              <a:off x="1042910" y="2864108"/>
              <a:ext cx="357266" cy="357266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CBD26199-7B41-0FBE-1E63-C0258D198366}"/>
                </a:ext>
              </a:extLst>
            </p:cNvPr>
            <p:cNvSpPr/>
            <p:nvPr/>
          </p:nvSpPr>
          <p:spPr>
            <a:xfrm>
              <a:off x="1418918" y="2588741"/>
              <a:ext cx="227310" cy="227310"/>
            </a:xfrm>
            <a:prstGeom prst="ellipse">
              <a:avLst/>
            </a:prstGeom>
            <a:solidFill>
              <a:srgbClr val="DC95AA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B8C7C940-97E9-BA44-57C9-2F6426C16838}"/>
                </a:ext>
              </a:extLst>
            </p:cNvPr>
            <p:cNvSpPr/>
            <p:nvPr/>
          </p:nvSpPr>
          <p:spPr>
            <a:xfrm>
              <a:off x="1726873" y="3535644"/>
              <a:ext cx="187970" cy="187970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3CE75E7A-3C76-3997-045C-3A07C1167A6A}"/>
                </a:ext>
              </a:extLst>
            </p:cNvPr>
            <p:cNvSpPr/>
            <p:nvPr/>
          </p:nvSpPr>
          <p:spPr>
            <a:xfrm>
              <a:off x="1493828" y="3154864"/>
              <a:ext cx="304801" cy="304800"/>
            </a:xfrm>
            <a:prstGeom prst="ellipse">
              <a:avLst/>
            </a:prstGeom>
            <a:solidFill>
              <a:srgbClr val="DC95AA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1ECC80C5-61DC-35AF-5DBB-17975B940A94}"/>
                </a:ext>
              </a:extLst>
            </p:cNvPr>
            <p:cNvSpPr/>
            <p:nvPr/>
          </p:nvSpPr>
          <p:spPr>
            <a:xfrm>
              <a:off x="2033905" y="3221374"/>
              <a:ext cx="193010" cy="193010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F9669ECD-8005-7F8E-C84C-B7419AE1A6D8}"/>
                </a:ext>
              </a:extLst>
            </p:cNvPr>
            <p:cNvSpPr/>
            <p:nvPr/>
          </p:nvSpPr>
          <p:spPr>
            <a:xfrm>
              <a:off x="2226916" y="3280034"/>
              <a:ext cx="483587" cy="483587"/>
            </a:xfrm>
            <a:prstGeom prst="ellipse">
              <a:avLst/>
            </a:prstGeom>
            <a:solidFill>
              <a:srgbClr val="DC95AA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F17406D3-664C-9823-5401-A93F2B473806}"/>
                </a:ext>
              </a:extLst>
            </p:cNvPr>
            <p:cNvSpPr/>
            <p:nvPr/>
          </p:nvSpPr>
          <p:spPr>
            <a:xfrm>
              <a:off x="2532214" y="3022693"/>
              <a:ext cx="171464" cy="171464"/>
            </a:xfrm>
            <a:prstGeom prst="ellipse">
              <a:avLst/>
            </a:prstGeom>
            <a:solidFill>
              <a:srgbClr val="DC95AA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AA52CE77-5902-C7D2-1E0B-08A90C13A7E9}"/>
                </a:ext>
              </a:extLst>
            </p:cNvPr>
            <p:cNvSpPr/>
            <p:nvPr/>
          </p:nvSpPr>
          <p:spPr>
            <a:xfrm>
              <a:off x="2834829" y="3161396"/>
              <a:ext cx="291736" cy="291736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17110CD1-4946-3970-8DF0-76BFA3A22D8B}"/>
                </a:ext>
              </a:extLst>
            </p:cNvPr>
            <p:cNvSpPr/>
            <p:nvPr/>
          </p:nvSpPr>
          <p:spPr>
            <a:xfrm>
              <a:off x="2130410" y="3907685"/>
              <a:ext cx="194300" cy="194300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8">
              <a:extLst>
                <a:ext uri="{FF2B5EF4-FFF2-40B4-BE49-F238E27FC236}">
                  <a16:creationId xmlns:a16="http://schemas.microsoft.com/office/drawing/2014/main" id="{74370262-7001-50B8-D224-B6967E6EF0A7}"/>
                </a:ext>
              </a:extLst>
            </p:cNvPr>
            <p:cNvSpPr/>
            <p:nvPr/>
          </p:nvSpPr>
          <p:spPr>
            <a:xfrm>
              <a:off x="2878455" y="2164081"/>
              <a:ext cx="4589145" cy="731520"/>
            </a:xfrm>
            <a:custGeom>
              <a:avLst/>
              <a:gdLst>
                <a:gd name="connsiteX0" fmla="*/ 0 w 5943600"/>
                <a:gd name="connsiteY0" fmla="*/ 411480 h 731520"/>
                <a:gd name="connsiteX1" fmla="*/ 289560 w 5943600"/>
                <a:gd name="connsiteY1" fmla="*/ 731520 h 731520"/>
                <a:gd name="connsiteX2" fmla="*/ 617220 w 5943600"/>
                <a:gd name="connsiteY2" fmla="*/ 0 h 731520"/>
                <a:gd name="connsiteX3" fmla="*/ 731520 w 5943600"/>
                <a:gd name="connsiteY3" fmla="*/ 419100 h 731520"/>
                <a:gd name="connsiteX4" fmla="*/ 5943600 w 5943600"/>
                <a:gd name="connsiteY4" fmla="*/ 419100 h 73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43600" h="731520">
                  <a:moveTo>
                    <a:pt x="0" y="411480"/>
                  </a:moveTo>
                  <a:lnTo>
                    <a:pt x="289560" y="731520"/>
                  </a:lnTo>
                  <a:lnTo>
                    <a:pt x="617220" y="0"/>
                  </a:lnTo>
                  <a:lnTo>
                    <a:pt x="731520" y="419100"/>
                  </a:lnTo>
                  <a:lnTo>
                    <a:pt x="5943600" y="419100"/>
                  </a:lnTo>
                </a:path>
              </a:pathLst>
            </a:custGeom>
            <a:noFill/>
            <a:ln>
              <a:solidFill>
                <a:srgbClr val="DC95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5">
              <a:extLst>
                <a:ext uri="{FF2B5EF4-FFF2-40B4-BE49-F238E27FC236}">
                  <a16:creationId xmlns:a16="http://schemas.microsoft.com/office/drawing/2014/main" id="{11102A18-F026-CBC7-E98F-37EE2096D4D3}"/>
                </a:ext>
              </a:extLst>
            </p:cNvPr>
            <p:cNvSpPr txBox="1"/>
            <p:nvPr/>
          </p:nvSpPr>
          <p:spPr>
            <a:xfrm>
              <a:off x="4530092" y="1921926"/>
              <a:ext cx="3429000" cy="707876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zh-CN" altLang="en-US" sz="4000" b="1" dirty="0">
                  <a:solidFill>
                    <a:schemeClr val="bg1">
                      <a:lumMod val="65000"/>
                    </a:schemeClr>
                  </a:solidFill>
                </a:rPr>
                <a:t>初步实现</a:t>
              </a: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BDAF0E6A-130F-9864-19AF-D4B93CFA1C03}"/>
                </a:ext>
              </a:extLst>
            </p:cNvPr>
            <p:cNvSpPr/>
            <p:nvPr/>
          </p:nvSpPr>
          <p:spPr>
            <a:xfrm>
              <a:off x="7354908" y="2187623"/>
              <a:ext cx="228321" cy="228320"/>
            </a:xfrm>
            <a:prstGeom prst="ellipse">
              <a:avLst/>
            </a:prstGeom>
            <a:solidFill>
              <a:srgbClr val="DC95AA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A701C88-9512-4F6D-572E-3D48CCE87424}"/>
                </a:ext>
              </a:extLst>
            </p:cNvPr>
            <p:cNvSpPr/>
            <p:nvPr/>
          </p:nvSpPr>
          <p:spPr>
            <a:xfrm>
              <a:off x="7657523" y="2383183"/>
              <a:ext cx="319214" cy="319214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83D8CCC1-DAA8-B43E-8968-A6FBF8D4DFF7}"/>
              </a:ext>
            </a:extLst>
          </p:cNvPr>
          <p:cNvSpPr/>
          <p:nvPr/>
        </p:nvSpPr>
        <p:spPr>
          <a:xfrm>
            <a:off x="379730" y="344805"/>
            <a:ext cx="8384540" cy="4453890"/>
          </a:xfrm>
          <a:prstGeom prst="rect">
            <a:avLst/>
          </a:prstGeom>
          <a:noFill/>
          <a:ln w="57150">
            <a:solidFill>
              <a:srgbClr val="DC95AA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408634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756E7-CC49-9B7D-FA79-1B991B68E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98AC991-5032-0EF5-F3F1-C08285DEB50E}"/>
              </a:ext>
            </a:extLst>
          </p:cNvPr>
          <p:cNvSpPr/>
          <p:nvPr/>
        </p:nvSpPr>
        <p:spPr bwMode="auto">
          <a:xfrm>
            <a:off x="419340" y="161307"/>
            <a:ext cx="126188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初步实现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042EA6D-4D97-0AEB-B16F-40C6209F39C5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0A19547F-E847-55F8-965C-ABAAA5E22F04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EF2217B2-67DB-DAD1-DE1F-749EB8EDA713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F975607-99F1-3238-60EB-EDD4EE8A0429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112484C3-9308-454C-9D33-DC2ED2AA875A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EDA13A1-E5A9-A61B-AF04-435C6432EE25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28C60DD4-C460-DF8C-A902-174DF34A4DF5}"/>
              </a:ext>
            </a:extLst>
          </p:cNvPr>
          <p:cNvSpPr txBox="1"/>
          <p:nvPr/>
        </p:nvSpPr>
        <p:spPr>
          <a:xfrm>
            <a:off x="611560" y="89070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数据库密码加密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5FFF28-0680-C2D5-BF63-FA83CA3FE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43" y="1624028"/>
            <a:ext cx="6479704" cy="238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845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756E7-CC49-9B7D-FA79-1B991B68E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98AC991-5032-0EF5-F3F1-C08285DEB50E}"/>
              </a:ext>
            </a:extLst>
          </p:cNvPr>
          <p:cNvSpPr/>
          <p:nvPr/>
        </p:nvSpPr>
        <p:spPr bwMode="auto">
          <a:xfrm>
            <a:off x="419340" y="161307"/>
            <a:ext cx="126188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初步实现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042EA6D-4D97-0AEB-B16F-40C6209F39C5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0A19547F-E847-55F8-965C-ABAAA5E22F04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EF2217B2-67DB-DAD1-DE1F-749EB8EDA713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F975607-99F1-3238-60EB-EDD4EE8A0429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112484C3-9308-454C-9D33-DC2ED2AA875A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EDA13A1-E5A9-A61B-AF04-435C6432EE25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428160F6-8F03-042C-0DC9-3B3E04B6DB3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C60DD4-C460-DF8C-A902-174DF34A4DF5}"/>
              </a:ext>
            </a:extLst>
          </p:cNvPr>
          <p:cNvSpPr txBox="1"/>
          <p:nvPr/>
        </p:nvSpPr>
        <p:spPr>
          <a:xfrm>
            <a:off x="611560" y="89070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接口设计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C12B334-7EE0-870E-33C7-057083963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574" y="2834031"/>
            <a:ext cx="3528392" cy="116855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624F901-DF16-607B-1042-2132AE952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5907" y="1551116"/>
            <a:ext cx="3656995" cy="232789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298C671-10D0-7FF3-0B7F-55F428B5A0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600" y="1745776"/>
            <a:ext cx="2556792" cy="62068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8F744E2-68B2-5DF2-F32C-467CAA88C8A7}"/>
              </a:ext>
            </a:extLst>
          </p:cNvPr>
          <p:cNvSpPr txBox="1"/>
          <p:nvPr/>
        </p:nvSpPr>
        <p:spPr>
          <a:xfrm>
            <a:off x="1835696" y="1485598"/>
            <a:ext cx="1008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原本</a:t>
            </a:r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A8CAEE16-FE25-6125-147B-8269055ABDDE}"/>
              </a:ext>
            </a:extLst>
          </p:cNvPr>
          <p:cNvSpPr/>
          <p:nvPr/>
        </p:nvSpPr>
        <p:spPr>
          <a:xfrm>
            <a:off x="2051720" y="2427734"/>
            <a:ext cx="216024" cy="29685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40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756E7-CC49-9B7D-FA79-1B991B68E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98AC991-5032-0EF5-F3F1-C08285DEB50E}"/>
              </a:ext>
            </a:extLst>
          </p:cNvPr>
          <p:cNvSpPr/>
          <p:nvPr/>
        </p:nvSpPr>
        <p:spPr bwMode="auto">
          <a:xfrm>
            <a:off x="419340" y="161307"/>
            <a:ext cx="126188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初步实现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042EA6D-4D97-0AEB-B16F-40C6209F39C5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0A19547F-E847-55F8-965C-ABAAA5E22F04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EF2217B2-67DB-DAD1-DE1F-749EB8EDA713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F975607-99F1-3238-60EB-EDD4EE8A0429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112484C3-9308-454C-9D33-DC2ED2AA875A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EDA13A1-E5A9-A61B-AF04-435C6432EE25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428160F6-8F03-042C-0DC9-3B3E04B6DB3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C60DD4-C460-DF8C-A902-174DF34A4DF5}"/>
              </a:ext>
            </a:extLst>
          </p:cNvPr>
          <p:cNvSpPr txBox="1"/>
          <p:nvPr/>
        </p:nvSpPr>
        <p:spPr>
          <a:xfrm>
            <a:off x="611560" y="89070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功能实现 评论系统 </a:t>
            </a:r>
            <a:r>
              <a:rPr lang="en-US" altLang="zh-CN" dirty="0"/>
              <a:t>- </a:t>
            </a:r>
            <a:r>
              <a:rPr lang="zh-CN" altLang="en-US" dirty="0"/>
              <a:t>功能总览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BF75A4E-E7EA-EBA4-4E0E-7470F4D16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1911981"/>
            <a:ext cx="234230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发布评论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查看评论列表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删除评论（软删除）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编辑评论</a:t>
            </a:r>
          </a:p>
        </p:txBody>
      </p:sp>
      <p:pic>
        <p:nvPicPr>
          <p:cNvPr id="4" name="图片 3" descr="图形用户界面, 应用程序, Teams&#10;&#10;AI 生成的内容可能不正确。">
            <a:extLst>
              <a:ext uri="{FF2B5EF4-FFF2-40B4-BE49-F238E27FC236}">
                <a16:creationId xmlns:a16="http://schemas.microsoft.com/office/drawing/2014/main" id="{3ABF6006-AF1D-701E-7C56-9F393B08A5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322068"/>
            <a:ext cx="3242840" cy="323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05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0294B-6378-63FD-9F4E-7A659D81B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F998586-1DD7-D769-932B-DCB504D76D9D}"/>
              </a:ext>
            </a:extLst>
          </p:cNvPr>
          <p:cNvSpPr/>
          <p:nvPr/>
        </p:nvSpPr>
        <p:spPr bwMode="auto">
          <a:xfrm>
            <a:off x="419340" y="161307"/>
            <a:ext cx="126188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初步实现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5D3BDDE9-5802-37C3-FB58-D66132F1DD50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BB4E492-66EA-CDC8-A835-377F6D2695C5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A6C71838-E9CA-B690-C6D6-3B7FA92DD8F6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0AC0116-E19F-F20F-27DC-FAC231DC1CDD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B3D7D572-A081-5FF0-9662-3628A3C62C99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EB01B96-7F9A-C1AD-E87B-D45EBBF9F083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401B4AFB-0CA7-AB96-F613-BC8B8033386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39140" y="394192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35B618B-C8C8-009F-0755-C49498E20A2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6763CD-022B-7E06-B291-FF90FADECC65}"/>
              </a:ext>
            </a:extLst>
          </p:cNvPr>
          <p:cNvSpPr txBox="1"/>
          <p:nvPr/>
        </p:nvSpPr>
        <p:spPr>
          <a:xfrm>
            <a:off x="611560" y="843558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评论系统 </a:t>
            </a:r>
            <a:r>
              <a:rPr lang="en-US" altLang="zh-CN" b="1" dirty="0"/>
              <a:t>- </a:t>
            </a:r>
            <a:r>
              <a:rPr lang="zh-CN" altLang="en-US" b="1" dirty="0"/>
              <a:t>技术架构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分层架构图：</a:t>
            </a:r>
            <a:r>
              <a:rPr lang="en-US" altLang="zh-CN" dirty="0"/>
              <a:t>Controller -&gt; Service -&gt; DAO -&gt;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关键技术：</a:t>
            </a:r>
            <a:r>
              <a:rPr lang="en-US" altLang="zh-CN" dirty="0"/>
              <a:t>Spring Boot, </a:t>
            </a:r>
            <a:r>
              <a:rPr lang="en-US" altLang="zh-CN" dirty="0" err="1"/>
              <a:t>JdbcTemplate</a:t>
            </a:r>
            <a:r>
              <a:rPr lang="en-US" altLang="zh-CN" dirty="0"/>
              <a:t>, MySQL, DTO</a:t>
            </a:r>
            <a:r>
              <a:rPr lang="zh-CN" altLang="en-US" dirty="0"/>
              <a:t>模式</a:t>
            </a:r>
          </a:p>
        </p:txBody>
      </p:sp>
    </p:spTree>
    <p:extLst>
      <p:ext uri="{BB962C8B-B14F-4D97-AF65-F5344CB8AC3E}">
        <p14:creationId xmlns:p14="http://schemas.microsoft.com/office/powerpoint/2010/main" val="1334397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CE69E-AEE6-9BC9-379A-E73906D39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2FC1E4E-4CA3-51B3-D568-8B39E5C120CF}"/>
              </a:ext>
            </a:extLst>
          </p:cNvPr>
          <p:cNvSpPr/>
          <p:nvPr/>
        </p:nvSpPr>
        <p:spPr bwMode="auto">
          <a:xfrm>
            <a:off x="419340" y="161307"/>
            <a:ext cx="126188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初步实现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1DF4748B-867A-4580-C603-3083598F26E8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C62072D8-6968-6F85-334F-471E50C77589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2E5B23E0-91AC-D424-2AC5-27ED7BA58F7D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A6BC191-FB07-132C-68D8-24F99B0D671D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BF7F9DF6-9FA8-FB33-4888-0D67C67CE590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E9BE019-2493-6C26-B2FF-2B8D0D498989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CAA7D6B7-CC1A-736E-E9A9-788ED54C807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39140" y="394192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82CEB6D-F5C7-3DDE-6FFA-C9E228D7578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3CEAF07-7FC6-580E-76E3-BB5CEB769B22}"/>
              </a:ext>
            </a:extLst>
          </p:cNvPr>
          <p:cNvSpPr txBox="1"/>
          <p:nvPr/>
        </p:nvSpPr>
        <p:spPr>
          <a:xfrm>
            <a:off x="539552" y="787319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评论系统 </a:t>
            </a:r>
            <a:r>
              <a:rPr lang="en-US" altLang="zh-CN" b="1" dirty="0"/>
              <a:t>: </a:t>
            </a:r>
            <a:r>
              <a:rPr lang="zh-CN" altLang="en-US" b="1" dirty="0"/>
              <a:t>获取评论列表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/>
              <a:t>Controller:</a:t>
            </a:r>
            <a:r>
              <a:rPr lang="en-US" altLang="zh-CN" dirty="0"/>
              <a:t> </a:t>
            </a:r>
            <a:r>
              <a:rPr lang="zh-CN" altLang="en-US" dirty="0"/>
              <a:t>接收前端参数（</a:t>
            </a:r>
            <a:r>
              <a:rPr lang="en-US" altLang="zh-CN" dirty="0" err="1"/>
              <a:t>course_id</a:t>
            </a:r>
            <a:r>
              <a:rPr lang="en-US" altLang="zh-CN" dirty="0"/>
              <a:t>, page, sort </a:t>
            </a:r>
            <a:r>
              <a:rPr lang="zh-CN" altLang="en-US" dirty="0"/>
              <a:t>等）。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/>
              <a:t>Service:</a:t>
            </a:r>
            <a:r>
              <a:rPr lang="en-US" altLang="zh-CN" dirty="0"/>
              <a:t> </a:t>
            </a:r>
            <a:r>
              <a:rPr lang="zh-CN" altLang="en-US" dirty="0"/>
              <a:t>处理分页逻辑，调用 </a:t>
            </a:r>
            <a:r>
              <a:rPr lang="en-US" altLang="zh-CN" dirty="0"/>
              <a:t>DAO </a:t>
            </a:r>
            <a:r>
              <a:rPr lang="zh-CN" altLang="en-US" dirty="0"/>
              <a:t>查询主评论。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关键点</a:t>
            </a:r>
            <a:r>
              <a:rPr lang="en-US" altLang="zh-CN" b="1" dirty="0"/>
              <a:t>:</a:t>
            </a:r>
            <a:r>
              <a:rPr lang="zh-CN" altLang="en-US" dirty="0"/>
              <a:t> 递归加载回复内容，组装成嵌套的 </a:t>
            </a:r>
            <a:r>
              <a:rPr lang="en-US" altLang="zh-CN" dirty="0" err="1">
                <a:latin typeface="Courier New" panose="02070309020205020404" pitchFamily="49" charset="0"/>
              </a:rPr>
              <a:t>CommentResponseDto</a:t>
            </a:r>
            <a:r>
              <a:rPr lang="en-US" altLang="zh-CN" dirty="0"/>
              <a:t> </a:t>
            </a:r>
            <a:r>
              <a:rPr lang="zh-CN" altLang="en-US" dirty="0"/>
              <a:t>结构。</a:t>
            </a:r>
          </a:p>
        </p:txBody>
      </p:sp>
    </p:spTree>
    <p:extLst>
      <p:ext uri="{BB962C8B-B14F-4D97-AF65-F5344CB8AC3E}">
        <p14:creationId xmlns:p14="http://schemas.microsoft.com/office/powerpoint/2010/main" val="2356491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E8CE3-9BAC-C584-B75D-E90E0FDFB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8FD50F2-88A7-1F3B-4ADD-2ACB01C53D3A}"/>
              </a:ext>
            </a:extLst>
          </p:cNvPr>
          <p:cNvSpPr/>
          <p:nvPr/>
        </p:nvSpPr>
        <p:spPr bwMode="auto">
          <a:xfrm>
            <a:off x="419340" y="161307"/>
            <a:ext cx="126188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初步实现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EF8E33D1-5BA0-C277-E90C-66EEFBDA35C0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FC0F0C0E-F0FE-6F30-8E75-361C943A2A94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23890FD3-C7A5-CD82-0B26-1B57BD8D8F1E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723DA38-483B-786E-CA39-61316A877154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8234A053-E8AA-E2A6-8A04-5D0C195A0387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C24904D-7DB6-F91C-AC28-56815AF74C9B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322021D2-0BC7-5C6C-C34D-0371215E601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39140" y="394192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DE70C6-560B-FFF9-80D6-2248ECC3471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735051B-717F-19E6-DE22-D7A2CECAFC04}"/>
              </a:ext>
            </a:extLst>
          </p:cNvPr>
          <p:cNvSpPr txBox="1"/>
          <p:nvPr/>
        </p:nvSpPr>
        <p:spPr>
          <a:xfrm>
            <a:off x="539552" y="702934"/>
            <a:ext cx="457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评论系统 </a:t>
            </a:r>
            <a:r>
              <a:rPr lang="en-US" altLang="zh-CN" b="1" dirty="0"/>
              <a:t>: </a:t>
            </a:r>
            <a:r>
              <a:rPr lang="zh-CN" altLang="en-US" b="1" dirty="0"/>
              <a:t>发布与编辑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发布</a:t>
            </a:r>
            <a:r>
              <a:rPr lang="en-US" altLang="zh-CN" b="1" dirty="0"/>
              <a:t>:</a:t>
            </a:r>
            <a:endParaRPr lang="zh-CN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Service </a:t>
            </a:r>
            <a:r>
              <a:rPr lang="zh-CN" altLang="en-US" dirty="0"/>
              <a:t>初始化默认值（如 </a:t>
            </a:r>
            <a:r>
              <a:rPr lang="en-US" altLang="zh-CN" dirty="0" err="1"/>
              <a:t>create_time</a:t>
            </a:r>
            <a:r>
              <a:rPr lang="en-US" altLang="zh-CN" dirty="0"/>
              <a:t>, </a:t>
            </a:r>
            <a:r>
              <a:rPr lang="en-US" altLang="zh-CN" dirty="0" err="1"/>
              <a:t>like_count</a:t>
            </a:r>
            <a:r>
              <a:rPr lang="en-US" altLang="zh-CN" dirty="0"/>
              <a:t>=0</a:t>
            </a:r>
            <a:r>
              <a:rPr lang="zh-CN" altLang="en-US" dirty="0"/>
              <a:t>）。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DAO </a:t>
            </a:r>
            <a:r>
              <a:rPr lang="zh-CN" altLang="en-US" dirty="0"/>
              <a:t>使用 </a:t>
            </a:r>
            <a:r>
              <a:rPr lang="en-US" altLang="zh-CN" dirty="0" err="1">
                <a:latin typeface="Courier New" panose="02070309020205020404" pitchFamily="49" charset="0"/>
              </a:rPr>
              <a:t>GeneratedKeyHolder</a:t>
            </a:r>
            <a:r>
              <a:rPr lang="en-US" altLang="zh-CN" dirty="0"/>
              <a:t> </a:t>
            </a:r>
            <a:r>
              <a:rPr lang="zh-CN" altLang="en-US" dirty="0"/>
              <a:t>插入并返回新 </a:t>
            </a:r>
            <a:r>
              <a:rPr lang="en-US" altLang="zh-CN" dirty="0"/>
              <a:t>ID</a:t>
            </a:r>
            <a:r>
              <a:rPr lang="zh-CN" altLang="en-US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编辑</a:t>
            </a:r>
            <a:r>
              <a:rPr lang="en-US" altLang="zh-CN" b="1" dirty="0"/>
              <a:t>:</a:t>
            </a:r>
            <a:endParaRPr lang="zh-CN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Service </a:t>
            </a:r>
            <a:r>
              <a:rPr lang="zh-CN" altLang="en-US" dirty="0"/>
              <a:t>校验评论存在性。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DAO </a:t>
            </a:r>
            <a:r>
              <a:rPr lang="zh-CN" altLang="en-US" dirty="0"/>
              <a:t>仅更新内容和 </a:t>
            </a:r>
            <a:r>
              <a:rPr lang="en-US" altLang="zh-CN" dirty="0" err="1"/>
              <a:t>update_time</a:t>
            </a:r>
            <a:r>
              <a:rPr lang="en-US" altLang="zh-CN" dirty="0"/>
              <a:t> </a:t>
            </a:r>
            <a:r>
              <a:rPr lang="zh-CN" altLang="en-US" dirty="0"/>
              <a:t>字段。</a:t>
            </a:r>
          </a:p>
        </p:txBody>
      </p:sp>
    </p:spTree>
    <p:extLst>
      <p:ext uri="{BB962C8B-B14F-4D97-AF65-F5344CB8AC3E}">
        <p14:creationId xmlns:p14="http://schemas.microsoft.com/office/powerpoint/2010/main" val="1977306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2B16F-5B6F-14B9-5D69-0AACCDB7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9E0EE01-58BE-69C6-9E17-A8F7F6859FB7}"/>
              </a:ext>
            </a:extLst>
          </p:cNvPr>
          <p:cNvSpPr/>
          <p:nvPr/>
        </p:nvSpPr>
        <p:spPr bwMode="auto">
          <a:xfrm>
            <a:off x="419340" y="161307"/>
            <a:ext cx="126188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初步实现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4B8EEBC2-3239-94D8-A504-DE4774D180CB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FF8BA088-9BC8-0F04-1BE2-3DB8E6C95924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0F49E423-AF97-E853-CF92-5C7D4EE5B813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5C875DF-A46D-BBD3-A832-17B7BDDBB610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4C611168-A4E1-C4F6-8FF9-EAC8A436AD1E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9346FB7-C960-5BC8-AFF4-1847F507CFF6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B7E3B7BB-D071-60E3-DD30-247D87E327C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39140" y="394192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6296E84-D88D-7423-F00F-FBB1604B24C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97C4651-0D62-7790-4FEE-3AAEA47559CB}"/>
              </a:ext>
            </a:extLst>
          </p:cNvPr>
          <p:cNvSpPr txBox="1"/>
          <p:nvPr/>
        </p:nvSpPr>
        <p:spPr>
          <a:xfrm>
            <a:off x="467544" y="811081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点赞系统 </a:t>
            </a:r>
            <a:r>
              <a:rPr lang="en-US" altLang="zh-CN" b="1" dirty="0"/>
              <a:t>- </a:t>
            </a:r>
            <a:r>
              <a:rPr lang="zh-CN" altLang="en-US" b="1" dirty="0"/>
              <a:t>功能与机制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功能：用户对评论进行点赞或取消点赞。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机制：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点赞状态与评论内容分离存储。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通过事务保证点赞记录和评论点赞计数的最终一致性。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011DDB2-A67B-56E5-54FC-611B9B85A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112" y="1732538"/>
            <a:ext cx="1188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dirty="0"/>
              <a:t>事务方法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C67A45C-2558-FDBD-8696-D5FD462804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136" y="2313795"/>
            <a:ext cx="1867598" cy="244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74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BE3FA-8036-6612-D519-C2A94F74D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811476D-FBF0-45EC-2099-153B120DE2EB}"/>
              </a:ext>
            </a:extLst>
          </p:cNvPr>
          <p:cNvSpPr/>
          <p:nvPr/>
        </p:nvSpPr>
        <p:spPr bwMode="auto">
          <a:xfrm>
            <a:off x="419340" y="161307"/>
            <a:ext cx="126188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初步实现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E7826FCA-9F3C-5AFF-E57B-55351580E404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6B114374-9CF3-E4B4-EDE3-68C6D90CD2A5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2601A032-EBB1-A7C8-6367-D83B00744944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F158899-AE58-1BBE-C6A6-8CF30B3F7A9D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073072E0-8E67-B9D0-E79E-FF71119918F5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1A45321-8545-BF4B-9CE1-530166E137D6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F050F915-DBDF-F6AF-2671-F192657D72C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39140" y="394192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3AB820A-9F91-D9E9-7071-424969B3703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384FF60-F08A-DC41-360A-FBC95181E0AE}"/>
              </a:ext>
            </a:extLst>
          </p:cNvPr>
          <p:cNvSpPr txBox="1"/>
          <p:nvPr/>
        </p:nvSpPr>
        <p:spPr>
          <a:xfrm>
            <a:off x="1187624" y="1016935"/>
            <a:ext cx="669674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2.1 </a:t>
            </a:r>
            <a:r>
              <a:rPr lang="zh-CN" altLang="en-US" b="1" dirty="0"/>
              <a:t>数据冗余 </a:t>
            </a:r>
            <a:r>
              <a:rPr lang="en-US" altLang="zh-CN" b="1" dirty="0"/>
              <a:t>(</a:t>
            </a:r>
            <a:r>
              <a:rPr lang="en-US" altLang="zh-CN" b="1" dirty="0">
                <a:latin typeface="Courier New" panose="02070309020205020404" pitchFamily="49" charset="0"/>
              </a:rPr>
              <a:t>username</a:t>
            </a:r>
            <a:r>
              <a:rPr lang="en-US" altLang="zh-CN" b="1" dirty="0"/>
              <a:t>, </a:t>
            </a:r>
            <a:r>
              <a:rPr lang="en-US" altLang="zh-CN" b="1" dirty="0" err="1">
                <a:latin typeface="Courier New" panose="02070309020205020404" pitchFamily="49" charset="0"/>
              </a:rPr>
              <a:t>reply_to_username</a:t>
            </a:r>
            <a:r>
              <a:rPr lang="en-US" altLang="zh-CN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字段</a:t>
            </a:r>
            <a:r>
              <a:rPr lang="en-US" altLang="zh-CN" dirty="0"/>
              <a:t>: </a:t>
            </a:r>
            <a:r>
              <a:rPr lang="en-US" altLang="zh-CN" dirty="0">
                <a:latin typeface="Courier New" panose="02070309020205020404" pitchFamily="49" charset="0"/>
              </a:rPr>
              <a:t>username</a:t>
            </a:r>
            <a:r>
              <a:rPr lang="zh-CN" altLang="en-US" dirty="0"/>
              <a:t> 在 </a:t>
            </a:r>
            <a:r>
              <a:rPr lang="en-US" altLang="zh-CN" dirty="0">
                <a:latin typeface="Courier New" panose="02070309020205020404" pitchFamily="49" charset="0"/>
              </a:rPr>
              <a:t>comment</a:t>
            </a:r>
            <a:r>
              <a:rPr lang="zh-CN" altLang="en-US" dirty="0"/>
              <a:t> 和 </a:t>
            </a:r>
            <a:r>
              <a:rPr lang="en-US" altLang="zh-CN" dirty="0" err="1">
                <a:latin typeface="Courier New" panose="02070309020205020404" pitchFamily="49" charset="0"/>
              </a:rPr>
              <a:t>comment_reply</a:t>
            </a:r>
            <a:r>
              <a:rPr lang="zh-CN" altLang="en-US" dirty="0"/>
              <a:t> 表中都存在。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目的</a:t>
            </a:r>
            <a:r>
              <a:rPr lang="en-US" altLang="zh-CN" dirty="0"/>
              <a:t>: </a:t>
            </a:r>
            <a:r>
              <a:rPr lang="zh-CN" altLang="en-US" b="1" dirty="0"/>
              <a:t>减少 </a:t>
            </a:r>
            <a:r>
              <a:rPr lang="en-US" altLang="zh-CN" b="1" dirty="0"/>
              <a:t>Join </a:t>
            </a:r>
            <a:r>
              <a:rPr lang="zh-CN" altLang="en-US" b="1" dirty="0"/>
              <a:t>操作</a:t>
            </a:r>
            <a:r>
              <a:rPr lang="zh-CN" altLang="en-US" dirty="0"/>
              <a:t>。在展示评论列表这种高频读操作中，如果每条评论都要去关联 </a:t>
            </a:r>
            <a:r>
              <a:rPr lang="en-US" altLang="zh-CN" dirty="0">
                <a:latin typeface="Courier New" panose="02070309020205020404" pitchFamily="49" charset="0"/>
              </a:rPr>
              <a:t>user</a:t>
            </a:r>
            <a:r>
              <a:rPr lang="zh-CN" altLang="en-US" dirty="0"/>
              <a:t> 表查用户名和头像，数据库压力会急剧增加。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代价</a:t>
            </a:r>
            <a:r>
              <a:rPr lang="en-US" altLang="zh-CN" dirty="0"/>
              <a:t>: </a:t>
            </a:r>
            <a:r>
              <a:rPr lang="zh-CN" altLang="en-US" dirty="0"/>
              <a:t>用户修改昵称时，历史评论的昵称可能不会同步更新（或者需要异步批量更新），这在大多数内容社区是可以接受的。</a:t>
            </a:r>
          </a:p>
          <a:p>
            <a:pPr>
              <a:buNone/>
            </a:pPr>
            <a:r>
              <a:rPr lang="en-US" altLang="zh-CN" b="1" dirty="0"/>
              <a:t>2.2 </a:t>
            </a:r>
            <a:r>
              <a:rPr lang="en-US" altLang="zh-CN" b="1" dirty="0" err="1">
                <a:latin typeface="Courier New" panose="02070309020205020404" pitchFamily="49" charset="0"/>
              </a:rPr>
              <a:t>course_id</a:t>
            </a:r>
            <a:r>
              <a:rPr lang="zh-CN" altLang="en-US" b="1" dirty="0"/>
              <a:t> 与 </a:t>
            </a:r>
            <a:r>
              <a:rPr lang="en-US" altLang="zh-CN" b="1" dirty="0" err="1">
                <a:latin typeface="Courier New" panose="02070309020205020404" pitchFamily="49" charset="0"/>
              </a:rPr>
              <a:t>course_type</a:t>
            </a:r>
            <a:endParaRPr lang="zh-CN" alt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解耦</a:t>
            </a:r>
            <a:r>
              <a:rPr lang="en-US" altLang="zh-CN" dirty="0"/>
              <a:t>: </a:t>
            </a:r>
            <a:r>
              <a:rPr lang="zh-CN" altLang="en-US" dirty="0"/>
              <a:t>评论系统通常是一个独立的服务或模块。通过 </a:t>
            </a:r>
            <a:r>
              <a:rPr lang="en-US" altLang="zh-CN" dirty="0" err="1">
                <a:latin typeface="Courier New" panose="02070309020205020404" pitchFamily="49" charset="0"/>
              </a:rPr>
              <a:t>course_type</a:t>
            </a:r>
            <a:r>
              <a:rPr lang="zh-CN" altLang="en-US" dirty="0"/>
              <a:t> 区分业务（如：</a:t>
            </a:r>
            <a:r>
              <a:rPr lang="en-US" altLang="zh-CN" dirty="0"/>
              <a:t>video, article, post</a:t>
            </a:r>
            <a:r>
              <a:rPr lang="zh-CN" altLang="en-US" dirty="0"/>
              <a:t>），</a:t>
            </a:r>
            <a:r>
              <a:rPr lang="en-US" altLang="zh-CN" dirty="0" err="1">
                <a:latin typeface="Courier New" panose="02070309020205020404" pitchFamily="49" charset="0"/>
              </a:rPr>
              <a:t>course_id</a:t>
            </a:r>
            <a:r>
              <a:rPr lang="zh-CN" altLang="en-US" dirty="0"/>
              <a:t> 存储对应业务的主键。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优势</a:t>
            </a:r>
            <a:r>
              <a:rPr lang="en-US" altLang="zh-CN" dirty="0"/>
              <a:t>: </a:t>
            </a:r>
            <a:r>
              <a:rPr lang="zh-CN" altLang="en-US" dirty="0"/>
              <a:t>这样评论表不需要外键强关联到具体的表，方便未来扩展到新的业务类型。</a:t>
            </a:r>
          </a:p>
        </p:txBody>
      </p:sp>
    </p:spTree>
    <p:extLst>
      <p:ext uri="{BB962C8B-B14F-4D97-AF65-F5344CB8AC3E}">
        <p14:creationId xmlns:p14="http://schemas.microsoft.com/office/powerpoint/2010/main" val="279677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882A1-4D16-AC8A-D469-B21A0DBCE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345145E-84C7-35D8-53B2-D2F3730F8309}"/>
              </a:ext>
            </a:extLst>
          </p:cNvPr>
          <p:cNvGrpSpPr/>
          <p:nvPr/>
        </p:nvGrpSpPr>
        <p:grpSpPr>
          <a:xfrm>
            <a:off x="1042910" y="1709802"/>
            <a:ext cx="6933827" cy="2180059"/>
            <a:chOff x="1042910" y="1921926"/>
            <a:chExt cx="6933827" cy="2180059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F78DB37-DF5F-FB25-0797-B16775DD0E84}"/>
                </a:ext>
              </a:extLst>
            </p:cNvPr>
            <p:cNvGrpSpPr/>
            <p:nvPr/>
          </p:nvGrpSpPr>
          <p:grpSpPr>
            <a:xfrm>
              <a:off x="1664970" y="2063794"/>
              <a:ext cx="1234440" cy="1036320"/>
              <a:chOff x="2017395" y="2063794"/>
              <a:chExt cx="1234440" cy="1036320"/>
            </a:xfrm>
          </p:grpSpPr>
          <p:sp>
            <p:nvSpPr>
              <p:cNvPr id="8" name="任意多边形 7">
                <a:extLst>
                  <a:ext uri="{FF2B5EF4-FFF2-40B4-BE49-F238E27FC236}">
                    <a16:creationId xmlns:a16="http://schemas.microsoft.com/office/drawing/2014/main" id="{65CBFD70-199F-2239-058F-36AC2B0C0575}"/>
                  </a:ext>
                </a:extLst>
              </p:cNvPr>
              <p:cNvSpPr/>
              <p:nvPr/>
            </p:nvSpPr>
            <p:spPr>
              <a:xfrm rot="5400000">
                <a:off x="2116455" y="1964734"/>
                <a:ext cx="1036320" cy="1234440"/>
              </a:xfrm>
              <a:custGeom>
                <a:avLst/>
                <a:gdLst>
                  <a:gd name="connsiteX0" fmla="*/ 863597 w 1036320"/>
                  <a:gd name="connsiteY0" fmla="*/ 1234440 h 1234440"/>
                  <a:gd name="connsiteX1" fmla="*/ 172723 w 1036320"/>
                  <a:gd name="connsiteY1" fmla="*/ 1234440 h 1234440"/>
                  <a:gd name="connsiteX2" fmla="*/ 0 w 1036320"/>
                  <a:gd name="connsiteY2" fmla="*/ 1061717 h 1234440"/>
                  <a:gd name="connsiteX3" fmla="*/ 0 w 1036320"/>
                  <a:gd name="connsiteY3" fmla="*/ 340363 h 1234440"/>
                  <a:gd name="connsiteX4" fmla="*/ 172723 w 1036320"/>
                  <a:gd name="connsiteY4" fmla="*/ 167640 h 1234440"/>
                  <a:gd name="connsiteX5" fmla="*/ 259080 w 1036320"/>
                  <a:gd name="connsiteY5" fmla="*/ 167640 h 1234440"/>
                  <a:gd name="connsiteX6" fmla="*/ 518160 w 1036320"/>
                  <a:gd name="connsiteY6" fmla="*/ 0 h 1234440"/>
                  <a:gd name="connsiteX7" fmla="*/ 777240 w 1036320"/>
                  <a:gd name="connsiteY7" fmla="*/ 167640 h 1234440"/>
                  <a:gd name="connsiteX8" fmla="*/ 863597 w 1036320"/>
                  <a:gd name="connsiteY8" fmla="*/ 167640 h 1234440"/>
                  <a:gd name="connsiteX9" fmla="*/ 1036320 w 1036320"/>
                  <a:gd name="connsiteY9" fmla="*/ 340363 h 1234440"/>
                  <a:gd name="connsiteX10" fmla="*/ 1036320 w 1036320"/>
                  <a:gd name="connsiteY10" fmla="*/ 1061717 h 1234440"/>
                  <a:gd name="connsiteX11" fmla="*/ 863597 w 1036320"/>
                  <a:gd name="connsiteY11" fmla="*/ 1234440 h 1234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36320" h="1234440">
                    <a:moveTo>
                      <a:pt x="863597" y="1234440"/>
                    </a:moveTo>
                    <a:lnTo>
                      <a:pt x="172723" y="1234440"/>
                    </a:lnTo>
                    <a:cubicBezTo>
                      <a:pt x="77331" y="1234440"/>
                      <a:pt x="0" y="1157109"/>
                      <a:pt x="0" y="1061717"/>
                    </a:cubicBezTo>
                    <a:lnTo>
                      <a:pt x="0" y="340363"/>
                    </a:lnTo>
                    <a:cubicBezTo>
                      <a:pt x="0" y="244971"/>
                      <a:pt x="77331" y="167640"/>
                      <a:pt x="172723" y="167640"/>
                    </a:cubicBezTo>
                    <a:lnTo>
                      <a:pt x="259080" y="167640"/>
                    </a:lnTo>
                    <a:lnTo>
                      <a:pt x="518160" y="0"/>
                    </a:lnTo>
                    <a:lnTo>
                      <a:pt x="777240" y="167640"/>
                    </a:lnTo>
                    <a:lnTo>
                      <a:pt x="863597" y="167640"/>
                    </a:lnTo>
                    <a:cubicBezTo>
                      <a:pt x="958989" y="167640"/>
                      <a:pt x="1036320" y="244971"/>
                      <a:pt x="1036320" y="340363"/>
                    </a:cubicBezTo>
                    <a:lnTo>
                      <a:pt x="1036320" y="1061717"/>
                    </a:lnTo>
                    <a:cubicBezTo>
                      <a:pt x="1036320" y="1157109"/>
                      <a:pt x="958989" y="1234440"/>
                      <a:pt x="863597" y="1234440"/>
                    </a:cubicBezTo>
                    <a:close/>
                  </a:path>
                </a:pathLst>
              </a:custGeom>
              <a:solidFill>
                <a:srgbClr val="DC95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文本框 4">
                <a:extLst>
                  <a:ext uri="{FF2B5EF4-FFF2-40B4-BE49-F238E27FC236}">
                    <a16:creationId xmlns:a16="http://schemas.microsoft.com/office/drawing/2014/main" id="{EC9C45BD-898E-220E-0236-9CD7969AEF2B}"/>
                  </a:ext>
                </a:extLst>
              </p:cNvPr>
              <p:cNvSpPr txBox="1"/>
              <p:nvPr/>
            </p:nvSpPr>
            <p:spPr>
              <a:xfrm>
                <a:off x="2079307" y="2192622"/>
                <a:ext cx="1110615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>
                    <a:solidFill>
                      <a:schemeClr val="bg1"/>
                    </a:solidFill>
                    <a:latin typeface="+mn-ea"/>
                  </a:rPr>
                  <a:t>04</a:t>
                </a:r>
                <a:endParaRPr lang="zh-CN" altLang="en-US" sz="440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B1BBAE85-BA94-DAD3-C7BC-FDBA6379A204}"/>
                </a:ext>
              </a:extLst>
            </p:cNvPr>
            <p:cNvSpPr/>
            <p:nvPr/>
          </p:nvSpPr>
          <p:spPr>
            <a:xfrm>
              <a:off x="1042910" y="2864108"/>
              <a:ext cx="357266" cy="357266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02CC430-6705-D782-25AE-489F5058EC25}"/>
                </a:ext>
              </a:extLst>
            </p:cNvPr>
            <p:cNvSpPr/>
            <p:nvPr/>
          </p:nvSpPr>
          <p:spPr>
            <a:xfrm>
              <a:off x="1418918" y="2588741"/>
              <a:ext cx="227310" cy="227310"/>
            </a:xfrm>
            <a:prstGeom prst="ellipse">
              <a:avLst/>
            </a:prstGeom>
            <a:solidFill>
              <a:srgbClr val="DC95AA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8F817C01-8DC9-6E11-255E-C1413A01AFCB}"/>
                </a:ext>
              </a:extLst>
            </p:cNvPr>
            <p:cNvSpPr/>
            <p:nvPr/>
          </p:nvSpPr>
          <p:spPr>
            <a:xfrm>
              <a:off x="1726873" y="3535644"/>
              <a:ext cx="187970" cy="187970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FC419FB-DB98-1AE1-23B7-BB0FCB766E50}"/>
                </a:ext>
              </a:extLst>
            </p:cNvPr>
            <p:cNvSpPr/>
            <p:nvPr/>
          </p:nvSpPr>
          <p:spPr>
            <a:xfrm>
              <a:off x="1493828" y="3154864"/>
              <a:ext cx="304801" cy="304800"/>
            </a:xfrm>
            <a:prstGeom prst="ellipse">
              <a:avLst/>
            </a:prstGeom>
            <a:solidFill>
              <a:srgbClr val="DC95AA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3D0B7D23-BD25-F03E-3729-96350B6A904F}"/>
                </a:ext>
              </a:extLst>
            </p:cNvPr>
            <p:cNvSpPr/>
            <p:nvPr/>
          </p:nvSpPr>
          <p:spPr>
            <a:xfrm>
              <a:off x="2033905" y="3221374"/>
              <a:ext cx="193010" cy="193010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6316A27B-1351-0856-8F14-754E92676443}"/>
                </a:ext>
              </a:extLst>
            </p:cNvPr>
            <p:cNvSpPr/>
            <p:nvPr/>
          </p:nvSpPr>
          <p:spPr>
            <a:xfrm>
              <a:off x="2226916" y="3280034"/>
              <a:ext cx="483587" cy="483587"/>
            </a:xfrm>
            <a:prstGeom prst="ellipse">
              <a:avLst/>
            </a:prstGeom>
            <a:solidFill>
              <a:srgbClr val="DC95AA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4987BC8-530A-F1D5-869E-3AD7A61B0D04}"/>
                </a:ext>
              </a:extLst>
            </p:cNvPr>
            <p:cNvSpPr/>
            <p:nvPr/>
          </p:nvSpPr>
          <p:spPr>
            <a:xfrm>
              <a:off x="2532214" y="3022693"/>
              <a:ext cx="171464" cy="171464"/>
            </a:xfrm>
            <a:prstGeom prst="ellipse">
              <a:avLst/>
            </a:prstGeom>
            <a:solidFill>
              <a:srgbClr val="DC95AA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0D723726-3222-C6EC-BEB4-36A222465996}"/>
                </a:ext>
              </a:extLst>
            </p:cNvPr>
            <p:cNvSpPr/>
            <p:nvPr/>
          </p:nvSpPr>
          <p:spPr>
            <a:xfrm>
              <a:off x="2834829" y="3161396"/>
              <a:ext cx="291736" cy="291736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8023802B-92F8-9C83-17B2-3D9CC690FDBD}"/>
                </a:ext>
              </a:extLst>
            </p:cNvPr>
            <p:cNvSpPr/>
            <p:nvPr/>
          </p:nvSpPr>
          <p:spPr>
            <a:xfrm>
              <a:off x="2130410" y="3907685"/>
              <a:ext cx="194300" cy="194300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8">
              <a:extLst>
                <a:ext uri="{FF2B5EF4-FFF2-40B4-BE49-F238E27FC236}">
                  <a16:creationId xmlns:a16="http://schemas.microsoft.com/office/drawing/2014/main" id="{9FA11322-43F9-940A-DD50-014EC1EE5DF1}"/>
                </a:ext>
              </a:extLst>
            </p:cNvPr>
            <p:cNvSpPr/>
            <p:nvPr/>
          </p:nvSpPr>
          <p:spPr>
            <a:xfrm>
              <a:off x="2878455" y="2164081"/>
              <a:ext cx="4589145" cy="731520"/>
            </a:xfrm>
            <a:custGeom>
              <a:avLst/>
              <a:gdLst>
                <a:gd name="connsiteX0" fmla="*/ 0 w 5943600"/>
                <a:gd name="connsiteY0" fmla="*/ 411480 h 731520"/>
                <a:gd name="connsiteX1" fmla="*/ 289560 w 5943600"/>
                <a:gd name="connsiteY1" fmla="*/ 731520 h 731520"/>
                <a:gd name="connsiteX2" fmla="*/ 617220 w 5943600"/>
                <a:gd name="connsiteY2" fmla="*/ 0 h 731520"/>
                <a:gd name="connsiteX3" fmla="*/ 731520 w 5943600"/>
                <a:gd name="connsiteY3" fmla="*/ 419100 h 731520"/>
                <a:gd name="connsiteX4" fmla="*/ 5943600 w 5943600"/>
                <a:gd name="connsiteY4" fmla="*/ 419100 h 73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43600" h="731520">
                  <a:moveTo>
                    <a:pt x="0" y="411480"/>
                  </a:moveTo>
                  <a:lnTo>
                    <a:pt x="289560" y="731520"/>
                  </a:lnTo>
                  <a:lnTo>
                    <a:pt x="617220" y="0"/>
                  </a:lnTo>
                  <a:lnTo>
                    <a:pt x="731520" y="419100"/>
                  </a:lnTo>
                  <a:lnTo>
                    <a:pt x="5943600" y="419100"/>
                  </a:lnTo>
                </a:path>
              </a:pathLst>
            </a:custGeom>
            <a:noFill/>
            <a:ln>
              <a:solidFill>
                <a:srgbClr val="DC95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5">
              <a:extLst>
                <a:ext uri="{FF2B5EF4-FFF2-40B4-BE49-F238E27FC236}">
                  <a16:creationId xmlns:a16="http://schemas.microsoft.com/office/drawing/2014/main" id="{25587F35-E448-6EF9-A57A-2002DC78185F}"/>
                </a:ext>
              </a:extLst>
            </p:cNvPr>
            <p:cNvSpPr txBox="1"/>
            <p:nvPr/>
          </p:nvSpPr>
          <p:spPr>
            <a:xfrm>
              <a:off x="4530092" y="1921926"/>
              <a:ext cx="3429000" cy="707876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zh-CN" altLang="en-US" sz="4000" b="1" dirty="0">
                  <a:solidFill>
                    <a:schemeClr val="bg1">
                      <a:lumMod val="65000"/>
                    </a:schemeClr>
                  </a:solidFill>
                </a:rPr>
                <a:t>后续计划</a:t>
              </a: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71982A2E-2BEE-5E2C-1BB5-8A14EAFA6CA2}"/>
                </a:ext>
              </a:extLst>
            </p:cNvPr>
            <p:cNvSpPr/>
            <p:nvPr/>
          </p:nvSpPr>
          <p:spPr>
            <a:xfrm>
              <a:off x="7354908" y="2187623"/>
              <a:ext cx="228321" cy="228320"/>
            </a:xfrm>
            <a:prstGeom prst="ellipse">
              <a:avLst/>
            </a:prstGeom>
            <a:solidFill>
              <a:srgbClr val="DC95AA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6DCD1F4-820B-C2EC-BCC3-7C437D1A8CC9}"/>
                </a:ext>
              </a:extLst>
            </p:cNvPr>
            <p:cNvSpPr/>
            <p:nvPr/>
          </p:nvSpPr>
          <p:spPr>
            <a:xfrm>
              <a:off x="7657523" y="2383183"/>
              <a:ext cx="319214" cy="319214"/>
            </a:xfrm>
            <a:prstGeom prst="ellipse">
              <a:avLst/>
            </a:prstGeom>
            <a:solidFill>
              <a:srgbClr val="7B76AE"/>
            </a:solidFill>
            <a:ln>
              <a:noFill/>
            </a:ln>
            <a:effectLst>
              <a:innerShdw blurRad="63500" dist="254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4DE5E7CA-DDD9-1203-F896-5842C05C60B2}"/>
              </a:ext>
            </a:extLst>
          </p:cNvPr>
          <p:cNvSpPr/>
          <p:nvPr/>
        </p:nvSpPr>
        <p:spPr>
          <a:xfrm>
            <a:off x="379730" y="344805"/>
            <a:ext cx="8384540" cy="4453890"/>
          </a:xfrm>
          <a:prstGeom prst="rect">
            <a:avLst/>
          </a:prstGeom>
          <a:noFill/>
          <a:ln w="57150">
            <a:solidFill>
              <a:srgbClr val="DC95AA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552318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A4E27-8800-2857-AE1F-5885AB92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807B53A-A5E0-422C-2AA7-602FDFFBB943}"/>
              </a:ext>
            </a:extLst>
          </p:cNvPr>
          <p:cNvSpPr/>
          <p:nvPr/>
        </p:nvSpPr>
        <p:spPr bwMode="auto">
          <a:xfrm>
            <a:off x="419340" y="161307"/>
            <a:ext cx="126188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100" b="1" kern="100" dirty="0">
                <a:solidFill>
                  <a:srgbClr val="847DB5"/>
                </a:solidFill>
                <a:latin typeface="字魂创中黑" panose="00000500000000000000" charset="-122"/>
                <a:ea typeface="字魂创中黑" panose="00000500000000000000" charset="-122"/>
                <a:cs typeface="Times New Roman" panose="02020603050405020304" pitchFamily="18" charset="0"/>
                <a:sym typeface="字魂创中黑" panose="00000500000000000000" charset="-122"/>
              </a:rPr>
              <a:t>后续计划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7EC2A5C-01F3-9356-51E6-EAB24B21BB9C}"/>
              </a:ext>
            </a:extLst>
          </p:cNvPr>
          <p:cNvGrpSpPr/>
          <p:nvPr userDrawn="1"/>
        </p:nvGrpSpPr>
        <p:grpSpPr>
          <a:xfrm>
            <a:off x="185262" y="560546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6E6C31F9-65A1-C19B-4AB7-3D3809F001E3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CDF8F993-CEF4-8681-0780-40645299DD3C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D55E111-9EE4-2855-7FD4-C857EA5729ED}"/>
              </a:ext>
            </a:extLst>
          </p:cNvPr>
          <p:cNvGrpSpPr/>
          <p:nvPr/>
        </p:nvGrpSpPr>
        <p:grpSpPr>
          <a:xfrm flipH="1">
            <a:off x="252175" y="4936011"/>
            <a:ext cx="8639651" cy="57150"/>
            <a:chOff x="247135" y="747537"/>
            <a:chExt cx="7745928" cy="45719"/>
          </a:xfrm>
          <a:solidFill>
            <a:srgbClr val="DC95AA"/>
          </a:solidFill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8F72995A-263C-1A77-4433-E9E0AD6DD32B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1">
              <a:srgbClr val="29323F"/>
            </a:lnRef>
            <a:fillRef idx="0">
              <a:srgbClr val="29323F"/>
            </a:fillRef>
            <a:effectRef idx="0">
              <a:srgbClr val="29323F"/>
            </a:effectRef>
            <a:fontRef idx="minor">
              <a:sysClr val="windowText" lastClr="000000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7D890E0-239B-186C-6B79-286FCDD06D42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  <a:grpFill/>
            <a:ln>
              <a:solidFill>
                <a:srgbClr val="DC95AA"/>
              </a:solidFill>
            </a:ln>
          </p:spPr>
          <p:style>
            <a:lnRef idx="2">
              <a:srgbClr val="29323F">
                <a:shade val="50000"/>
              </a:srgbClr>
            </a:lnRef>
            <a:fillRef idx="1">
              <a:srgbClr val="29323F"/>
            </a:fillRef>
            <a:effectRef idx="0">
              <a:srgbClr val="29323F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字魂创中黑" panose="00000500000000000000" charset="-122"/>
                <a:ea typeface="字魂创中黑" panose="00000500000000000000" charset="-122"/>
                <a:sym typeface="字魂创中黑" panose="00000500000000000000" charset="-122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6C263EAF-D55C-51C8-0D9B-A41E9B2B424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39140" y="394192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9D3CBC7-678D-19C4-6899-8899F34B53C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647010" y="3461863"/>
            <a:ext cx="1468755" cy="60626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姓名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7B57AF-4A8F-BEB1-4E19-2A8C4C216A39}"/>
              </a:ext>
            </a:extLst>
          </p:cNvPr>
          <p:cNvSpPr txBox="1"/>
          <p:nvPr/>
        </p:nvSpPr>
        <p:spPr>
          <a:xfrm>
            <a:off x="353140" y="886159"/>
            <a:ext cx="4572000" cy="1326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算法模块扩展：</a:t>
            </a: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功能增强：</a:t>
            </a: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性能优化：</a:t>
            </a:r>
            <a:b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en-US" altLang="zh-CN" dirty="0">
                <a:solidFill>
                  <a:srgbClr val="000000"/>
                </a:solidFill>
                <a:latin typeface="Inter"/>
              </a:rPr>
              <a:t>………</a:t>
            </a:r>
            <a:endParaRPr lang="zh-CN" altLang="en-US" b="0" i="0" dirty="0">
              <a:solidFill>
                <a:srgbClr val="000000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99585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1625" y="396875"/>
            <a:ext cx="8384540" cy="4453890"/>
          </a:xfrm>
          <a:prstGeom prst="rect">
            <a:avLst/>
          </a:prstGeom>
          <a:noFill/>
          <a:ln w="57150">
            <a:solidFill>
              <a:srgbClr val="DC95AA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3132310" y="2122805"/>
            <a:ext cx="2879090" cy="897890"/>
          </a:xfrm>
          <a:prstGeom prst="rect">
            <a:avLst/>
          </a:prstGeom>
          <a:ln>
            <a:noFill/>
          </a:ln>
        </p:spPr>
        <p:txBody>
          <a:bodyPr wrap="none" lIns="68571" tIns="34285" rIns="68571" bIns="34285">
            <a:spAutoFit/>
          </a:bodyPr>
          <a:lstStyle/>
          <a:p>
            <a:pPr algn="r"/>
            <a:r>
              <a:rPr lang="zh-CN" altLang="en-US" sz="5400" dirty="0">
                <a:solidFill>
                  <a:srgbClr val="9177BB"/>
                </a:solidFill>
                <a:latin typeface="方正兰亭准黑_GBK" panose="02000000000000000000" pitchFamily="2" charset="-122"/>
                <a:ea typeface="方正兰亭准黑_GBK" panose="02000000000000000000" pitchFamily="2" charset="-122"/>
                <a:cs typeface="+mn-ea"/>
                <a:sym typeface="Arial" panose="020B0604020202020204"/>
              </a:rPr>
              <a:t>谢谢观看</a:t>
            </a:r>
          </a:p>
        </p:txBody>
      </p:sp>
      <p:sp>
        <p:nvSpPr>
          <p:cNvPr id="12" name="椭圆 11"/>
          <p:cNvSpPr/>
          <p:nvPr/>
        </p:nvSpPr>
        <p:spPr>
          <a:xfrm>
            <a:off x="6789728" y="786094"/>
            <a:ext cx="187970" cy="187970"/>
          </a:xfrm>
          <a:prstGeom prst="ellipse">
            <a:avLst/>
          </a:prstGeom>
          <a:solidFill>
            <a:srgbClr val="7B76AE"/>
          </a:solidFill>
          <a:ln>
            <a:noFill/>
          </a:ln>
          <a:effectLst>
            <a:innerShdw blurRad="63500" dist="254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6050251" y="1193424"/>
            <a:ext cx="483587" cy="483587"/>
          </a:xfrm>
          <a:prstGeom prst="ellipse">
            <a:avLst/>
          </a:prstGeom>
          <a:solidFill>
            <a:srgbClr val="DC95AA"/>
          </a:solidFill>
          <a:ln>
            <a:noFill/>
          </a:ln>
          <a:effectLst>
            <a:innerShdw blurRad="63500" dist="254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903070" y="1533420"/>
            <a:ext cx="194300" cy="194300"/>
          </a:xfrm>
          <a:prstGeom prst="ellipse">
            <a:avLst/>
          </a:prstGeom>
          <a:solidFill>
            <a:srgbClr val="7B76AE"/>
          </a:solidFill>
          <a:ln>
            <a:noFill/>
          </a:ln>
          <a:effectLst>
            <a:innerShdw blurRad="63500" dist="254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2050655" y="3149858"/>
            <a:ext cx="357266" cy="357266"/>
          </a:xfrm>
          <a:prstGeom prst="ellipse">
            <a:avLst/>
          </a:prstGeom>
          <a:solidFill>
            <a:srgbClr val="7B76AE"/>
          </a:solidFill>
          <a:ln>
            <a:noFill/>
          </a:ln>
          <a:effectLst>
            <a:innerShdw blurRad="63500" dist="254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407613" y="4275301"/>
            <a:ext cx="227310" cy="227310"/>
          </a:xfrm>
          <a:prstGeom prst="ellipse">
            <a:avLst/>
          </a:prstGeom>
          <a:solidFill>
            <a:srgbClr val="DC95AA"/>
          </a:solidFill>
          <a:ln>
            <a:noFill/>
          </a:ln>
          <a:effectLst>
            <a:innerShdw blurRad="63500" dist="254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876223" y="3694614"/>
            <a:ext cx="304801" cy="304800"/>
          </a:xfrm>
          <a:prstGeom prst="ellipse">
            <a:avLst/>
          </a:prstGeom>
          <a:solidFill>
            <a:srgbClr val="DC95AA"/>
          </a:solidFill>
          <a:ln>
            <a:noFill/>
          </a:ln>
          <a:effectLst>
            <a:innerShdw blurRad="63500" dist="254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12" grpId="0" bldLvl="0" animBg="1"/>
      <p:bldP spid="15" grpId="0" bldLvl="0" animBg="1"/>
      <p:bldP spid="18" grpId="0" bldLvl="0" animBg="1"/>
      <p:bldP spid="10" grpId="0" bldLvl="0" animBg="1"/>
      <p:bldP spid="11" grpId="0" bldLvl="0" animBg="1"/>
      <p:bldP spid="13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74_1*l_h_a*1_1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74_1*l_h_a*1_1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74_1*l_h_a*1_1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74_1*l_h_a*1_1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74_1*l_h_a*1_1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74_1*l_h_a*1_1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74_1*l_h_a*1_1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74_1*l_h_a*1_1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74_1*l_h_a*1_1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74_1*l_h_a*1_1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74_1*l_h_a*1_1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74_1*l_h_a*1_1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74_1*l_h_a*1_1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74_1*l_h_a*1_1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74_1*l_h_a*1_1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74_1*l_h_a*1_1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74_1*l_h_a*1_1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74_1*l_h_a*1_1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74_1*l_h_a*1_1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74_1*l_h_a*1_2_1"/>
  <p:tag name="KSO_WM_TEMPLATE_CATEGORY" val="diagram"/>
  <p:tag name="KSO_WM_TEMPLATE_INDEX" val="202309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7"/>
  <p:tag name="KSO_WM_DIAGRAM_MIN_ITEMCNT" val="2"/>
  <p:tag name="KSO_WM_DIAGRAM_VIRTUALLY_FRAME" val="{&quot;height&quot;:389.025,&quot;left&quot;:65.9,&quot;top&quot;:100.25,&quot;width&quot;:804.5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姓名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heme/theme1.xml><?xml version="1.0" encoding="utf-8"?>
<a:theme xmlns:a="http://schemas.openxmlformats.org/drawingml/2006/main" name="Office 主题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emp">
      <a:majorFont>
        <a:latin typeface="Arial"/>
        <a:ea typeface="方正兰亭超细黑简体"/>
        <a:cs typeface=""/>
      </a:majorFont>
      <a:minorFont>
        <a:latin typeface="Arial"/>
        <a:ea typeface="方正兰亭超细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</TotalTime>
  <Words>1591</Words>
  <Application>Microsoft Office PowerPoint</Application>
  <PresentationFormat>全屏显示(16:9)</PresentationFormat>
  <Paragraphs>286</Paragraphs>
  <Slides>35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8" baseType="lpstr">
      <vt:lpstr>Inter</vt:lpstr>
      <vt:lpstr>Menlo</vt:lpstr>
      <vt:lpstr>方正兰亭准黑_GBK</vt:lpstr>
      <vt:lpstr>方正清刻本悦宋简体</vt:lpstr>
      <vt:lpstr>华文细黑</vt:lpstr>
      <vt:lpstr>宋体</vt:lpstr>
      <vt:lpstr>微软雅黑</vt:lpstr>
      <vt:lpstr>幼圆</vt:lpstr>
      <vt:lpstr>字魂创中黑</vt:lpstr>
      <vt:lpstr>Arial</vt:lpstr>
      <vt:lpstr>Calibri</vt:lpstr>
      <vt:lpstr>Courier New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452.pptx412</dc:title>
  <dc:creator/>
  <cp:lastModifiedBy>Zhou Tianyu</cp:lastModifiedBy>
  <cp:revision>45</cp:revision>
  <dcterms:created xsi:type="dcterms:W3CDTF">2017-05-11T11:51:00Z</dcterms:created>
  <dcterms:modified xsi:type="dcterms:W3CDTF">2025-11-27T02:08:58Z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9D32F03ED37F45779AD32F95D86288CD_13</vt:lpwstr>
  </property>
</Properties>
</file>