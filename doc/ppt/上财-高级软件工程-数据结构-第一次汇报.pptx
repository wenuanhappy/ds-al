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4" r:id="rId3"/>
  </p:sldMasterIdLst>
  <p:notesMasterIdLst>
    <p:notesMasterId r:id="rId19"/>
  </p:notesMasterIdLst>
  <p:sldIdLst>
    <p:sldId id="257" r:id="rId4"/>
    <p:sldId id="293" r:id="rId5"/>
    <p:sldId id="259" r:id="rId6"/>
    <p:sldId id="296" r:id="rId7"/>
    <p:sldId id="304" r:id="rId8"/>
    <p:sldId id="305" r:id="rId9"/>
    <p:sldId id="306" r:id="rId10"/>
    <p:sldId id="307" r:id="rId11"/>
    <p:sldId id="308" r:id="rId12"/>
    <p:sldId id="294" r:id="rId13"/>
    <p:sldId id="298" r:id="rId14"/>
    <p:sldId id="295" r:id="rId15"/>
    <p:sldId id="297" r:id="rId16"/>
    <p:sldId id="309" r:id="rId17"/>
    <p:sldId id="31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1515"/>
    <a:srgbClr val="C00000"/>
    <a:srgbClr val="613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00" autoAdjust="0"/>
    <p:restoredTop sz="94270" autoAdjust="0"/>
  </p:normalViewPr>
  <p:slideViewPr>
    <p:cSldViewPr snapToGrid="0">
      <p:cViewPr varScale="1">
        <p:scale>
          <a:sx n="74" d="100"/>
          <a:sy n="74" d="100"/>
        </p:scale>
        <p:origin x="8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C02BE-EDCD-4EC4-ABCC-82B97A49A8A1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4BA93-782A-4C96-A9F6-75FAE12E36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4BA93-782A-4C96-A9F6-75FAE12E363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>
          <a:xfrm>
            <a:off x="-2923285" y="0"/>
            <a:ext cx="10287000" cy="6858000"/>
          </a:xfrm>
          <a:prstGeom prst="parallelogram">
            <a:avLst>
              <a:gd name="adj" fmla="val 42592"/>
            </a:avLst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1421758" y="943185"/>
            <a:ext cx="2603500" cy="1790700"/>
            <a:chOff x="1778000" y="2197100"/>
            <a:chExt cx="2603500" cy="1790700"/>
          </a:xfrm>
        </p:grpSpPr>
        <p:sp>
          <p:nvSpPr>
            <p:cNvPr id="9" name="文本框 8"/>
            <p:cNvSpPr txBox="1"/>
            <p:nvPr/>
          </p:nvSpPr>
          <p:spPr>
            <a:xfrm>
              <a:off x="2090118" y="2413337"/>
              <a:ext cx="19872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目录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147888" y="3429000"/>
              <a:ext cx="18716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ea typeface="等线" panose="02010600030101010101" pitchFamily="2" charset="-122"/>
                  <a:cs typeface="+mn-cs"/>
                </a:rPr>
                <a:t>CONTENTS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778000" y="2197100"/>
              <a:ext cx="2603500" cy="1790700"/>
            </a:xfrm>
            <a:prstGeom prst="rect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 userDrawn="1"/>
        </p:nvGrpSpPr>
        <p:grpSpPr>
          <a:xfrm>
            <a:off x="6071352" y="593991"/>
            <a:ext cx="1692275" cy="952500"/>
            <a:chOff x="5983558" y="745238"/>
            <a:chExt cx="1692275" cy="952500"/>
          </a:xfrm>
        </p:grpSpPr>
        <p:sp>
          <p:nvSpPr>
            <p:cNvPr id="13" name="椭圆 12"/>
            <p:cNvSpPr/>
            <p:nvPr/>
          </p:nvSpPr>
          <p:spPr>
            <a:xfrm>
              <a:off x="6353445" y="745238"/>
              <a:ext cx="952500" cy="952500"/>
            </a:xfrm>
            <a:prstGeom prst="ellipse">
              <a:avLst/>
            </a:prstGeom>
            <a:solidFill>
              <a:srgbClr val="F9F9F9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anose="020B0502040204020203" pitchFamily="34" charset="0"/>
                <a:ea typeface="思源黑体 CN Light"/>
                <a:cs typeface="+mn-cs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983558" y="936780"/>
              <a:ext cx="1692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egoe UI" panose="020B0502040204020203" pitchFamily="34" charset="0"/>
                  <a:ea typeface="Source Han Sans Bold" panose="020B0800000000000000" pitchFamily="34" charset="-122"/>
                  <a:cs typeface="+mn-cs"/>
                </a:rPr>
                <a:t>01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anose="020B0502040204020203" pitchFamily="34" charset="0"/>
                <a:ea typeface="Source Han Sans Bold" panose="020B0800000000000000" pitchFamily="34" charset="-122"/>
                <a:cs typeface="+mn-cs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5674411" y="1573049"/>
            <a:ext cx="1692275" cy="952500"/>
            <a:chOff x="5586617" y="1817332"/>
            <a:chExt cx="1692275" cy="952500"/>
          </a:xfrm>
        </p:grpSpPr>
        <p:sp>
          <p:nvSpPr>
            <p:cNvPr id="15" name="椭圆 14"/>
            <p:cNvSpPr/>
            <p:nvPr/>
          </p:nvSpPr>
          <p:spPr>
            <a:xfrm>
              <a:off x="5956504" y="1817332"/>
              <a:ext cx="952500" cy="952500"/>
            </a:xfrm>
            <a:prstGeom prst="ellipse">
              <a:avLst/>
            </a:prstGeom>
            <a:solidFill>
              <a:srgbClr val="F9F9F9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Segoe UI" panose="020B0502040204020203" pitchFamily="34" charset="0"/>
                <a:ea typeface="思源黑体 CN Light"/>
                <a:cs typeface="+mn-cs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586617" y="2008874"/>
              <a:ext cx="1692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egoe UI" panose="020B0502040204020203" pitchFamily="34" charset="0"/>
                  <a:ea typeface="Source Han Sans Bold" panose="020B0800000000000000" pitchFamily="34" charset="-122"/>
                  <a:cs typeface="+mn-cs"/>
                </a:rPr>
                <a:t>02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anose="020B0502040204020203" pitchFamily="34" charset="0"/>
                <a:ea typeface="Source Han Sans Bold" panose="020B0800000000000000" pitchFamily="34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5198160" y="2552107"/>
            <a:ext cx="1692275" cy="952500"/>
            <a:chOff x="5110366" y="2799680"/>
            <a:chExt cx="1692275" cy="952500"/>
          </a:xfrm>
        </p:grpSpPr>
        <p:sp>
          <p:nvSpPr>
            <p:cNvPr id="17" name="椭圆 16"/>
            <p:cNvSpPr/>
            <p:nvPr userDrawn="1"/>
          </p:nvSpPr>
          <p:spPr>
            <a:xfrm>
              <a:off x="5480253" y="2799680"/>
              <a:ext cx="952500" cy="952500"/>
            </a:xfrm>
            <a:prstGeom prst="ellipse">
              <a:avLst/>
            </a:prstGeom>
            <a:solidFill>
              <a:srgbClr val="F9F9F9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Segoe UI" panose="020B0502040204020203" pitchFamily="34" charset="0"/>
                <a:ea typeface="思源黑体 CN Light"/>
                <a:cs typeface="+mn-cs"/>
              </a:endParaRPr>
            </a:p>
          </p:txBody>
        </p:sp>
        <p:sp>
          <p:nvSpPr>
            <p:cNvPr id="18" name="文本框 17"/>
            <p:cNvSpPr txBox="1"/>
            <p:nvPr userDrawn="1"/>
          </p:nvSpPr>
          <p:spPr>
            <a:xfrm>
              <a:off x="5110366" y="2991222"/>
              <a:ext cx="1692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egoe UI" panose="020B0502040204020203" pitchFamily="34" charset="0"/>
                  <a:ea typeface="Source Han Sans Bold" panose="020B0800000000000000" pitchFamily="34" charset="-122"/>
                  <a:cs typeface="+mn-cs"/>
                </a:rPr>
                <a:t>03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anose="020B0502040204020203" pitchFamily="34" charset="0"/>
                <a:ea typeface="Source Han Sans Bold" panose="020B0800000000000000" pitchFamily="34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4721909" y="3531165"/>
            <a:ext cx="1692275" cy="952500"/>
            <a:chOff x="4634115" y="3794090"/>
            <a:chExt cx="1692275" cy="952500"/>
          </a:xfrm>
        </p:grpSpPr>
        <p:sp>
          <p:nvSpPr>
            <p:cNvPr id="19" name="椭圆 18"/>
            <p:cNvSpPr/>
            <p:nvPr userDrawn="1"/>
          </p:nvSpPr>
          <p:spPr>
            <a:xfrm>
              <a:off x="5004002" y="3794090"/>
              <a:ext cx="952500" cy="952500"/>
            </a:xfrm>
            <a:prstGeom prst="ellipse">
              <a:avLst/>
            </a:prstGeom>
            <a:solidFill>
              <a:srgbClr val="F9F9F9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Segoe UI" panose="020B0502040204020203" pitchFamily="34" charset="0"/>
                <a:ea typeface="思源黑体 CN Light"/>
                <a:cs typeface="+mn-cs"/>
              </a:endParaRPr>
            </a:p>
          </p:txBody>
        </p:sp>
        <p:sp>
          <p:nvSpPr>
            <p:cNvPr id="20" name="文本框 19"/>
            <p:cNvSpPr txBox="1"/>
            <p:nvPr userDrawn="1"/>
          </p:nvSpPr>
          <p:spPr>
            <a:xfrm>
              <a:off x="4634115" y="3985632"/>
              <a:ext cx="1692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egoe UI" panose="020B0502040204020203" pitchFamily="34" charset="0"/>
                  <a:ea typeface="Source Han Sans Bold" panose="020B0800000000000000" pitchFamily="34" charset="-122"/>
                  <a:cs typeface="+mn-cs"/>
                </a:rPr>
                <a:t>04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anose="020B0502040204020203" pitchFamily="34" charset="0"/>
                <a:ea typeface="Source Han Sans Bold" panose="020B0800000000000000" pitchFamily="34" charset="-122"/>
                <a:cs typeface="+mn-cs"/>
              </a:endParaRPr>
            </a:p>
          </p:txBody>
        </p:sp>
      </p:grpSp>
      <p:cxnSp>
        <p:nvCxnSpPr>
          <p:cNvPr id="25" name="直接连接符 24"/>
          <p:cNvCxnSpPr/>
          <p:nvPr userDrawn="1"/>
        </p:nvCxnSpPr>
        <p:spPr>
          <a:xfrm flipH="1">
            <a:off x="8548191" y="3665279"/>
            <a:ext cx="1360035" cy="35749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 flipH="1">
            <a:off x="10154643" y="1511571"/>
            <a:ext cx="1422221" cy="37383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 userDrawn="1"/>
        </p:nvSpPr>
        <p:spPr>
          <a:xfrm>
            <a:off x="7479081" y="777854"/>
            <a:ext cx="3163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4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研究背景</a:t>
            </a:r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01991" y="1756912"/>
            <a:ext cx="3163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4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研究意义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73438" y="2735970"/>
            <a:ext cx="367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4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国内外研究现状</a:t>
            </a: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6147706" y="3715028"/>
            <a:ext cx="367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4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研究方法与思路</a:t>
            </a: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727213" y="4694086"/>
            <a:ext cx="367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4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结果与结论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5380632" y="5673143"/>
            <a:ext cx="367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spc="400" dirty="0">
                <a:solidFill>
                  <a:schemeClr val="accent1"/>
                </a:solidFill>
                <a:latin typeface="+mj-ea"/>
                <a:ea typeface="+mj-ea"/>
              </a:rPr>
              <a:t>创新与不足</a:t>
            </a:r>
            <a:endParaRPr kumimoji="0" lang="zh-CN" altLang="en-US" sz="3200" b="0" i="0" u="none" strike="noStrike" kern="1200" cap="none" spc="4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292200" y="4510223"/>
            <a:ext cx="1692275" cy="952500"/>
            <a:chOff x="4204406" y="4724988"/>
            <a:chExt cx="1692275" cy="952500"/>
          </a:xfrm>
        </p:grpSpPr>
        <p:sp>
          <p:nvSpPr>
            <p:cNvPr id="23" name="椭圆 22"/>
            <p:cNvSpPr/>
            <p:nvPr userDrawn="1"/>
          </p:nvSpPr>
          <p:spPr>
            <a:xfrm>
              <a:off x="4574293" y="4724988"/>
              <a:ext cx="952500" cy="952500"/>
            </a:xfrm>
            <a:prstGeom prst="ellipse">
              <a:avLst/>
            </a:prstGeom>
            <a:solidFill>
              <a:srgbClr val="F9F9F9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Segoe UI" panose="020B0502040204020203" pitchFamily="34" charset="0"/>
                <a:ea typeface="思源黑体 CN Light"/>
                <a:cs typeface="+mn-cs"/>
              </a:endParaRPr>
            </a:p>
          </p:txBody>
        </p:sp>
        <p:sp>
          <p:nvSpPr>
            <p:cNvPr id="24" name="文本框 23"/>
            <p:cNvSpPr txBox="1"/>
            <p:nvPr userDrawn="1"/>
          </p:nvSpPr>
          <p:spPr>
            <a:xfrm>
              <a:off x="4204406" y="4916530"/>
              <a:ext cx="1692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egoe UI" panose="020B0502040204020203" pitchFamily="34" charset="0"/>
                  <a:ea typeface="Source Han Sans Bold" panose="020B0800000000000000" pitchFamily="34" charset="-122"/>
                  <a:cs typeface="+mn-cs"/>
                </a:rPr>
                <a:t>05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anose="020B0502040204020203" pitchFamily="34" charset="0"/>
                <a:ea typeface="Source Han Sans Bold" panose="020B0800000000000000" pitchFamily="34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3909726" y="5489280"/>
            <a:ext cx="1692275" cy="952500"/>
            <a:chOff x="3821932" y="5640527"/>
            <a:chExt cx="1692275" cy="952500"/>
          </a:xfrm>
        </p:grpSpPr>
        <p:sp>
          <p:nvSpPr>
            <p:cNvPr id="27" name="椭圆 26"/>
            <p:cNvSpPr/>
            <p:nvPr userDrawn="1"/>
          </p:nvSpPr>
          <p:spPr>
            <a:xfrm>
              <a:off x="4191819" y="5640527"/>
              <a:ext cx="952500" cy="952500"/>
            </a:xfrm>
            <a:prstGeom prst="ellipse">
              <a:avLst/>
            </a:prstGeom>
            <a:solidFill>
              <a:srgbClr val="F9F9F9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Segoe UI" panose="020B0502040204020203" pitchFamily="34" charset="0"/>
                <a:ea typeface="思源黑体 CN Light"/>
                <a:cs typeface="+mn-cs"/>
              </a:endParaRPr>
            </a:p>
          </p:txBody>
        </p:sp>
        <p:sp>
          <p:nvSpPr>
            <p:cNvPr id="28" name="文本框 27"/>
            <p:cNvSpPr txBox="1"/>
            <p:nvPr userDrawn="1"/>
          </p:nvSpPr>
          <p:spPr>
            <a:xfrm>
              <a:off x="3821932" y="5832069"/>
              <a:ext cx="1692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egoe UI" panose="020B0502040204020203" pitchFamily="34" charset="0"/>
                  <a:ea typeface="Source Han Sans Bold" panose="020B0800000000000000" pitchFamily="34" charset="-122"/>
                  <a:cs typeface="+mn-cs"/>
                </a:rPr>
                <a:t>06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anose="020B0502040204020203" pitchFamily="34" charset="0"/>
                <a:ea typeface="Source Han Sans Bold" panose="020B0800000000000000" pitchFamily="34" charset="-122"/>
                <a:cs typeface="+mn-cs"/>
              </a:endParaRPr>
            </a:p>
          </p:txBody>
        </p:sp>
      </p:grpSp>
      <p:pic>
        <p:nvPicPr>
          <p:cNvPr id="4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3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流程图: 文档 7"/>
          <p:cNvSpPr/>
          <p:nvPr userDrawn="1"/>
        </p:nvSpPr>
        <p:spPr>
          <a:xfrm rot="16200000">
            <a:off x="158211" y="-268753"/>
            <a:ext cx="6904891" cy="7442397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9" r="4483" b="10045"/>
          <a:stretch>
            <a:fillRect/>
          </a:stretch>
        </p:blipFill>
        <p:spPr>
          <a:xfrm>
            <a:off x="-568132" y="-1"/>
            <a:ext cx="7347539" cy="6904891"/>
          </a:xfrm>
          <a:custGeom>
            <a:avLst/>
            <a:gdLst>
              <a:gd name="connsiteX0" fmla="*/ 0 w 7347539"/>
              <a:gd name="connsiteY0" fmla="*/ 0 h 6904891"/>
              <a:gd name="connsiteX1" fmla="*/ 5968389 w 7347539"/>
              <a:gd name="connsiteY1" fmla="*/ 0 h 6904891"/>
              <a:gd name="connsiteX2" fmla="*/ 6950372 w 7347539"/>
              <a:gd name="connsiteY2" fmla="*/ 6904891 h 6904891"/>
              <a:gd name="connsiteX3" fmla="*/ 0 w 7347539"/>
              <a:gd name="connsiteY3" fmla="*/ 6904891 h 690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47539" h="6904891">
                <a:moveTo>
                  <a:pt x="0" y="0"/>
                </a:moveTo>
                <a:lnTo>
                  <a:pt x="5968389" y="0"/>
                </a:lnTo>
                <a:cubicBezTo>
                  <a:pt x="5968389" y="3452446"/>
                  <a:pt x="8242455" y="3452446"/>
                  <a:pt x="6950372" y="6904891"/>
                </a:cubicBezTo>
                <a:lnTo>
                  <a:pt x="0" y="6904891"/>
                </a:lnTo>
                <a:close/>
              </a:path>
            </a:pathLst>
          </a:custGeom>
        </p:spPr>
      </p:pic>
      <p:pic>
        <p:nvPicPr>
          <p:cNvPr id="2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3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个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" y="4"/>
            <a:ext cx="12191986" cy="685799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7000"/>
                </a:schemeClr>
              </a:gs>
              <a:gs pos="31000">
                <a:schemeClr val="bg1">
                  <a:alpha val="96000"/>
                </a:schemeClr>
              </a:gs>
              <a:gs pos="63000">
                <a:schemeClr val="bg1">
                  <a:alpha val="94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97800" y="1006475"/>
            <a:ext cx="3898900" cy="5330825"/>
          </a:xfrm>
        </p:spPr>
        <p:txBody>
          <a:bodyPr anchor="ctr">
            <a:noAutofit/>
          </a:bodyPr>
          <a:lstStyle>
            <a:lvl1pPr marL="0" indent="0" algn="just">
              <a:lnSpc>
                <a:spcPct val="12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53500" y="635635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sz="quarter" idx="13" hasCustomPrompt="1"/>
          </p:nvPr>
        </p:nvSpPr>
        <p:spPr>
          <a:xfrm>
            <a:off x="495300" y="1613922"/>
            <a:ext cx="7112000" cy="472337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 dirty="0"/>
              <a:t>插入你的图表</a:t>
            </a:r>
          </a:p>
        </p:txBody>
      </p:sp>
      <p:sp>
        <p:nvSpPr>
          <p:cNvPr id="15" name="内容占位符 14"/>
          <p:cNvSpPr>
            <a:spLocks noGrp="1"/>
          </p:cNvSpPr>
          <p:nvPr>
            <p:ph sz="quarter" idx="14" hasCustomPrompt="1"/>
          </p:nvPr>
        </p:nvSpPr>
        <p:spPr>
          <a:xfrm>
            <a:off x="495300" y="1006475"/>
            <a:ext cx="7124700" cy="5302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zh-CN" altLang="en-US" dirty="0"/>
              <a:t>填写你的图表标题</a:t>
            </a: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514350" y="260580"/>
            <a:ext cx="10534649" cy="636129"/>
          </a:xfrm>
        </p:spPr>
        <p:txBody>
          <a:bodyPr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1" y="250033"/>
            <a:ext cx="514350" cy="6572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个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" y="4"/>
            <a:ext cx="12191986" cy="685799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</p:pic>
      <p:sp>
        <p:nvSpPr>
          <p:cNvPr id="23" name="矩形 22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7000"/>
                </a:schemeClr>
              </a:gs>
              <a:gs pos="31000">
                <a:schemeClr val="bg1">
                  <a:alpha val="96000"/>
                </a:schemeClr>
              </a:gs>
              <a:gs pos="63000">
                <a:schemeClr val="bg1">
                  <a:alpha val="94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600" y="1006475"/>
            <a:ext cx="11214100" cy="1050925"/>
          </a:xfrm>
        </p:spPr>
        <p:txBody>
          <a:bodyPr>
            <a:noAutofit/>
          </a:bodyPr>
          <a:lstStyle>
            <a:lvl1pPr marL="0" indent="0" algn="just">
              <a:lnSpc>
                <a:spcPct val="12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3" hasCustomPrompt="1"/>
          </p:nvPr>
        </p:nvSpPr>
        <p:spPr>
          <a:xfrm>
            <a:off x="482600" y="2857500"/>
            <a:ext cx="5613400" cy="349884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 dirty="0"/>
              <a:t>插入你的图表</a:t>
            </a:r>
          </a:p>
        </p:txBody>
      </p:sp>
      <p:sp>
        <p:nvSpPr>
          <p:cNvPr id="11" name="内容占位符 11"/>
          <p:cNvSpPr>
            <a:spLocks noGrp="1"/>
          </p:cNvSpPr>
          <p:nvPr>
            <p:ph sz="quarter" idx="14" hasCustomPrompt="1"/>
          </p:nvPr>
        </p:nvSpPr>
        <p:spPr>
          <a:xfrm>
            <a:off x="6096000" y="2857500"/>
            <a:ext cx="5613400" cy="349884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 dirty="0"/>
              <a:t>插入你的图表</a:t>
            </a:r>
          </a:p>
        </p:txBody>
      </p:sp>
      <p:sp>
        <p:nvSpPr>
          <p:cNvPr id="13" name="内容占位符 14"/>
          <p:cNvSpPr>
            <a:spLocks noGrp="1"/>
          </p:cNvSpPr>
          <p:nvPr>
            <p:ph sz="quarter" idx="15" hasCustomPrompt="1"/>
          </p:nvPr>
        </p:nvSpPr>
        <p:spPr>
          <a:xfrm>
            <a:off x="476250" y="2260599"/>
            <a:ext cx="5613400" cy="5302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zh-CN" altLang="en-US" dirty="0"/>
              <a:t>填写你的图表标题</a:t>
            </a:r>
          </a:p>
        </p:txBody>
      </p:sp>
      <p:sp>
        <p:nvSpPr>
          <p:cNvPr id="14" name="内容占位符 14"/>
          <p:cNvSpPr>
            <a:spLocks noGrp="1"/>
          </p:cNvSpPr>
          <p:nvPr>
            <p:ph sz="quarter" idx="16" hasCustomPrompt="1"/>
          </p:nvPr>
        </p:nvSpPr>
        <p:spPr>
          <a:xfrm>
            <a:off x="6083302" y="2260599"/>
            <a:ext cx="5613400" cy="5302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zh-CN" altLang="en-US" dirty="0"/>
              <a:t>填写你的图表标题</a:t>
            </a: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53500" y="635635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514350" y="260580"/>
            <a:ext cx="10534649" cy="636129"/>
          </a:xfrm>
        </p:spPr>
        <p:txBody>
          <a:bodyPr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1" y="250033"/>
            <a:ext cx="514350" cy="6572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个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" y="4"/>
            <a:ext cx="12191986" cy="685799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</p:pic>
      <p:sp>
        <p:nvSpPr>
          <p:cNvPr id="27" name="矩形 2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7000"/>
                </a:schemeClr>
              </a:gs>
              <a:gs pos="31000">
                <a:schemeClr val="bg1">
                  <a:alpha val="96000"/>
                </a:schemeClr>
              </a:gs>
              <a:gs pos="63000">
                <a:schemeClr val="bg1">
                  <a:alpha val="94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5286375"/>
            <a:ext cx="11214100" cy="1050925"/>
          </a:xfrm>
        </p:spPr>
        <p:txBody>
          <a:bodyPr>
            <a:noAutofit/>
          </a:bodyPr>
          <a:lstStyle>
            <a:lvl1pPr marL="0" indent="0" algn="just">
              <a:lnSpc>
                <a:spcPct val="12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3" hasCustomPrompt="1"/>
          </p:nvPr>
        </p:nvSpPr>
        <p:spPr>
          <a:xfrm>
            <a:off x="482600" y="1625596"/>
            <a:ext cx="3580353" cy="352425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 dirty="0"/>
              <a:t>插入你的图表</a:t>
            </a:r>
          </a:p>
        </p:txBody>
      </p:sp>
      <p:sp>
        <p:nvSpPr>
          <p:cNvPr id="13" name="内容占位符 14"/>
          <p:cNvSpPr>
            <a:spLocks noGrp="1"/>
          </p:cNvSpPr>
          <p:nvPr>
            <p:ph sz="quarter" idx="15" hasCustomPrompt="1"/>
          </p:nvPr>
        </p:nvSpPr>
        <p:spPr>
          <a:xfrm>
            <a:off x="476250" y="1028695"/>
            <a:ext cx="3580353" cy="5302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zh-CN" altLang="en-US" dirty="0"/>
              <a:t>填写你的图表标题</a:t>
            </a: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53500" y="635635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内容占位符 11"/>
          <p:cNvSpPr>
            <a:spLocks noGrp="1"/>
          </p:cNvSpPr>
          <p:nvPr>
            <p:ph sz="quarter" idx="16" hasCustomPrompt="1"/>
          </p:nvPr>
        </p:nvSpPr>
        <p:spPr>
          <a:xfrm>
            <a:off x="4309884" y="1625596"/>
            <a:ext cx="3580353" cy="352425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 dirty="0"/>
              <a:t>插入你的图表</a:t>
            </a:r>
          </a:p>
        </p:txBody>
      </p:sp>
      <p:sp>
        <p:nvSpPr>
          <p:cNvPr id="19" name="内容占位符 14"/>
          <p:cNvSpPr>
            <a:spLocks noGrp="1"/>
          </p:cNvSpPr>
          <p:nvPr>
            <p:ph sz="quarter" idx="17" hasCustomPrompt="1"/>
          </p:nvPr>
        </p:nvSpPr>
        <p:spPr>
          <a:xfrm>
            <a:off x="4303534" y="1028695"/>
            <a:ext cx="3580353" cy="5302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zh-CN" altLang="en-US" dirty="0"/>
              <a:t>填写你的图表标题</a:t>
            </a:r>
          </a:p>
        </p:txBody>
      </p:sp>
      <p:sp>
        <p:nvSpPr>
          <p:cNvPr id="20" name="内容占位符 11"/>
          <p:cNvSpPr>
            <a:spLocks noGrp="1"/>
          </p:cNvSpPr>
          <p:nvPr>
            <p:ph sz="quarter" idx="18" hasCustomPrompt="1"/>
          </p:nvPr>
        </p:nvSpPr>
        <p:spPr>
          <a:xfrm>
            <a:off x="8116347" y="1625596"/>
            <a:ext cx="3580353" cy="352425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 dirty="0"/>
              <a:t>插入你的图表</a:t>
            </a:r>
          </a:p>
        </p:txBody>
      </p:sp>
      <p:sp>
        <p:nvSpPr>
          <p:cNvPr id="21" name="内容占位符 14"/>
          <p:cNvSpPr>
            <a:spLocks noGrp="1"/>
          </p:cNvSpPr>
          <p:nvPr>
            <p:ph sz="quarter" idx="19" hasCustomPrompt="1"/>
          </p:nvPr>
        </p:nvSpPr>
        <p:spPr>
          <a:xfrm>
            <a:off x="8109997" y="1028695"/>
            <a:ext cx="3580353" cy="5302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zh-CN" altLang="en-US" dirty="0"/>
              <a:t>填写你的图表标题</a:t>
            </a:r>
          </a:p>
        </p:txBody>
      </p:sp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514350" y="260580"/>
            <a:ext cx="10534649" cy="636129"/>
          </a:xfrm>
        </p:spPr>
        <p:txBody>
          <a:bodyPr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1" y="250033"/>
            <a:ext cx="514350" cy="6572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" y="4"/>
            <a:ext cx="12191986" cy="685799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7000"/>
                </a:schemeClr>
              </a:gs>
              <a:gs pos="31000">
                <a:schemeClr val="bg1">
                  <a:alpha val="96000"/>
                </a:schemeClr>
              </a:gs>
              <a:gs pos="63000">
                <a:schemeClr val="bg1">
                  <a:alpha val="94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2600" y="1821505"/>
            <a:ext cx="4826000" cy="4515795"/>
          </a:xfrm>
        </p:spPr>
        <p:txBody>
          <a:bodyPr anchor="ctr">
            <a:normAutofit/>
          </a:bodyPr>
          <a:lstStyle>
            <a:lvl1pPr marL="0" indent="0" algn="just">
              <a:lnSpc>
                <a:spcPct val="12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输入正文</a:t>
            </a:r>
          </a:p>
        </p:txBody>
      </p:sp>
      <p:sp>
        <p:nvSpPr>
          <p:cNvPr id="11" name="内容占位符 11"/>
          <p:cNvSpPr>
            <a:spLocks noGrp="1"/>
          </p:cNvSpPr>
          <p:nvPr>
            <p:ph sz="quarter" idx="14" hasCustomPrompt="1"/>
          </p:nvPr>
        </p:nvSpPr>
        <p:spPr>
          <a:xfrm>
            <a:off x="5638800" y="1821527"/>
            <a:ext cx="6064251" cy="451577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 dirty="0"/>
              <a:t>插入你的图表</a:t>
            </a:r>
          </a:p>
        </p:txBody>
      </p:sp>
      <p:sp>
        <p:nvSpPr>
          <p:cNvPr id="14" name="内容占位符 14"/>
          <p:cNvSpPr>
            <a:spLocks noGrp="1"/>
          </p:cNvSpPr>
          <p:nvPr>
            <p:ph sz="quarter" idx="16" hasCustomPrompt="1"/>
          </p:nvPr>
        </p:nvSpPr>
        <p:spPr>
          <a:xfrm>
            <a:off x="5638800" y="1291297"/>
            <a:ext cx="6064251" cy="5302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zh-CN" altLang="en-US" dirty="0"/>
              <a:t>填写你的图表标题</a:t>
            </a: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53500" y="635635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内容占位符 2"/>
          <p:cNvSpPr>
            <a:spLocks noGrp="1"/>
          </p:cNvSpPr>
          <p:nvPr>
            <p:ph idx="17" hasCustomPrompt="1"/>
          </p:nvPr>
        </p:nvSpPr>
        <p:spPr>
          <a:xfrm>
            <a:off x="482600" y="1284948"/>
            <a:ext cx="4826000" cy="530226"/>
          </a:xfrm>
        </p:spPr>
        <p:txBody>
          <a:bodyPr anchor="ctr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结论</a:t>
            </a:r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514350" y="260580"/>
            <a:ext cx="10534649" cy="636129"/>
          </a:xfrm>
        </p:spPr>
        <p:txBody>
          <a:bodyPr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9" name="矩形 18"/>
          <p:cNvSpPr/>
          <p:nvPr userDrawn="1"/>
        </p:nvSpPr>
        <p:spPr>
          <a:xfrm>
            <a:off x="1" y="250033"/>
            <a:ext cx="514350" cy="6572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" y="4"/>
            <a:ext cx="12191986" cy="685799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7000"/>
                </a:schemeClr>
              </a:gs>
              <a:gs pos="31000">
                <a:schemeClr val="bg1">
                  <a:alpha val="96000"/>
                </a:schemeClr>
              </a:gs>
              <a:gs pos="63000">
                <a:schemeClr val="bg1">
                  <a:alpha val="94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53500" y="635635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14350" y="260580"/>
            <a:ext cx="10534649" cy="636129"/>
          </a:xfrm>
        </p:spPr>
        <p:txBody>
          <a:bodyPr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1" y="250033"/>
            <a:ext cx="514350" cy="6572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" y="4"/>
            <a:ext cx="12191986" cy="685799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</p:pic>
      <p:sp>
        <p:nvSpPr>
          <p:cNvPr id="13" name="矩形 12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7000"/>
                </a:schemeClr>
              </a:gs>
              <a:gs pos="31000">
                <a:schemeClr val="bg1">
                  <a:alpha val="96000"/>
                </a:schemeClr>
              </a:gs>
              <a:gs pos="63000">
                <a:schemeClr val="bg1">
                  <a:alpha val="94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 txBox="1"/>
          <p:nvPr userDrawn="1"/>
        </p:nvSpPr>
        <p:spPr>
          <a:xfrm>
            <a:off x="89535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514350" y="260580"/>
            <a:ext cx="10534649" cy="636129"/>
          </a:xfrm>
        </p:spPr>
        <p:txBody>
          <a:bodyPr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" y="250033"/>
            <a:ext cx="514350" cy="6572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  <p:sp>
        <p:nvSpPr>
          <p:cNvPr id="10" name="内容占位符 11"/>
          <p:cNvSpPr>
            <a:spLocks noGrp="1"/>
          </p:cNvSpPr>
          <p:nvPr>
            <p:ph sz="quarter" idx="13" hasCustomPrompt="1"/>
          </p:nvPr>
        </p:nvSpPr>
        <p:spPr>
          <a:xfrm>
            <a:off x="5372100" y="1306513"/>
            <a:ext cx="6324600" cy="50307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/>
              <a:t>插入图片</a:t>
            </a:r>
          </a:p>
        </p:txBody>
      </p:sp>
      <p:sp>
        <p:nvSpPr>
          <p:cNvPr id="11" name="内容占位符 13"/>
          <p:cNvSpPr>
            <a:spLocks noGrp="1"/>
          </p:cNvSpPr>
          <p:nvPr>
            <p:ph sz="quarter" idx="14"/>
          </p:nvPr>
        </p:nvSpPr>
        <p:spPr>
          <a:xfrm>
            <a:off x="482600" y="1306513"/>
            <a:ext cx="4445000" cy="5030787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" y="4"/>
              <a:ext cx="12191986" cy="6857992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</p:pic>
        <p:sp>
          <p:nvSpPr>
            <p:cNvPr id="9" name="矩形 8"/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37000"/>
                  </a:schemeClr>
                </a:gs>
                <a:gs pos="31000">
                  <a:schemeClr val="bg1">
                    <a:alpha val="96000"/>
                  </a:schemeClr>
                </a:gs>
                <a:gs pos="63000">
                  <a:schemeClr val="bg1">
                    <a:alpha val="94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53500" y="635635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" y="4"/>
            <a:ext cx="12191986" cy="685799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7000"/>
                  <a:lumOff val="13000"/>
                  <a:alpha val="58000"/>
                </a:schemeClr>
              </a:gs>
              <a:gs pos="31000">
                <a:schemeClr val="bg1"/>
              </a:gs>
              <a:gs pos="63000">
                <a:schemeClr val="bg1">
                  <a:alpha val="9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sz="quarter" idx="13" hasCustomPrompt="1"/>
          </p:nvPr>
        </p:nvSpPr>
        <p:spPr>
          <a:xfrm>
            <a:off x="482600" y="1182685"/>
            <a:ext cx="11214100" cy="30876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/>
              <a:t>插入图片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350" y="260580"/>
            <a:ext cx="10534649" cy="636129"/>
          </a:xfrm>
        </p:spPr>
        <p:txBody>
          <a:bodyPr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" y="250033"/>
            <a:ext cx="514350" cy="6572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4"/>
          </p:nvPr>
        </p:nvSpPr>
        <p:spPr>
          <a:xfrm>
            <a:off x="482600" y="4478338"/>
            <a:ext cx="11214100" cy="1878008"/>
          </a:xfrm>
        </p:spPr>
        <p:txBody>
          <a:bodyPr>
            <a:norm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53500" y="635635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" y="4"/>
            <a:ext cx="12191986" cy="685799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7000"/>
                  <a:lumOff val="13000"/>
                  <a:alpha val="58000"/>
                </a:schemeClr>
              </a:gs>
              <a:gs pos="31000">
                <a:schemeClr val="bg1"/>
              </a:gs>
              <a:gs pos="63000">
                <a:schemeClr val="bg1">
                  <a:alpha val="9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sz="quarter" idx="13" hasCustomPrompt="1"/>
          </p:nvPr>
        </p:nvSpPr>
        <p:spPr>
          <a:xfrm>
            <a:off x="482600" y="2044700"/>
            <a:ext cx="11214100" cy="222567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/>
              <a:t>插入图片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350" y="260580"/>
            <a:ext cx="10534649" cy="636129"/>
          </a:xfrm>
        </p:spPr>
        <p:txBody>
          <a:bodyPr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" y="250033"/>
            <a:ext cx="514350" cy="6572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4"/>
          </p:nvPr>
        </p:nvSpPr>
        <p:spPr>
          <a:xfrm>
            <a:off x="482600" y="4478338"/>
            <a:ext cx="11214100" cy="1878008"/>
          </a:xfrm>
        </p:spPr>
        <p:txBody>
          <a:bodyPr>
            <a:norm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53500" y="635635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内容占位符 14"/>
          <p:cNvSpPr>
            <a:spLocks noGrp="1"/>
          </p:cNvSpPr>
          <p:nvPr>
            <p:ph sz="quarter" idx="16" hasCustomPrompt="1"/>
          </p:nvPr>
        </p:nvSpPr>
        <p:spPr>
          <a:xfrm>
            <a:off x="3063875" y="1291297"/>
            <a:ext cx="6064251" cy="5302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zh-CN" altLang="en-US" dirty="0"/>
              <a:t>填写你的图表标题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13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 userDrawn="1"/>
        </p:nvSpPr>
        <p:spPr>
          <a:xfrm>
            <a:off x="334963" y="6375983"/>
            <a:ext cx="2297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厚德博学 经济匡时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FB6C8-7C8F-4A07-82BA-70423D8EE85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15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 userDrawn="1"/>
        </p:nvSpPr>
        <p:spPr>
          <a:xfrm>
            <a:off x="334963" y="6375983"/>
            <a:ext cx="2297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厚德博学 经济匡时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C6AF6-5D85-4AD2-B3D4-79C8979C95DC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青岛网站建设_小程序开发_品牌设计_圭谷设计平面作品"/>
          <p:cNvPicPr>
            <a:picLocks noChangeAspect="1" noChangeArrowheads="1"/>
          </p:cNvPicPr>
          <p:nvPr userDrawn="1"/>
        </p:nvPicPr>
        <p:blipFill rotWithShape="1">
          <a:blip r:embed="rId13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32908" r="15798" b="39328"/>
          <a:stretch>
            <a:fillRect/>
          </a:stretch>
        </p:blipFill>
        <p:spPr bwMode="auto">
          <a:xfrm>
            <a:off x="9315583" y="135936"/>
            <a:ext cx="2698176" cy="6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 userDrawn="1"/>
        </p:nvSpPr>
        <p:spPr>
          <a:xfrm>
            <a:off x="334963" y="6375983"/>
            <a:ext cx="2297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厚德博学 经济匡时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24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9.jpe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18.210.18.104:8081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流程图: 文档 13"/>
          <p:cNvSpPr/>
          <p:nvPr/>
        </p:nvSpPr>
        <p:spPr>
          <a:xfrm>
            <a:off x="-64694" y="-28784"/>
            <a:ext cx="12289914" cy="384971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27" b="25427"/>
          <a:stretch>
            <a:fillRect/>
          </a:stretch>
        </p:blipFill>
        <p:spPr>
          <a:xfrm>
            <a:off x="-64694" y="-28783"/>
            <a:ext cx="12289914" cy="3691902"/>
          </a:xfrm>
          <a:prstGeom prst="flowChartDocumen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767755" y="6046385"/>
            <a:ext cx="6405246" cy="688298"/>
            <a:chOff x="1767755" y="5835880"/>
            <a:chExt cx="5594198" cy="601865"/>
          </a:xfrm>
        </p:grpSpPr>
        <p:sp>
          <p:nvSpPr>
            <p:cNvPr id="30" name="矩形: 圆角 29"/>
            <p:cNvSpPr/>
            <p:nvPr/>
          </p:nvSpPr>
          <p:spPr>
            <a:xfrm>
              <a:off x="1767755" y="5835880"/>
              <a:ext cx="2273210" cy="463012"/>
            </a:xfrm>
            <a:prstGeom prst="roundRect">
              <a:avLst>
                <a:gd name="adj" fmla="val 22153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824324" y="5873601"/>
              <a:ext cx="5537629" cy="5641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spc="200" dirty="0">
                  <a:solidFill>
                    <a:prstClr val="white"/>
                  </a:solidFill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  <a:sym typeface="+mn-ea"/>
                </a:rPr>
                <a:t>小组成员：王雪洋</a:t>
              </a:r>
              <a:r>
                <a:rPr lang="en-US" altLang="zh-CN" b="1" spc="200" dirty="0">
                  <a:solidFill>
                    <a:prstClr val="white"/>
                  </a:solidFill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  <a:sym typeface="+mn-ea"/>
                </a:rPr>
                <a:t> </a:t>
              </a:r>
              <a:r>
                <a:rPr lang="zh-CN" altLang="en-US" b="1" spc="200" dirty="0">
                  <a:solidFill>
                    <a:prstClr val="white"/>
                  </a:solidFill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  <a:sym typeface="+mn-ea"/>
                </a:rPr>
                <a:t>路毅</a:t>
              </a:r>
              <a:r>
                <a:rPr lang="en-US" altLang="zh-CN" b="1" spc="200" dirty="0">
                  <a:solidFill>
                    <a:prstClr val="white"/>
                  </a:solidFill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  <a:sym typeface="+mn-ea"/>
                </a:rPr>
                <a:t> </a:t>
              </a:r>
              <a:r>
                <a:rPr lang="zh-CN" altLang="en-US" b="1" spc="200" dirty="0">
                  <a:solidFill>
                    <a:prstClr val="white"/>
                  </a:solidFill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  <a:sym typeface="+mn-ea"/>
                </a:rPr>
                <a:t>廖闻</a:t>
              </a:r>
              <a:r>
                <a:rPr lang="en-US" altLang="zh-CN" b="1" spc="200" dirty="0">
                  <a:solidFill>
                    <a:prstClr val="white"/>
                  </a:solidFill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  <a:sym typeface="+mn-ea"/>
                </a:rPr>
                <a:t> </a:t>
              </a:r>
              <a:r>
                <a:rPr lang="zh-CN" altLang="en-US" b="1" spc="200" dirty="0">
                  <a:solidFill>
                    <a:prstClr val="white"/>
                  </a:solidFill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  <a:sym typeface="+mn-ea"/>
                </a:rPr>
                <a:t>陈佩瑶</a:t>
              </a:r>
              <a:r>
                <a:rPr lang="en-US" altLang="zh-CN" b="1" spc="200" dirty="0">
                  <a:solidFill>
                    <a:prstClr val="white"/>
                  </a:solidFill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  <a:sym typeface="+mn-ea"/>
                </a:rPr>
                <a:t> </a:t>
              </a:r>
              <a:r>
                <a:rPr lang="zh-CN" altLang="en-US" b="1" spc="200" dirty="0">
                  <a:solidFill>
                    <a:prstClr val="white"/>
                  </a:solidFill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  <a:sym typeface="+mn-ea"/>
                </a:rPr>
                <a:t>崔婧莹</a:t>
              </a:r>
              <a:endParaRPr lang="zh-CN" altLang="en-US" b="1" spc="200" dirty="0">
                <a:solidFill>
                  <a:prstClr val="white"/>
                </a:solidFill>
                <a:latin typeface="Calibri Light" panose="020F0302020204030204" pitchFamily="34" charset="0"/>
                <a:ea typeface="思源黑体 CN Light"/>
                <a:cs typeface="Segoe UI Light" panose="020B0502040204020203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034280" y="5974403"/>
            <a:ext cx="2552077" cy="601081"/>
            <a:chOff x="8333639" y="5835880"/>
            <a:chExt cx="2552076" cy="463012"/>
          </a:xfrm>
        </p:grpSpPr>
        <p:sp>
          <p:nvSpPr>
            <p:cNvPr id="32" name="矩形: 圆角 31"/>
            <p:cNvSpPr/>
            <p:nvPr/>
          </p:nvSpPr>
          <p:spPr>
            <a:xfrm>
              <a:off x="8473071" y="5835880"/>
              <a:ext cx="2273210" cy="463012"/>
            </a:xfrm>
            <a:prstGeom prst="roundRect">
              <a:avLst>
                <a:gd name="adj" fmla="val 22153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cs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333639" y="5925535"/>
              <a:ext cx="2552076" cy="2837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cs typeface="+mn-cs"/>
                </a:rPr>
                <a:t>日期：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cs typeface="+mn-cs"/>
                </a:rPr>
                <a:t>2025-10-16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cs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220" y="4279427"/>
            <a:ext cx="12192000" cy="1538872"/>
            <a:chOff x="48986" y="2017614"/>
            <a:chExt cx="12192000" cy="1538872"/>
          </a:xfrm>
        </p:grpSpPr>
        <p:sp>
          <p:nvSpPr>
            <p:cNvPr id="35" name="文本框 34"/>
            <p:cNvSpPr txBox="1"/>
            <p:nvPr/>
          </p:nvSpPr>
          <p:spPr>
            <a:xfrm>
              <a:off x="48986" y="2017614"/>
              <a:ext cx="12192000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0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20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数据结构教学平台</a:t>
              </a: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2403148" y="3096111"/>
              <a:ext cx="7485351" cy="460375"/>
              <a:chOff x="2386819" y="2109134"/>
              <a:chExt cx="7485351" cy="460375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3465444" y="2109134"/>
                <a:ext cx="532642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b="1" spc="200" dirty="0">
                    <a:solidFill>
                      <a:prstClr val="white"/>
                    </a:solidFill>
                    <a:latin typeface="Calibri Light" panose="020F0302020204030204" pitchFamily="34" charset="0"/>
                    <a:ea typeface="思源黑体 CN Light"/>
                    <a:cs typeface="Segoe UI Light" panose="020B0502040204020203" pitchFamily="34" charset="0"/>
                  </a:rPr>
                  <a:t>高级软件工程第一次汇报</a:t>
                </a:r>
              </a:p>
            </p:txBody>
          </p:sp>
          <p:cxnSp>
            <p:nvCxnSpPr>
              <p:cNvPr id="38" name="直接连接符 37"/>
              <p:cNvCxnSpPr/>
              <p:nvPr/>
            </p:nvCxnSpPr>
            <p:spPr>
              <a:xfrm>
                <a:off x="9217802" y="2397007"/>
                <a:ext cx="654368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2386819" y="2397008"/>
                <a:ext cx="612775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381" y="3392057"/>
            <a:ext cx="2598291" cy="897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3"/>
            <a:ext cx="12192000" cy="6858000"/>
          </a:xfrm>
        </p:spPr>
      </p:pic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415539" y="3372895"/>
            <a:ext cx="7594073" cy="2858957"/>
            <a:chOff x="2731093" y="3012855"/>
            <a:chExt cx="7594073" cy="2858957"/>
          </a:xfrm>
        </p:grpSpPr>
        <p:sp>
          <p:nvSpPr>
            <p:cNvPr id="26" name="矩形 25"/>
            <p:cNvSpPr/>
            <p:nvPr>
              <p:custDataLst>
                <p:tags r:id="rId2"/>
              </p:custDataLst>
            </p:nvPr>
          </p:nvSpPr>
          <p:spPr bwMode="auto">
            <a:xfrm>
              <a:off x="2731093" y="3024422"/>
              <a:ext cx="684076" cy="684076"/>
            </a:xfrm>
            <a:prstGeom prst="rect">
              <a:avLst/>
            </a:prstGeom>
            <a:solidFill>
              <a:srgbClr val="003E87"/>
            </a:solidFill>
            <a:ln w="28575" cap="flat" cmpd="sng" algn="ctr">
              <a:solidFill>
                <a:srgbClr val="003E87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44" name="Rectangle 73"/>
            <p:cNvSpPr/>
            <p:nvPr>
              <p:custDataLst>
                <p:tags r:id="rId3"/>
              </p:custDataLst>
            </p:nvPr>
          </p:nvSpPr>
          <p:spPr>
            <a:xfrm>
              <a:off x="3415169" y="3012855"/>
              <a:ext cx="2874644" cy="213517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+mn-lt"/>
                </a:rPr>
                <a:t>项目背景</a:t>
              </a:r>
            </a:p>
          </p:txBody>
        </p:sp>
        <p:sp>
          <p:nvSpPr>
            <p:cNvPr id="42" name="Rectangle 73"/>
            <p:cNvSpPr/>
            <p:nvPr>
              <p:custDataLst>
                <p:tags r:id="rId4"/>
              </p:custDataLst>
            </p:nvPr>
          </p:nvSpPr>
          <p:spPr>
            <a:xfrm>
              <a:off x="3415169" y="4106078"/>
              <a:ext cx="2996385" cy="305809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A5A5A5"/>
                  </a:solidFill>
                  <a:cs typeface="+mn-ea"/>
                  <a:sym typeface="+mn-lt"/>
                </a:rPr>
                <a:t>需求分析</a:t>
              </a:r>
            </a:p>
          </p:txBody>
        </p:sp>
        <p:sp>
          <p:nvSpPr>
            <p:cNvPr id="40" name="Rectangle 73"/>
            <p:cNvSpPr/>
            <p:nvPr>
              <p:custDataLst>
                <p:tags r:id="rId5"/>
              </p:custDataLst>
            </p:nvPr>
          </p:nvSpPr>
          <p:spPr>
            <a:xfrm>
              <a:off x="3415166" y="5199300"/>
              <a:ext cx="2996385" cy="285977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4472C4"/>
                  </a:solidFill>
                  <a:cs typeface="+mn-ea"/>
                  <a:sym typeface="+mn-lt"/>
                </a:rPr>
                <a:t>小组分工</a:t>
              </a:r>
            </a:p>
          </p:txBody>
        </p:sp>
        <p:sp>
          <p:nvSpPr>
            <p:cNvPr id="38" name="Rectangle 73"/>
            <p:cNvSpPr/>
            <p:nvPr>
              <p:custDataLst>
                <p:tags r:id="rId6"/>
              </p:custDataLst>
            </p:nvPr>
          </p:nvSpPr>
          <p:spPr>
            <a:xfrm>
              <a:off x="7326849" y="3012855"/>
              <a:ext cx="2998313" cy="299229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ED7D31"/>
                  </a:solidFill>
                  <a:cs typeface="+mn-ea"/>
                  <a:sym typeface="+mn-lt"/>
                </a:rPr>
                <a:t>初步部署</a:t>
              </a:r>
            </a:p>
          </p:txBody>
        </p:sp>
        <p:sp>
          <p:nvSpPr>
            <p:cNvPr id="36" name="Rectangle 73"/>
            <p:cNvSpPr/>
            <p:nvPr>
              <p:custDataLst>
                <p:tags r:id="rId7"/>
              </p:custDataLst>
            </p:nvPr>
          </p:nvSpPr>
          <p:spPr>
            <a:xfrm>
              <a:off x="7326852" y="4106078"/>
              <a:ext cx="2998314" cy="246221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FFC000"/>
                  </a:solidFill>
                  <a:cs typeface="+mn-ea"/>
                  <a:sym typeface="+mn-lt"/>
                </a:rPr>
                <a:t>功能设计</a:t>
              </a:r>
            </a:p>
          </p:txBody>
        </p:sp>
        <p:sp>
          <p:nvSpPr>
            <p:cNvPr id="32" name="矩形 31"/>
            <p:cNvSpPr/>
            <p:nvPr>
              <p:custDataLst>
                <p:tags r:id="rId8"/>
              </p:custDataLst>
            </p:nvPr>
          </p:nvSpPr>
          <p:spPr bwMode="auto">
            <a:xfrm>
              <a:off x="2731093" y="4106078"/>
              <a:ext cx="684076" cy="684076"/>
            </a:xfrm>
            <a:prstGeom prst="rect">
              <a:avLst/>
            </a:prstGeom>
            <a:solidFill>
              <a:schemeClr val="accent3"/>
            </a:solidFill>
            <a:ln w="28575" cap="flat" cmpd="sng" algn="ctr">
              <a:solidFill>
                <a:schemeClr val="accent3">
                  <a:lumMod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9"/>
              </p:custDataLst>
            </p:nvPr>
          </p:nvSpPr>
          <p:spPr bwMode="auto">
            <a:xfrm>
              <a:off x="2731093" y="5187736"/>
              <a:ext cx="684076" cy="684076"/>
            </a:xfrm>
            <a:prstGeom prst="rect">
              <a:avLst/>
            </a:prstGeom>
            <a:solidFill>
              <a:schemeClr val="accent5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10"/>
              </p:custDataLst>
            </p:nvPr>
          </p:nvSpPr>
          <p:spPr bwMode="auto">
            <a:xfrm>
              <a:off x="6642774" y="3024422"/>
              <a:ext cx="684076" cy="684076"/>
            </a:xfrm>
            <a:prstGeom prst="rect">
              <a:avLst/>
            </a:prstGeom>
            <a:solidFill>
              <a:srgbClr val="ED7D3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11"/>
              </p:custDataLst>
            </p:nvPr>
          </p:nvSpPr>
          <p:spPr bwMode="auto">
            <a:xfrm>
              <a:off x="6642774" y="4106078"/>
              <a:ext cx="684076" cy="684076"/>
            </a:xfrm>
            <a:prstGeom prst="rect">
              <a:avLst/>
            </a:prstGeom>
            <a:solidFill>
              <a:schemeClr val="accent4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5" b="21575"/>
          <a:stretch>
            <a:fillRect/>
          </a:stretch>
        </p:blipFill>
        <p:spPr>
          <a:xfrm>
            <a:off x="-3" y="9416"/>
            <a:ext cx="12192000" cy="2599197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119336" y="2188276"/>
            <a:ext cx="2982770" cy="952692"/>
            <a:chOff x="119336" y="1725785"/>
            <a:chExt cx="2982770" cy="952692"/>
          </a:xfrm>
        </p:grpSpPr>
        <p:grpSp>
          <p:nvGrpSpPr>
            <p:cNvPr id="48" name="组合 47"/>
            <p:cNvGrpSpPr/>
            <p:nvPr/>
          </p:nvGrpSpPr>
          <p:grpSpPr>
            <a:xfrm>
              <a:off x="119336" y="1797769"/>
              <a:ext cx="2982770" cy="880708"/>
              <a:chOff x="78885" y="1794976"/>
              <a:chExt cx="2833598" cy="621427"/>
            </a:xfrm>
          </p:grpSpPr>
          <p:sp>
            <p:nvSpPr>
              <p:cNvPr id="50" name="平行四边形 49"/>
              <p:cNvSpPr/>
              <p:nvPr/>
            </p:nvSpPr>
            <p:spPr bwMode="auto">
              <a:xfrm>
                <a:off x="181603" y="2044662"/>
                <a:ext cx="2730880" cy="360040"/>
              </a:xfrm>
              <a:prstGeom prst="parallelogram">
                <a:avLst>
                  <a:gd name="adj" fmla="val 76283"/>
                </a:avLst>
              </a:prstGeom>
              <a:solidFill>
                <a:srgbClr val="8C0807"/>
              </a:solidFill>
              <a:ln w="19050">
                <a:solidFill>
                  <a:srgbClr val="8C0807"/>
                </a:solidFill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 bwMode="auto">
              <a:xfrm>
                <a:off x="78885" y="1794976"/>
                <a:ext cx="2459596" cy="621427"/>
              </a:xfrm>
              <a:prstGeom prst="rect">
                <a:avLst/>
              </a:prstGeom>
              <a:solidFill>
                <a:srgbClr val="8C0807"/>
              </a:solidFill>
              <a:ln w="19050">
                <a:solidFill>
                  <a:srgbClr val="8C0807"/>
                </a:solidFill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396058" y="1725785"/>
              <a:ext cx="1925527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目 录</a:t>
              </a:r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10635827" y="6428534"/>
            <a:ext cx="1021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9336" y="631603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厚德博学 经济匡时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88326" y="1"/>
            <a:ext cx="4347841" cy="1132114"/>
            <a:chOff x="288326" y="1"/>
            <a:chExt cx="4347841" cy="1132114"/>
          </a:xfrm>
        </p:grpSpPr>
        <p:sp>
          <p:nvSpPr>
            <p:cNvPr id="2" name="矩形 1"/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88326" y="242892"/>
              <a:ext cx="8132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项目背景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sp>
        <p:nvSpPr>
          <p:cNvPr id="12" name="内容占位符 3"/>
          <p:cNvSpPr txBox="1"/>
          <p:nvPr/>
        </p:nvSpPr>
        <p:spPr>
          <a:xfrm>
            <a:off x="482600" y="1462405"/>
            <a:ext cx="11214100" cy="44234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just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数据结构作为计算机专业的核心课程之一，在程序设计、算法分析及系统开发中起着基础性作用。然而，传统的数据结构教学主要依赖于课本讲授和板书推导，学生在学习过程中常常面临以下问题：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·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抽象概念难理解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·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缺乏可视化学习工具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·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练习与理论脱节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项目整体目标是构建一个集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课程学习、可视化教学、练习评测、学习统计与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AI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辅助学习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于一体的综合性教学平台。通过该平台，学生不仅可以清晰地观察数据结构在不同操作下的变化过程，还能在练习与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AI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指导中不断巩固知识，实现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“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学、练、测、评、辅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一体化的智能学习体验。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88326" y="1"/>
            <a:ext cx="4347841" cy="1132114"/>
            <a:chOff x="288326" y="1"/>
            <a:chExt cx="4347841" cy="1132114"/>
          </a:xfrm>
        </p:grpSpPr>
        <p:sp>
          <p:nvSpPr>
            <p:cNvPr id="2" name="矩形 1"/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88326" y="242892"/>
              <a:ext cx="81327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初步部署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E4C518-A467-A4F0-5C60-9B3413647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07" y="1624170"/>
            <a:ext cx="9032020" cy="453307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2E319C6-8846-3ED8-7A0E-B70EC49023D9}"/>
              </a:ext>
            </a:extLst>
          </p:cNvPr>
          <p:cNvSpPr txBox="1"/>
          <p:nvPr/>
        </p:nvSpPr>
        <p:spPr>
          <a:xfrm>
            <a:off x="1611607" y="835262"/>
            <a:ext cx="535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云上链接：</a:t>
            </a:r>
            <a:r>
              <a:rPr lang="en-US" altLang="zh-CN" sz="2400" dirty="0">
                <a:hlinkClick r:id="rId3"/>
              </a:rPr>
              <a:t>http://18.210.18.104:8081/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788E4-9953-700B-409E-4C75B278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93C7441-0DB0-43D6-6198-5A4819A6A968}"/>
              </a:ext>
            </a:extLst>
          </p:cNvPr>
          <p:cNvGrpSpPr/>
          <p:nvPr/>
        </p:nvGrpSpPr>
        <p:grpSpPr>
          <a:xfrm>
            <a:off x="288326" y="1"/>
            <a:ext cx="4347841" cy="1132114"/>
            <a:chOff x="288326" y="1"/>
            <a:chExt cx="4347841" cy="113211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50B0B6F-0EA2-4522-6F19-FD9525A14F4F}"/>
                </a:ext>
              </a:extLst>
            </p:cNvPr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4E282E0-13AE-7FAD-68F7-37D35F7FC89A}"/>
                </a:ext>
              </a:extLst>
            </p:cNvPr>
            <p:cNvSpPr txBox="1"/>
            <p:nvPr/>
          </p:nvSpPr>
          <p:spPr>
            <a:xfrm>
              <a:off x="288326" y="242892"/>
              <a:ext cx="81327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2847CB35-338F-DB2F-2B93-D70D5C807E58}"/>
                </a:ext>
              </a:extLst>
            </p:cNvPr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初步部署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5DFC7F71-1073-1E3D-8FCB-8A89B1843FEC}"/>
              </a:ext>
            </a:extLst>
          </p:cNvPr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76130A-A5A5-782D-0B6F-0D077DEF6A19}"/>
              </a:ext>
            </a:extLst>
          </p:cNvPr>
          <p:cNvSpPr txBox="1"/>
          <p:nvPr/>
        </p:nvSpPr>
        <p:spPr>
          <a:xfrm>
            <a:off x="1611607" y="835262"/>
            <a:ext cx="4029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&gt;&gt;&gt;</a:t>
            </a:r>
            <a:r>
              <a:rPr lang="zh-CN" altLang="en-US" sz="2400" dirty="0"/>
              <a:t>首页界面展示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C92D84D-5449-FF51-CF3E-79FCED9F9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07" y="1468677"/>
            <a:ext cx="9381250" cy="468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9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C204-EE59-6983-22D6-454ACF87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BFDE76-0461-8923-3253-8900AB8D0E1D}"/>
              </a:ext>
            </a:extLst>
          </p:cNvPr>
          <p:cNvGrpSpPr/>
          <p:nvPr/>
        </p:nvGrpSpPr>
        <p:grpSpPr>
          <a:xfrm>
            <a:off x="288326" y="1"/>
            <a:ext cx="4347841" cy="1132114"/>
            <a:chOff x="288326" y="1"/>
            <a:chExt cx="4347841" cy="113211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106A7A6-F46A-22D6-9EB8-4890BEECE6E3}"/>
                </a:ext>
              </a:extLst>
            </p:cNvPr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B4DEDCF-E133-0CA4-1C18-BC9FC7606022}"/>
                </a:ext>
              </a:extLst>
            </p:cNvPr>
            <p:cNvSpPr txBox="1"/>
            <p:nvPr/>
          </p:nvSpPr>
          <p:spPr>
            <a:xfrm>
              <a:off x="288326" y="242892"/>
              <a:ext cx="81327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ABE82AC-09CA-709B-CE1C-0B468F3C122A}"/>
                </a:ext>
              </a:extLst>
            </p:cNvPr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初步部署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AE31CFE0-0241-3051-E86E-EAD7EC959C83}"/>
              </a:ext>
            </a:extLst>
          </p:cNvPr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3D3125-5A35-DE06-5036-62714F9586DA}"/>
              </a:ext>
            </a:extLst>
          </p:cNvPr>
          <p:cNvSpPr txBox="1"/>
          <p:nvPr/>
        </p:nvSpPr>
        <p:spPr>
          <a:xfrm>
            <a:off x="1611607" y="835262"/>
            <a:ext cx="4029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&gt;&gt;&gt;</a:t>
            </a:r>
            <a:r>
              <a:rPr lang="zh-CN" altLang="en-US" sz="2400" dirty="0"/>
              <a:t>个人空间模块展示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80D0DE-E2A1-22A2-ECE8-F986B4048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07" y="1462132"/>
            <a:ext cx="9396197" cy="456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91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E672A-2E4E-6262-FBA3-37BC98D01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E9C64471-9055-EAEB-624F-6847422FD440}"/>
              </a:ext>
            </a:extLst>
          </p:cNvPr>
          <p:cNvGrpSpPr/>
          <p:nvPr/>
        </p:nvGrpSpPr>
        <p:grpSpPr>
          <a:xfrm>
            <a:off x="288326" y="1"/>
            <a:ext cx="4347841" cy="1132114"/>
            <a:chOff x="288326" y="1"/>
            <a:chExt cx="4347841" cy="113211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E0FC493-BD06-F360-A743-F94E0312DB43}"/>
                </a:ext>
              </a:extLst>
            </p:cNvPr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4F730A3-E3DB-5F41-39A3-081049802F30}"/>
                </a:ext>
              </a:extLst>
            </p:cNvPr>
            <p:cNvSpPr txBox="1"/>
            <p:nvPr/>
          </p:nvSpPr>
          <p:spPr>
            <a:xfrm>
              <a:off x="288326" y="242892"/>
              <a:ext cx="81327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3C66907-0417-9C22-B170-E35A5ADE3D8D}"/>
                </a:ext>
              </a:extLst>
            </p:cNvPr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初步部署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A1BE2B6-1DC1-0DA5-B2CE-090DD1C0218C}"/>
              </a:ext>
            </a:extLst>
          </p:cNvPr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76C092-1F2E-74AC-91B9-54A5A4A52AD9}"/>
              </a:ext>
            </a:extLst>
          </p:cNvPr>
          <p:cNvSpPr txBox="1"/>
          <p:nvPr/>
        </p:nvSpPr>
        <p:spPr>
          <a:xfrm>
            <a:off x="1611607" y="835262"/>
            <a:ext cx="4029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&gt;&gt;&gt;</a:t>
            </a:r>
            <a:r>
              <a:rPr lang="zh-CN" altLang="en-US" sz="2400" dirty="0"/>
              <a:t>学习模块展示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89C67-B614-C590-36D0-89C675AF5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07" y="1478874"/>
            <a:ext cx="9294639" cy="439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1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8F54A-FA75-7A21-7DD5-BCE0379A0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C90FAD97-6E12-C203-E7EA-AB911297F938}"/>
              </a:ext>
            </a:extLst>
          </p:cNvPr>
          <p:cNvGrpSpPr/>
          <p:nvPr/>
        </p:nvGrpSpPr>
        <p:grpSpPr>
          <a:xfrm>
            <a:off x="288326" y="1"/>
            <a:ext cx="4347841" cy="1132114"/>
            <a:chOff x="288326" y="1"/>
            <a:chExt cx="4347841" cy="113211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EEDB773-1ECF-BA5F-F0F1-8D341AF8A76C}"/>
                </a:ext>
              </a:extLst>
            </p:cNvPr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25113EC-8556-7BA0-B89B-DC22AD9A96DF}"/>
                </a:ext>
              </a:extLst>
            </p:cNvPr>
            <p:cNvSpPr txBox="1"/>
            <p:nvPr/>
          </p:nvSpPr>
          <p:spPr>
            <a:xfrm>
              <a:off x="288326" y="242892"/>
              <a:ext cx="81327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9859D4C-2E68-44F7-347B-BDE1F880FF6E}"/>
                </a:ext>
              </a:extLst>
            </p:cNvPr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初步部署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A03E16B5-E4F3-DFE8-53EC-93E441CA39FC}"/>
              </a:ext>
            </a:extLst>
          </p:cNvPr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EB79B3-7715-D2D2-7B13-F71617BE9EC0}"/>
              </a:ext>
            </a:extLst>
          </p:cNvPr>
          <p:cNvSpPr txBox="1"/>
          <p:nvPr/>
        </p:nvSpPr>
        <p:spPr>
          <a:xfrm>
            <a:off x="1611607" y="835262"/>
            <a:ext cx="4029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&gt;&gt;&gt;</a:t>
            </a:r>
            <a:r>
              <a:rPr lang="zh-CN" altLang="en-US" sz="2400" dirty="0"/>
              <a:t>练习模块展示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60BA6B-3282-CF17-4C75-0643AAD7A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07" y="1471326"/>
            <a:ext cx="9659815" cy="455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87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DC689-1F25-333F-D01F-718180503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3A9D70C-E2FA-22CA-B481-A88236E3ACC4}"/>
              </a:ext>
            </a:extLst>
          </p:cNvPr>
          <p:cNvGrpSpPr/>
          <p:nvPr/>
        </p:nvGrpSpPr>
        <p:grpSpPr>
          <a:xfrm>
            <a:off x="288326" y="1"/>
            <a:ext cx="4347841" cy="1132114"/>
            <a:chOff x="288326" y="1"/>
            <a:chExt cx="4347841" cy="113211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C6B2841-F100-4CA3-B334-B21BACC3848C}"/>
                </a:ext>
              </a:extLst>
            </p:cNvPr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B6E0273-E2EE-DCBE-F5B6-3576963DEB23}"/>
                </a:ext>
              </a:extLst>
            </p:cNvPr>
            <p:cNvSpPr txBox="1"/>
            <p:nvPr/>
          </p:nvSpPr>
          <p:spPr>
            <a:xfrm>
              <a:off x="288326" y="242892"/>
              <a:ext cx="81327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4DBA7DF-7580-A552-20AE-9C859DC621AA}"/>
                </a:ext>
              </a:extLst>
            </p:cNvPr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初步部署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BCDA5A4B-85A3-FFFF-5565-FE84A73EF13C}"/>
              </a:ext>
            </a:extLst>
          </p:cNvPr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0485D9-8F8F-5ED3-4213-26EE5C1D945C}"/>
              </a:ext>
            </a:extLst>
          </p:cNvPr>
          <p:cNvSpPr txBox="1"/>
          <p:nvPr/>
        </p:nvSpPr>
        <p:spPr>
          <a:xfrm>
            <a:off x="1611607" y="835262"/>
            <a:ext cx="4029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&gt;&gt;&gt;</a:t>
            </a:r>
            <a:r>
              <a:rPr lang="zh-CN" altLang="en-US" sz="2400" dirty="0"/>
              <a:t>好友模块展示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ED3AC69-A9E8-92C1-96FB-BF4B2F473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07" y="1344770"/>
            <a:ext cx="9818354" cy="467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21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88326" y="1"/>
            <a:ext cx="4347841" cy="1132114"/>
            <a:chOff x="288326" y="1"/>
            <a:chExt cx="4347841" cy="1132114"/>
          </a:xfrm>
        </p:grpSpPr>
        <p:sp>
          <p:nvSpPr>
            <p:cNvPr id="2" name="矩形 1"/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88326" y="242892"/>
              <a:ext cx="81327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需求分析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1292225" y="1487805"/>
            <a:ext cx="4742180" cy="4560574"/>
            <a:chOff x="3624780" y="2412339"/>
            <a:chExt cx="8025955" cy="845926"/>
          </a:xfrm>
        </p:grpSpPr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3624780" y="2412339"/>
              <a:ext cx="2133780" cy="7396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/>
              <a:r>
                <a:rPr lang="zh-CN" altLang="en-US" sz="2000" b="1" dirty="0">
                  <a:solidFill>
                    <a:srgbClr val="8C1515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学习模块</a:t>
              </a:r>
            </a:p>
          </p:txBody>
        </p:sp>
        <p:sp>
          <p:nvSpPr>
            <p:cNvPr id="15" name="文本框 14"/>
            <p:cNvSpPr txBox="1"/>
            <p:nvPr>
              <p:custDataLst>
                <p:tags r:id="rId6"/>
              </p:custDataLst>
            </p:nvPr>
          </p:nvSpPr>
          <p:spPr>
            <a:xfrm>
              <a:off x="3624780" y="2486190"/>
              <a:ext cx="8025955" cy="772075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搜索功能优化</a:t>
              </a:r>
              <a:endParaRPr lang="en-US" altLang="zh-CN" sz="14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支持模糊搜索、拼音首字母搜索。</a:t>
              </a:r>
              <a:endParaRPr lang="zh-CN" altLang="en-US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搜索结果中展示相关课程、算法动画、练习题。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添加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“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热门搜索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”“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最近搜索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”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标签。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代码同步演示</a:t>
              </a:r>
              <a:endParaRPr lang="en-US" altLang="zh-CN" sz="14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在动画播放时高亮当前执行的伪代码或真实代码行。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支持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“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单步执行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”“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暂停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/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快进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”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控制，帮助学生理解算法执行过程。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提供代码与可视化同步对照图（左侧动画，右侧代码）。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算法复杂度展示</a:t>
              </a:r>
              <a:endParaRPr lang="en-US" altLang="zh-CN" sz="14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在每个算法学习界面自动显示时间复杂度、空间复杂度，并提供简短解释（例如为什么快速排序平均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 O(nlogn)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）。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可增加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“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不同输入规模的运行时间对比图表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”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。</a:t>
              </a:r>
              <a:endParaRPr lang="zh-CN" altLang="en-US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endParaRPr lang="zh-CN" altLang="en-US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>
            <a:off x="6476365" y="1487805"/>
            <a:ext cx="4742180" cy="4561206"/>
            <a:chOff x="3624780" y="2412339"/>
            <a:chExt cx="8025955" cy="841675"/>
          </a:xfrm>
        </p:grpSpPr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3624780" y="2412339"/>
              <a:ext cx="2133780" cy="7358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/>
              <a:r>
                <a:rPr lang="zh-CN" altLang="en-US" sz="2000" b="1" dirty="0">
                  <a:solidFill>
                    <a:srgbClr val="8C1515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练习模块</a:t>
              </a:r>
            </a:p>
          </p:txBody>
        </p:sp>
        <p:sp>
          <p:nvSpPr>
            <p:cNvPr id="18" name="文本框 17"/>
            <p:cNvSpPr txBox="1"/>
            <p:nvPr>
              <p:custDataLst>
                <p:tags r:id="rId4"/>
              </p:custDataLst>
            </p:nvPr>
          </p:nvSpPr>
          <p:spPr>
            <a:xfrm>
              <a:off x="3624780" y="2506080"/>
              <a:ext cx="8025955" cy="747934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在线算法题库</a:t>
              </a: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每个数据结构（栈、队列、树、图）附带几道经典题。</a:t>
              </a: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提供测试用例，学生提交代码后系统评测。</a:t>
              </a: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错题本功能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自动记录错误题目、错误原因，支持重新练习。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学习进度分析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统计不同章节的完成度、练习正确率，用图表展示（例如雷达图或柱状图）。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196361" y="778889"/>
            <a:ext cx="2589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新增功能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88326" y="1"/>
            <a:ext cx="4347841" cy="1147188"/>
            <a:chOff x="288326" y="1"/>
            <a:chExt cx="4347841" cy="1147188"/>
          </a:xfrm>
        </p:grpSpPr>
        <p:sp>
          <p:nvSpPr>
            <p:cNvPr id="2" name="矩形 1"/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88326" y="242892"/>
              <a:ext cx="81327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需求分析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96361" y="778889"/>
              <a:ext cx="258957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新增功能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1292225" y="1487805"/>
            <a:ext cx="4742180" cy="4560574"/>
            <a:chOff x="3624780" y="2412339"/>
            <a:chExt cx="8025955" cy="845926"/>
          </a:xfrm>
        </p:grpSpPr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3624780" y="2412339"/>
              <a:ext cx="3591690" cy="7396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/>
              <a:r>
                <a:rPr lang="zh-CN" altLang="en-US" sz="2000" b="1" dirty="0">
                  <a:solidFill>
                    <a:srgbClr val="8C1515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个人空间模块</a:t>
              </a:r>
            </a:p>
          </p:txBody>
        </p:sp>
        <p:sp>
          <p:nvSpPr>
            <p:cNvPr id="15" name="文本框 14"/>
            <p:cNvSpPr txBox="1"/>
            <p:nvPr>
              <p:custDataLst>
                <p:tags r:id="rId6"/>
              </p:custDataLst>
            </p:nvPr>
          </p:nvSpPr>
          <p:spPr>
            <a:xfrm>
              <a:off x="3624780" y="2486190"/>
              <a:ext cx="8025955" cy="772075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学习成就系统</a:t>
              </a:r>
              <a:endParaRPr lang="en-US" altLang="zh-CN" sz="14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设置勋章：如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“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完成排序章节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”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、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“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连续学习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7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天</a:t>
              </a:r>
              <a:r>
                <a:rPr lang="en-US" altLang="zh-CN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”</a:t>
              </a: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等。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在个人空间展示学习徽章、等级。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学习曲线图</a:t>
              </a:r>
              <a:endParaRPr lang="en-US" altLang="zh-CN" sz="14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展示一段时间内学习活跃度、正确率趋势。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收藏与笔记功能</a:t>
              </a:r>
              <a:endParaRPr lang="en-US" altLang="zh-CN" sz="14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学生可以收藏动画、课程，并添加学习笔记。</a:t>
              </a:r>
            </a:p>
          </p:txBody>
        </p:sp>
      </p:grp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>
            <a:off x="6476365" y="1487805"/>
            <a:ext cx="4742180" cy="4561201"/>
            <a:chOff x="3624780" y="2412339"/>
            <a:chExt cx="8025955" cy="841674"/>
          </a:xfrm>
        </p:grpSpPr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3624780" y="2412339"/>
              <a:ext cx="3628230" cy="7358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/>
              <a:r>
                <a:rPr lang="zh-CN" altLang="en-US" sz="2000" b="1" dirty="0">
                  <a:solidFill>
                    <a:srgbClr val="8C1515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好友与社区模块</a:t>
              </a:r>
            </a:p>
          </p:txBody>
        </p:sp>
        <p:sp>
          <p:nvSpPr>
            <p:cNvPr id="18" name="文本框 17"/>
            <p:cNvSpPr txBox="1"/>
            <p:nvPr>
              <p:custDataLst>
                <p:tags r:id="rId4"/>
              </p:custDataLst>
            </p:nvPr>
          </p:nvSpPr>
          <p:spPr>
            <a:xfrm>
              <a:off x="3624780" y="2485808"/>
              <a:ext cx="8025955" cy="768205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讨论区</a:t>
              </a:r>
              <a:r>
                <a:rPr lang="en-US" altLang="zh-CN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/ </a:t>
              </a: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评论区</a:t>
              </a:r>
              <a:endParaRPr lang="en-US" altLang="zh-CN" sz="14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每个算法下方增加评论区，可交流理解与疑问。</a:t>
              </a: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支持点赞、回复等互动。</a:t>
              </a:r>
              <a:endPara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排行榜功能</a:t>
              </a:r>
              <a:endParaRPr lang="en-US" altLang="zh-CN" sz="14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just" defTabSz="4572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根据练习完成度、学习时长、成就点数展示排名。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88326" y="1"/>
            <a:ext cx="4347841" cy="1132114"/>
            <a:chOff x="288326" y="1"/>
            <a:chExt cx="4347841" cy="1132114"/>
          </a:xfrm>
        </p:grpSpPr>
        <p:sp>
          <p:nvSpPr>
            <p:cNvPr id="2" name="矩形 1"/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88326" y="242892"/>
              <a:ext cx="81327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功能设计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755"/>
          <a:stretch>
            <a:fillRect/>
          </a:stretch>
        </p:blipFill>
        <p:spPr>
          <a:xfrm>
            <a:off x="3027680" y="1460500"/>
            <a:ext cx="4940935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88326" y="1"/>
            <a:ext cx="4347841" cy="1132114"/>
            <a:chOff x="288326" y="1"/>
            <a:chExt cx="4347841" cy="1132114"/>
          </a:xfrm>
        </p:grpSpPr>
        <p:sp>
          <p:nvSpPr>
            <p:cNvPr id="2" name="矩形 1"/>
            <p:cNvSpPr/>
            <p:nvPr/>
          </p:nvSpPr>
          <p:spPr>
            <a:xfrm>
              <a:off x="334963" y="1"/>
              <a:ext cx="742723" cy="1132114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  <a:effectLst>
              <a:outerShdw blurRad="3302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C1515"/>
                </a:solidFill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88326" y="242892"/>
              <a:ext cx="81327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125512" y="203854"/>
              <a:ext cx="35106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8C15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小组分工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906285" y="6437539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Oct 16th</a:t>
            </a:r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B42EB2B4-CBB9-4CA5-9B32-BD3B68A1D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723915"/>
              </p:ext>
            </p:extLst>
          </p:nvPr>
        </p:nvGraphicFramePr>
        <p:xfrm>
          <a:off x="694267" y="1989664"/>
          <a:ext cx="10515599" cy="34899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62213501"/>
                    </a:ext>
                  </a:extLst>
                </a:gridCol>
                <a:gridCol w="2446866">
                  <a:extLst>
                    <a:ext uri="{9D8B030D-6E8A-4147-A177-3AD203B41FA5}">
                      <a16:colId xmlns:a16="http://schemas.microsoft.com/office/drawing/2014/main" val="2623856799"/>
                    </a:ext>
                  </a:extLst>
                </a:gridCol>
                <a:gridCol w="3115734">
                  <a:extLst>
                    <a:ext uri="{9D8B030D-6E8A-4147-A177-3AD203B41FA5}">
                      <a16:colId xmlns:a16="http://schemas.microsoft.com/office/drawing/2014/main" val="1738284489"/>
                    </a:ext>
                  </a:extLst>
                </a:gridCol>
                <a:gridCol w="2319866">
                  <a:extLst>
                    <a:ext uri="{9D8B030D-6E8A-4147-A177-3AD203B41FA5}">
                      <a16:colId xmlns:a16="http://schemas.microsoft.com/office/drawing/2014/main" val="324800110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2040905212"/>
                    </a:ext>
                  </a:extLst>
                </a:gridCol>
              </a:tblGrid>
              <a:tr h="372536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成员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职责</a:t>
                      </a:r>
                      <a:endParaRPr lang="zh-CN" altLang="en-US" sz="1600" dirty="0"/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当前进展</a:t>
                      </a:r>
                      <a:endParaRPr lang="zh-CN" altLang="en-US" sz="1600" dirty="0"/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下一步任务</a:t>
                      </a:r>
                      <a:endParaRPr lang="zh-CN" altLang="en-US" sz="1600" dirty="0"/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400"/>
                        <a:t>贡献度</a:t>
                      </a:r>
                      <a:endParaRPr lang="zh-CN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313464"/>
                  </a:ext>
                </a:extLst>
              </a:tr>
              <a:tr h="623489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王雪洋</a:t>
                      </a:r>
                      <a:endParaRPr lang="en-US" altLang="zh-CN" sz="1600" dirty="0"/>
                    </a:p>
                    <a:p>
                      <a:pPr algn="just"/>
                      <a:r>
                        <a:rPr lang="en-US" altLang="zh-CN" sz="1600" dirty="0"/>
                        <a:t>2025214447</a:t>
                      </a:r>
                      <a:endParaRPr lang="zh-CN" altLang="en-US" sz="1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总体设计、系统集成</a:t>
                      </a:r>
                      <a:endParaRPr lang="zh-CN" altLang="en-US" sz="1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完成功能框架整理</a:t>
                      </a:r>
                      <a:endParaRPr lang="zh-CN" altLang="en-US" sz="1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负责前后端接口连接</a:t>
                      </a:r>
                      <a:endParaRPr lang="zh-CN" altLang="en-US" sz="1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100%</a:t>
                      </a:r>
                      <a:endParaRPr lang="zh-CN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37685221"/>
                  </a:ext>
                </a:extLst>
              </a:tr>
              <a:tr h="623489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路毅</a:t>
                      </a:r>
                      <a:endParaRPr lang="en-US" altLang="zh-CN" sz="1600"/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/>
                        <a:t>2025214445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前端设计、云部署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已运行浏览器端、初步云部署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增加搜索、动画同步功能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100%</a:t>
                      </a:r>
                    </a:p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792791"/>
                  </a:ext>
                </a:extLst>
              </a:tr>
              <a:tr h="623489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廖闻</a:t>
                      </a:r>
                      <a:endParaRPr lang="en-US" altLang="zh-CN" sz="1600"/>
                    </a:p>
                    <a:p>
                      <a:pPr algn="just"/>
                      <a:r>
                        <a:rPr lang="en-US" altLang="zh-CN" sz="1600"/>
                        <a:t>2025214437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后端开发与数据库设计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已运行服务端、完成数据库配置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增加数据统计与记录模块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95%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816698"/>
                  </a:ext>
                </a:extLst>
              </a:tr>
              <a:tr h="623489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陈佩瑶</a:t>
                      </a:r>
                      <a:endParaRPr lang="en-US" altLang="zh-CN" sz="1600"/>
                    </a:p>
                    <a:p>
                      <a:pPr algn="just"/>
                      <a:r>
                        <a:rPr lang="en-US" altLang="zh-CN" sz="1600"/>
                        <a:t>2025214439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600"/>
                        <a:t>AI</a:t>
                      </a:r>
                      <a:r>
                        <a:rPr lang="zh-CN" altLang="en-US" sz="1600"/>
                        <a:t>模块开发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调研 </a:t>
                      </a:r>
                      <a:r>
                        <a:rPr lang="en-US" altLang="zh-CN" sz="1600" dirty="0"/>
                        <a:t>GPT </a:t>
                      </a:r>
                      <a:r>
                        <a:rPr lang="zh-CN" altLang="en-US" sz="1600" dirty="0"/>
                        <a:t>接口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实现 </a:t>
                      </a:r>
                      <a:r>
                        <a:rPr lang="en-US" altLang="zh-CN" sz="1600" dirty="0"/>
                        <a:t>AI </a:t>
                      </a:r>
                      <a:r>
                        <a:rPr lang="zh-CN" altLang="en-US" sz="1600" dirty="0"/>
                        <a:t>问答与学习推荐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90%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310298"/>
                  </a:ext>
                </a:extLst>
              </a:tr>
              <a:tr h="623489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崔婧莹</a:t>
                      </a:r>
                      <a:endParaRPr lang="en-US" altLang="zh-CN" sz="1600"/>
                    </a:p>
                    <a:p>
                      <a:pPr algn="just"/>
                      <a:r>
                        <a:rPr lang="en-US" altLang="zh-CN" sz="1600"/>
                        <a:t>2025214434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文档与汇报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/>
                        <a:t>整理项目文档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负责 </a:t>
                      </a:r>
                      <a:r>
                        <a:rPr lang="en-US" altLang="zh-CN" sz="1600" dirty="0"/>
                        <a:t>PPT </a:t>
                      </a:r>
                      <a:r>
                        <a:rPr lang="zh-CN" altLang="en-US" sz="1600" dirty="0"/>
                        <a:t>与汇报材料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90%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112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C3157-E144-41A2-A7F1-A82BFFE1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Gitee</a:t>
            </a:r>
            <a:r>
              <a:rPr lang="zh-CN" altLang="en-US" dirty="0"/>
              <a:t>云仓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14D6756-2DBE-433A-8B22-81C874E0A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1" r="453" b="47023"/>
          <a:stretch/>
        </p:blipFill>
        <p:spPr>
          <a:xfrm>
            <a:off x="2421467" y="1860022"/>
            <a:ext cx="6654800" cy="107791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7135AA-FE88-4B64-B13B-967598F00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67" y="2976484"/>
            <a:ext cx="4800600" cy="27931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DA130BA-6379-4948-9D78-B53AE2489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733" y="2937934"/>
            <a:ext cx="5650523" cy="297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0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C3157-E144-41A2-A7F1-A82BFFE1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GitHub</a:t>
            </a:r>
            <a:r>
              <a:rPr lang="zh-CN" altLang="en-US" dirty="0"/>
              <a:t>镜像仓</a:t>
            </a:r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48937C37-F2F3-47E7-B7D1-D9CB09868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560" y="3388343"/>
            <a:ext cx="5326542" cy="2898775"/>
          </a:xfr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647A3E6-18A3-4479-9A5E-7A00FDFEF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473" y="1421795"/>
            <a:ext cx="4975629" cy="182622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4F96CD9-2D54-4693-9EC3-A2122F8D8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891" y="3140075"/>
            <a:ext cx="5197494" cy="314704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290BE68-9B0E-4D73-A288-8B3DEBF39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041" y="1313846"/>
            <a:ext cx="5168405" cy="182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0531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3571653543307,&quot;left&quot;:61.2,&quot;top&quot;:112.77685039370078,&quot;width&quot;:836.81606299212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模板作业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C1515"/>
      </a:accent1>
      <a:accent2>
        <a:srgbClr val="FF8572"/>
      </a:accent2>
      <a:accent3>
        <a:srgbClr val="00ADAC"/>
      </a:accent3>
      <a:accent4>
        <a:srgbClr val="005B5F"/>
      </a:accent4>
      <a:accent5>
        <a:srgbClr val="7F7F7F"/>
      </a:accent5>
      <a:accent6>
        <a:srgbClr val="D0CECE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思源宋体 CN Heavy"/>
        <a:cs typeface=""/>
      </a:majorFont>
      <a:minorFont>
        <a:latin typeface="Ari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696</Words>
  <Application>Microsoft Office PowerPoint</Application>
  <PresentationFormat>宽屏</PresentationFormat>
  <Paragraphs>138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阿里巴巴普惠体</vt:lpstr>
      <vt:lpstr>等线</vt:lpstr>
      <vt:lpstr>等线 Light</vt:lpstr>
      <vt:lpstr>黑体</vt:lpstr>
      <vt:lpstr>华文行楷</vt:lpstr>
      <vt:lpstr>思源黑体 CN Light</vt:lpstr>
      <vt:lpstr>思源宋体 CN Heavy</vt:lpstr>
      <vt:lpstr>微软雅黑</vt:lpstr>
      <vt:lpstr>Arial</vt:lpstr>
      <vt:lpstr>Arial Black</vt:lpstr>
      <vt:lpstr>Calibri</vt:lpstr>
      <vt:lpstr>Calibri Light</vt:lpstr>
      <vt:lpstr>Impact</vt:lpstr>
      <vt:lpstr>Segoe UI</vt:lpstr>
      <vt:lpstr>Wingdings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Gitee云仓</vt:lpstr>
      <vt:lpstr>GitHub镜像仓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yi lu</cp:lastModifiedBy>
  <cp:revision>308</cp:revision>
  <dcterms:created xsi:type="dcterms:W3CDTF">2025-10-13T02:15:00Z</dcterms:created>
  <dcterms:modified xsi:type="dcterms:W3CDTF">2026-01-07T15:02:22Z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207CECFB4E1F4047BBA316B64549734B_13</vt:lpwstr>
  </property>
  <property fmtid="{D5CDD505-2E9C-101B-9397-08002B2CF9AE}" pid="3" name="KSOProductBuildVer">
    <vt:lpwstr>2052-12.1.0.22089</vt:lpwstr>
  </property>
</Properties>
</file>