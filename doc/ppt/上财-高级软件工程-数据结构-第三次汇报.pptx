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55"/>
  </p:notesMasterIdLst>
  <p:sldIdLst>
    <p:sldId id="256" r:id="rId3"/>
    <p:sldId id="301" r:id="rId4"/>
    <p:sldId id="275" r:id="rId5"/>
    <p:sldId id="257" r:id="rId6"/>
    <p:sldId id="277" r:id="rId7"/>
    <p:sldId id="292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6" r:id="rId16"/>
    <p:sldId id="290" r:id="rId17"/>
    <p:sldId id="276" r:id="rId18"/>
    <p:sldId id="299" r:id="rId19"/>
    <p:sldId id="300" r:id="rId20"/>
    <p:sldId id="302" r:id="rId21"/>
    <p:sldId id="316" r:id="rId22"/>
    <p:sldId id="315" r:id="rId23"/>
    <p:sldId id="317" r:id="rId24"/>
    <p:sldId id="297" r:id="rId25"/>
    <p:sldId id="287" r:id="rId26"/>
    <p:sldId id="259" r:id="rId27"/>
    <p:sldId id="260" r:id="rId28"/>
    <p:sldId id="261" r:id="rId29"/>
    <p:sldId id="262" r:id="rId30"/>
    <p:sldId id="263" r:id="rId31"/>
    <p:sldId id="264" r:id="rId32"/>
    <p:sldId id="304" r:id="rId33"/>
    <p:sldId id="306" r:id="rId34"/>
    <p:sldId id="309" r:id="rId35"/>
    <p:sldId id="310" r:id="rId36"/>
    <p:sldId id="312" r:id="rId37"/>
    <p:sldId id="313" r:id="rId38"/>
    <p:sldId id="314" r:id="rId39"/>
    <p:sldId id="265" r:id="rId40"/>
    <p:sldId id="266" r:id="rId41"/>
    <p:sldId id="267" r:id="rId42"/>
    <p:sldId id="268" r:id="rId43"/>
    <p:sldId id="298" r:id="rId44"/>
    <p:sldId id="272" r:id="rId45"/>
    <p:sldId id="273" r:id="rId46"/>
    <p:sldId id="269" r:id="rId47"/>
    <p:sldId id="274" r:id="rId48"/>
    <p:sldId id="288" r:id="rId49"/>
    <p:sldId id="295" r:id="rId50"/>
    <p:sldId id="291" r:id="rId51"/>
    <p:sldId id="289" r:id="rId52"/>
    <p:sldId id="294" r:id="rId53"/>
    <p:sldId id="258" r:id="rId54"/>
  </p:sldIdLst>
  <p:sldSz cx="12192000" cy="6858000"/>
  <p:notesSz cx="6858000" cy="9144000"/>
  <p:custDataLst>
    <p:tags r:id="rId5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pos="7296" userDrawn="1">
          <p15:clr>
            <a:srgbClr val="A4A3A4"/>
          </p15:clr>
        </p15:guide>
        <p15:guide id="3" orient="horz" pos="670" userDrawn="1">
          <p15:clr>
            <a:srgbClr val="A4A3A4"/>
          </p15:clr>
        </p15:guide>
        <p15:guide id="4" orient="horz" pos="720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1919"/>
    <a:srgbClr val="2563EB"/>
    <a:srgbClr val="3A4F4C"/>
    <a:srgbClr val="798786"/>
    <a:srgbClr val="616DE2"/>
    <a:srgbClr val="F4C86F"/>
    <a:srgbClr val="790905"/>
    <a:srgbClr val="FEEFDE"/>
    <a:srgbClr val="AD1919"/>
    <a:srgbClr val="AE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950" autoAdjust="0"/>
  </p:normalViewPr>
  <p:slideViewPr>
    <p:cSldViewPr snapToGrid="0" showGuides="1">
      <p:cViewPr>
        <p:scale>
          <a:sx n="104" d="100"/>
          <a:sy n="104" d="100"/>
        </p:scale>
        <p:origin x="-65" y="51"/>
      </p:cViewPr>
      <p:guideLst>
        <p:guide pos="384"/>
        <p:guide pos="7296"/>
        <p:guide orient="horz" pos="670"/>
        <p:guide orient="horz" pos="720"/>
        <p:guide orient="horz" pos="3936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04:02:10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23977,'2498'0'0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77F9B-0339-432C-A421-2BCFC4EB62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5045-355B-48B6-A322-9580C8BDDD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37fe16d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b37fe16d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37fe16db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b37fe16db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7fe16db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37fe16db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37fe16db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b37fe16db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37fe16db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b37fe16db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7fe16db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b37fe16db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7fe16db7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b37fe16db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37fe16db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b37fe16db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37fe16db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37fe16db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37fe16db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b37fe16db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37fe16db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b37fe16db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37fe16db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b37fe16db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37fe16db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b37fe16db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37fe16db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b37fe16db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7fe16db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b37fe16db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f475c10-ec2d-4075-9bef-3bb2c25fdc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  <p:sp>
        <p:nvSpPr>
          <p:cNvPr id="2" name="标题 1" descr="4d8639db-5720-4d5c-a3be-c2389a89ebc9"/>
          <p:cNvSpPr>
            <a:spLocks noGrp="1"/>
          </p:cNvSpPr>
          <p:nvPr>
            <p:ph type="ctrTitle" hasCustomPrompt="1"/>
          </p:nvPr>
        </p:nvSpPr>
        <p:spPr>
          <a:xfrm>
            <a:off x="3058799" y="2179286"/>
            <a:ext cx="6074402" cy="1538883"/>
          </a:xfrm>
        </p:spPr>
        <p:txBody>
          <a:bodyPr wrap="square" lIns="91440" tIns="0" rIns="91440" bIns="0" anchor="ctr">
            <a:spAutoFit/>
          </a:bodyPr>
          <a:lstStyle>
            <a:lvl1pPr algn="ctr">
              <a:defRPr sz="500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副标题 2" descr="9465a4fc-0bd3-4b7e-a077-b176dc04d50d"/>
          <p:cNvSpPr>
            <a:spLocks noGrp="1"/>
          </p:cNvSpPr>
          <p:nvPr>
            <p:ph type="subTitle" idx="1" hasCustomPrompt="1"/>
          </p:nvPr>
        </p:nvSpPr>
        <p:spPr>
          <a:xfrm>
            <a:off x="3058798" y="4099199"/>
            <a:ext cx="6074402" cy="371833"/>
          </a:xfrm>
        </p:spPr>
        <p:txBody>
          <a:bodyPr wrap="square" lIns="91440" tIns="0" rIns="91440" bIns="0" anchor="ctr">
            <a:sp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文本占位符 3" descr="9f054f8f-c5be-4bd0-a9dc-15321919e977"/>
          <p:cNvSpPr>
            <a:spLocks noGrp="1"/>
          </p:cNvSpPr>
          <p:nvPr>
            <p:ph type="body" sz="quarter" idx="13" hasCustomPrompt="1"/>
          </p:nvPr>
        </p:nvSpPr>
        <p:spPr>
          <a:xfrm>
            <a:off x="3788611" y="5263057"/>
            <a:ext cx="1652310" cy="401386"/>
          </a:xfrm>
          <a:prstGeom prst="roundRect">
            <a:avLst/>
          </a:prstGeom>
          <a:noFill/>
        </p:spPr>
        <p:txBody>
          <a:bodyPr wrap="none" anchor="ctr">
            <a:spAutoFit/>
          </a:bodyPr>
          <a:lstStyle>
            <a:lvl1pPr marL="0" indent="0" algn="l">
              <a:buNone/>
              <a:defRPr sz="1600" b="1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" name="文本占位符 4" descr="cd4188d3-c233-47c0-9911-56c2d7c3ebb6"/>
          <p:cNvSpPr>
            <a:spLocks noGrp="1"/>
          </p:cNvSpPr>
          <p:nvPr>
            <p:ph type="body" sz="quarter" idx="14" hasCustomPrompt="1"/>
          </p:nvPr>
        </p:nvSpPr>
        <p:spPr>
          <a:xfrm>
            <a:off x="6688350" y="5263057"/>
            <a:ext cx="1462503" cy="401386"/>
          </a:xfrm>
          <a:prstGeom prst="roundRect">
            <a:avLst/>
          </a:prstGeom>
          <a:noFill/>
        </p:spPr>
        <p:txBody>
          <a:bodyPr wrap="none" anchor="ctr">
            <a:sp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pPr lvl="0"/>
            <a:r>
              <a:rPr lang="en-US" dirty="0"/>
              <a:t>20XX.XX.XX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1fc3aa9-7b4a-4482-8f9f-355fd9e6e86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 descr="c4c3dceb-dbef-4da1-87f7-2d3ad2c89370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3fd1ef86-fd23-4307-bbb0-a1dfc3de574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d52f2e7-d232-44e6-b234-b3030cb01a7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864002ad-397a-447e-95f4-f28a55de9c7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d4bcd761-5e49-48bb-8307-8e43bb0ccba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  <p:sp>
        <p:nvSpPr>
          <p:cNvPr id="2" name="标题 1" descr="e0ee0e8c-a998-49fc-8424-218b6e17d02a"/>
          <p:cNvSpPr>
            <a:spLocks noGrp="1"/>
          </p:cNvSpPr>
          <p:nvPr>
            <p:ph type="title" hasCustomPrompt="1"/>
          </p:nvPr>
        </p:nvSpPr>
        <p:spPr>
          <a:xfrm>
            <a:off x="660399" y="2786369"/>
            <a:ext cx="2324675" cy="769441"/>
          </a:xfrm>
        </p:spPr>
        <p:txBody>
          <a:bodyPr vert="horz" wrap="none" anchor="ctr">
            <a:spAutoFit/>
          </a:bodyPr>
          <a:lstStyle>
            <a:lvl1pPr algn="ctr">
              <a:defRPr sz="4400">
                <a:solidFill>
                  <a:schemeClr val="bg1"/>
                </a:solidFill>
                <a:latin typeface="阿里妈妈数黑体" pitchFamily="2" charset="-122"/>
                <a:ea typeface="阿里妈妈数黑体" pitchFamily="2" charset="-122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内容占位符 2" descr="2f2820fa-35ac-4007-92e2-6fda0347cd4c"/>
          <p:cNvSpPr>
            <a:spLocks noGrp="1"/>
          </p:cNvSpPr>
          <p:nvPr>
            <p:ph sz="quarter" idx="1" hasCustomPrompt="1"/>
          </p:nvPr>
        </p:nvSpPr>
        <p:spPr>
          <a:xfrm>
            <a:off x="4317999" y="1352062"/>
            <a:ext cx="7029939" cy="489243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 sz="20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 descr="faace547-fca3-440c-a038-e70e3c053c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 descr="31baa959-6509-4e4a-9367-d57adc8dda0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8c8660ac-d438-4831-8e70-68755c3e63c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0d2c5d15-510d-4204-bc09-5373881f7a4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  <p:sp>
        <p:nvSpPr>
          <p:cNvPr id="2" name="标题 1" descr="86437efd-b72e-4adb-b56c-0dbdcf3b711c"/>
          <p:cNvSpPr>
            <a:spLocks noGrp="1"/>
          </p:cNvSpPr>
          <p:nvPr>
            <p:ph type="title" hasCustomPrompt="1"/>
          </p:nvPr>
        </p:nvSpPr>
        <p:spPr>
          <a:xfrm>
            <a:off x="2414470" y="2575354"/>
            <a:ext cx="7237532" cy="769441"/>
          </a:xfrm>
        </p:spPr>
        <p:txBody>
          <a:bodyPr wrap="square" anchor="ctr">
            <a:spAutoFit/>
          </a:bodyPr>
          <a:lstStyle>
            <a:lvl1pPr algn="ctr">
              <a:defRPr sz="4400" b="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defRPr>
            </a:lvl1pPr>
          </a:lstStyle>
          <a:p>
            <a:pPr lvl="0"/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文本占位符 2" descr="18d9cfb2-7586-440f-b214-c0cff748caf7"/>
          <p:cNvSpPr>
            <a:spLocks noGrp="1"/>
          </p:cNvSpPr>
          <p:nvPr>
            <p:ph type="body" idx="1" hasCustomPrompt="1"/>
          </p:nvPr>
        </p:nvSpPr>
        <p:spPr>
          <a:xfrm>
            <a:off x="2414469" y="4364535"/>
            <a:ext cx="7237533" cy="447815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阿里妈妈数黑体" pitchFamily="2" charset="-122"/>
                <a:ea typeface="阿里妈妈数黑体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 descr="d5e2f82b-444f-4412-8ba5-ad10fc82836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ccf3ef64-4d2d-448e-8791-9a4b81beb68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352e837d-6737-4fe5-939e-112f3b9016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395b7cf-d06f-4605-8f01-31cc67579d03"/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 algn="l"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日期占位符 2" descr="0e54a8d7-94a5-4e60-af99-3dc0564c1be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c8f0dcbd-434c-43b4-9d05-65a1f203072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ad6f1a7d-eee6-4462-b6fa-481346ebd0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85e89467-7715-4b1c-b0c9-27bfc920d2c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26b8cf9c-ec5e-4513-8002-f8436f96baa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fefdd529-6248-4abe-a40a-a9a5e3da89f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da4a42a-df2c-44b4-9192-00a2bda4c36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  <p:sp>
        <p:nvSpPr>
          <p:cNvPr id="2" name="标题 1" descr="17cc47ca-1e5b-428d-b3df-cf4704252c5f"/>
          <p:cNvSpPr>
            <a:spLocks noGrp="1"/>
          </p:cNvSpPr>
          <p:nvPr>
            <p:ph type="title" hasCustomPrompt="1"/>
          </p:nvPr>
        </p:nvSpPr>
        <p:spPr>
          <a:xfrm>
            <a:off x="3243384" y="2505670"/>
            <a:ext cx="5705231" cy="923330"/>
          </a:xfrm>
        </p:spPr>
        <p:txBody>
          <a:bodyPr wrap="square" anchor="ctr">
            <a:spAutoFit/>
          </a:bodyPr>
          <a:lstStyle>
            <a:lvl1pPr algn="ctr">
              <a:defRPr sz="5400">
                <a:solidFill>
                  <a:schemeClr val="tx1"/>
                </a:solidFill>
                <a:latin typeface="阿里妈妈数黑体" pitchFamily="2" charset="-122"/>
                <a:ea typeface="阿里妈妈数黑体" pitchFamily="2" charset="-122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文本占位符 3" descr="9cc0d728-c057-4d5c-a7f4-084c2fdac101"/>
          <p:cNvSpPr>
            <a:spLocks noGrp="1"/>
          </p:cNvSpPr>
          <p:nvPr>
            <p:ph type="body" sz="quarter" idx="13" hasCustomPrompt="1"/>
          </p:nvPr>
        </p:nvSpPr>
        <p:spPr>
          <a:xfrm>
            <a:off x="3862344" y="4479948"/>
            <a:ext cx="1652310" cy="401386"/>
          </a:xfrm>
          <a:prstGeom prst="roundRect">
            <a:avLst/>
          </a:prstGeom>
          <a:noFill/>
        </p:spPr>
        <p:txBody>
          <a:bodyPr wrap="none" anchor="ctr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" name="文本占位符 4" descr="4969028e-f835-4bf9-ae1d-b78328385eb3"/>
          <p:cNvSpPr>
            <a:spLocks noGrp="1"/>
          </p:cNvSpPr>
          <p:nvPr>
            <p:ph type="body" sz="quarter" idx="14" hasCustomPrompt="1"/>
          </p:nvPr>
        </p:nvSpPr>
        <p:spPr>
          <a:xfrm>
            <a:off x="6826423" y="4479948"/>
            <a:ext cx="1462503" cy="401386"/>
          </a:xfrm>
          <a:prstGeom prst="roundRect">
            <a:avLst/>
          </a:prstGeom>
          <a:noFill/>
        </p:spPr>
        <p:txBody>
          <a:bodyPr wrap="none" anchor="ctr">
            <a:sp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pPr lvl="0"/>
            <a:r>
              <a:rPr lang="en-US" dirty="0"/>
              <a:t>20XX.XX.XX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17272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图片占位符 8"/>
          <p:cNvSpPr>
            <a:spLocks noGrp="1"/>
          </p:cNvSpPr>
          <p:nvPr>
            <p:ph type="pic" idx="16392" hasCustomPrompt="1"/>
            <p:custDataLst>
              <p:tags r:id="rId4"/>
            </p:custDataLst>
          </p:nvPr>
        </p:nvSpPr>
        <p:spPr>
          <a:xfrm>
            <a:off x="20116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54864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图片占位符 13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57708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7752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7752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3"/>
            </p:custDataLst>
          </p:nvPr>
        </p:nvSpPr>
        <p:spPr>
          <a:xfrm>
            <a:off x="92456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图片占位符 18"/>
          <p:cNvSpPr>
            <a:spLocks noGrp="1"/>
          </p:cNvSpPr>
          <p:nvPr>
            <p:ph type="pic" idx="16398" hasCustomPrompt="1"/>
            <p:custDataLst>
              <p:tags r:id="rId14"/>
            </p:custDataLst>
          </p:nvPr>
        </p:nvSpPr>
        <p:spPr>
          <a:xfrm>
            <a:off x="95300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85344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85344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2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5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6096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35052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35052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4008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4008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92964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92964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17780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609600" y="2336800"/>
            <a:ext cx="2286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3505200" y="17780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3505200" y="2336800"/>
            <a:ext cx="2286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400800" y="17780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400800" y="2336800"/>
            <a:ext cx="2286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9296400" y="17780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9296400" y="2336800"/>
            <a:ext cx="2286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" y="0"/>
            <a:ext cx="12191993" cy="685799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75323" y="290642"/>
            <a:ext cx="10222523" cy="740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68513"/>
            <a:ext cx="10858500" cy="5192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80025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80025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80025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阿里妈妈数黑体" pitchFamily="2" charset="-122"/>
          <a:ea typeface="阿里妈妈数黑体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5B792-AEA7-46BA-BE08-D2FE11141D69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AAA89-079F-49E0-BD48-5C9B5D2272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image" Target="../media/image40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image" Target="../media/image39.png"/><Relationship Id="rId2" Type="http://schemas.openxmlformats.org/officeDocument/2006/relationships/tags" Target="../tags/tag96.xml"/><Relationship Id="rId16" Type="http://schemas.openxmlformats.org/officeDocument/2006/relationships/image" Target="../media/image38.jpeg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slideLayout" Target="../slideLayouts/slideLayout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image" Target="../media/image43.png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image" Target="../media/image42.png"/><Relationship Id="rId2" Type="http://schemas.openxmlformats.org/officeDocument/2006/relationships/tags" Target="../tags/tag110.xml"/><Relationship Id="rId16" Type="http://schemas.openxmlformats.org/officeDocument/2006/relationships/image" Target="../media/image41.jpeg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slideLayout" Target="../slideLayouts/slideLayout10.xml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slideLayout" Target="../slideLayouts/slideLayout13.xml"/><Relationship Id="rId3" Type="http://schemas.openxmlformats.org/officeDocument/2006/relationships/tags" Target="../tags/tag136.xml"/><Relationship Id="rId21" Type="http://schemas.openxmlformats.org/officeDocument/2006/relationships/image" Target="../media/image46.png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0" Type="http://schemas.openxmlformats.org/officeDocument/2006/relationships/image" Target="../media/image45.svg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image" Target="../media/image49.svg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image" Target="../media/image48.png"/><Relationship Id="rId10" Type="http://schemas.openxmlformats.org/officeDocument/2006/relationships/tags" Target="../tags/tag143.xml"/><Relationship Id="rId19" Type="http://schemas.openxmlformats.org/officeDocument/2006/relationships/image" Target="../media/image44.png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image" Target="../media/image47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image" Target="../media/image52.pn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image" Target="../media/image51.jpeg"/><Relationship Id="rId5" Type="http://schemas.openxmlformats.org/officeDocument/2006/relationships/tags" Target="../tags/tag155.xml"/><Relationship Id="rId10" Type="http://schemas.openxmlformats.org/officeDocument/2006/relationships/image" Target="../media/image50.jpeg"/><Relationship Id="rId4" Type="http://schemas.openxmlformats.org/officeDocument/2006/relationships/tags" Target="../tags/tag154.xml"/><Relationship Id="rId9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slideLayout" Target="../slideLayouts/slideLayout15.xml"/><Relationship Id="rId5" Type="http://schemas.openxmlformats.org/officeDocument/2006/relationships/tags" Target="../tags/tag16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image" Target="../media/image53.png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slideLayout" Target="../slideLayouts/slideLayout16.xml"/><Relationship Id="rId5" Type="http://schemas.openxmlformats.org/officeDocument/2006/relationships/tags" Target="../tags/tag173.xml"/><Relationship Id="rId10" Type="http://schemas.openxmlformats.org/officeDocument/2006/relationships/tags" Target="../tags/tag178.xml"/><Relationship Id="rId4" Type="http://schemas.openxmlformats.org/officeDocument/2006/relationships/tags" Target="../tags/tag172.xml"/><Relationship Id="rId9" Type="http://schemas.openxmlformats.org/officeDocument/2006/relationships/tags" Target="../tags/tag17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118.194.235.72:8081/" TargetMode="External"/><Relationship Id="rId2" Type="http://schemas.openxmlformats.org/officeDocument/2006/relationships/hyperlink" Target="http://61.164.243.104:30355/" TargetMode="Externa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118.194.235.72:8081/" TargetMode="External"/><Relationship Id="rId2" Type="http://schemas.openxmlformats.org/officeDocument/2006/relationships/hyperlink" Target="http://61.164.243.104:30355/" TargetMode="Externa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d8639db-5720-4d5c-a3be-c2389a89ebc9"/>
          <p:cNvSpPr>
            <a:spLocks noGrp="1"/>
          </p:cNvSpPr>
          <p:nvPr>
            <p:ph type="ctrTitle" hasCustomPrompt="1"/>
          </p:nvPr>
        </p:nvSpPr>
        <p:spPr>
          <a:xfrm>
            <a:off x="2384533" y="2186100"/>
            <a:ext cx="7422934" cy="1354217"/>
          </a:xfrm>
        </p:spPr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4400" b="1" i="0" u="none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数据结构可视化项目第三次汇报</a:t>
            </a:r>
            <a:endParaRPr lang="en-US" sz="4400" b="1" i="0" u="none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副标题 2" descr="9465a4fc-0bd3-4b7e-a077-b176dc04d50d"/>
          <p:cNvSpPr>
            <a:spLocks noGrp="1"/>
          </p:cNvSpPr>
          <p:nvPr>
            <p:ph type="subTitle" idx="1" hasCustomPrompt="1"/>
          </p:nvPr>
        </p:nvSpPr>
        <p:spPr>
          <a:xfrm>
            <a:off x="2023589" y="3906415"/>
            <a:ext cx="8144822" cy="352341"/>
          </a:xfrm>
        </p:spPr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200" b="0" i="0" u="none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小组成员：路毅 廖闻 王雪洋 崔婧莹 陈佩瑶</a:t>
            </a:r>
            <a:endParaRPr lang="en-US" sz="2200" b="0" i="0" u="none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</a:t>
            </a:r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2277534" y="1642532"/>
          <a:ext cx="7797800" cy="357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3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成员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任务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王雪洋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en-US" altLang="zh-CN" sz="1600" dirty="0"/>
                        <a:t>2025214447</a:t>
                      </a:r>
                      <a:endParaRPr lang="zh-CN" altLang="en-US" sz="1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后端开发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廖闻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en-US" altLang="zh-CN" sz="1600" dirty="0"/>
                        <a:t>2025214437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后端开发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路毅</a:t>
                      </a:r>
                      <a:endParaRPr lang="en-US" altLang="zh-CN" sz="160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/>
                        <a:t>2025214445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前端开发</a:t>
                      </a:r>
                      <a:r>
                        <a:rPr lang="en-US" altLang="zh-CN" sz="1600" dirty="0"/>
                        <a:t>+</a:t>
                      </a:r>
                      <a:r>
                        <a:rPr lang="zh-CN" altLang="en-US" sz="1600" dirty="0"/>
                        <a:t>部署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崔婧莹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en-US" altLang="zh-CN" sz="1600" dirty="0"/>
                        <a:t>2025214434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</a:t>
                      </a:r>
                      <a:r>
                        <a:rPr lang="zh-CN" altLang="en-US" sz="1600" dirty="0"/>
                        <a:t>模块开发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3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陈佩瑶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en-US" altLang="zh-CN" sz="1600" dirty="0"/>
                        <a:t>2025214439</a:t>
                      </a:r>
                      <a:endParaRPr lang="zh-CN" alt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测试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395b7cf-d06f-4605-8f01-31cc67579d03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汉仪行楷简"/>
              </a:rPr>
              <a:t>目录</a:t>
            </a:r>
          </a:p>
        </p:txBody>
      </p:sp>
      <p:grpSp>
        <p:nvGrpSpPr>
          <p:cNvPr id="8" name="4caed9d6-c0d5-402d-a13c-963d60d56e8c.source.5.zh-Hans.pptx" descr="c257e28b-b6c5-4cc6-a02f-3a16770daf03"/>
          <p:cNvGrpSpPr/>
          <p:nvPr/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9" name="矩形 1" descr="c2b2caf2-6115-479e-bd52-c09973e5bdce"/>
            <p:cNvSpPr>
              <a:spLocks noChangeAspect="1"/>
            </p:cNvSpPr>
            <p:nvPr/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  <a:endParaRPr/>
            </a:p>
          </p:txBody>
        </p:sp>
        <p:cxnSp>
          <p:nvCxnSpPr>
            <p:cNvPr id="83" name="直接箭头连接符 82" descr="7008927d-796d-4c8c-b7df-68eb4754b422"/>
            <p:cNvCxnSpPr/>
            <p:nvPr/>
          </p:nvCxnSpPr>
          <p:spPr>
            <a:xfrm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d0f31139-c728-49dd-8e9a-bd743af4d5b7"/>
            <p:cNvGrpSpPr/>
            <p:nvPr/>
          </p:nvGrpSpPr>
          <p:grpSpPr>
            <a:xfrm>
              <a:off x="1410781" y="3650127"/>
              <a:ext cx="1284038" cy="1785484"/>
              <a:chOff x="1180856" y="3650127"/>
              <a:chExt cx="1284038" cy="1785484"/>
            </a:xfrm>
          </p:grpSpPr>
          <p:sp>
            <p:nvSpPr>
              <p:cNvPr id="50" name="Number1" descr="a7b7e92f-0e61-4a7f-8db4-d9008ffa7162"/>
              <p:cNvSpPr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90204"/>
                  </a:rPr>
                  <a:t>01</a:t>
                </a:r>
              </a:p>
            </p:txBody>
          </p:sp>
          <p:grpSp>
            <p:nvGrpSpPr>
              <p:cNvPr id="56" name="组合 55" descr="fb1773e2-c9ef-44eb-8798-b4df0b47f5fd"/>
              <p:cNvGrpSpPr/>
              <p:nvPr/>
            </p:nvGrpSpPr>
            <p:grpSpPr>
              <a:xfrm>
                <a:off x="1180856" y="4236631"/>
                <a:ext cx="1284038" cy="1198980"/>
                <a:chOff x="2420608" y="4601292"/>
                <a:chExt cx="1284038" cy="1198980"/>
              </a:xfrm>
            </p:grpSpPr>
            <p:sp>
              <p:nvSpPr>
                <p:cNvPr id="79" name="Bullet1" descr="99ddfd84-073e-402a-bbdc-0a3023bda18a"/>
                <p:cNvSpPr txBox="1"/>
                <p:nvPr/>
              </p:nvSpPr>
              <p:spPr>
                <a:xfrm>
                  <a:off x="2420608" y="5090848"/>
                  <a:ext cx="128403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i="0" u="none" strike="noStrike" dirty="0">
                      <a:solidFill>
                        <a:srgbClr val="000000"/>
                      </a:solidFill>
                      <a:ea typeface="汉仪行楷简"/>
                    </a:rPr>
                    <a:t>系统设计</a:t>
                  </a:r>
                  <a:endParaRPr lang="en-US" sz="2000" b="1" i="0" u="none" strike="noStrike" dirty="0">
                    <a:solidFill>
                      <a:srgbClr val="000000"/>
                    </a:solidFill>
                    <a:ea typeface="汉仪行楷简"/>
                  </a:endParaRPr>
                </a:p>
              </p:txBody>
            </p:sp>
            <p:cxnSp>
              <p:nvCxnSpPr>
                <p:cNvPr id="81" name="直接连接符 80" descr="9c3edcd5-07b9-47a7-8bf6-892394b79f27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 descr="f553d364-eed2-463f-98b2-8bee65d993a4"/>
            <p:cNvGrpSpPr/>
            <p:nvPr/>
          </p:nvGrpSpPr>
          <p:grpSpPr>
            <a:xfrm>
              <a:off x="3340014" y="2441361"/>
              <a:ext cx="1290388" cy="1795270"/>
              <a:chOff x="2736543" y="2441361"/>
              <a:chExt cx="1290388" cy="1795270"/>
            </a:xfrm>
          </p:grpSpPr>
          <p:sp>
            <p:nvSpPr>
              <p:cNvPr id="51" name="Number2" descr="4016da6a-a1dd-4ff1-b82f-fa1afe4130b2"/>
              <p:cNvSpPr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90204"/>
                  </a:rPr>
                  <a:t>02</a:t>
                </a:r>
              </a:p>
            </p:txBody>
          </p:sp>
          <p:grpSp>
            <p:nvGrpSpPr>
              <p:cNvPr id="65" name="组合 64" descr="f32b3a36-a0ce-4332-b9c2-aec999841ff6"/>
              <p:cNvGrpSpPr/>
              <p:nvPr/>
            </p:nvGrpSpPr>
            <p:grpSpPr>
              <a:xfrm>
                <a:off x="2736543" y="2441361"/>
                <a:ext cx="1290388" cy="1205891"/>
                <a:chOff x="2309072" y="5316110"/>
                <a:chExt cx="1290388" cy="1205891"/>
              </a:xfrm>
            </p:grpSpPr>
            <p:sp>
              <p:nvSpPr>
                <p:cNvPr id="70" name="Bullet2" descr="c86ab6d4-c431-4f72-adc9-7fff1ffe03b1"/>
                <p:cNvSpPr txBox="1"/>
                <p:nvPr/>
              </p:nvSpPr>
              <p:spPr>
                <a:xfrm>
                  <a:off x="2309072" y="5316110"/>
                  <a:ext cx="1290388" cy="6707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dirty="0">
                      <a:solidFill>
                        <a:srgbClr val="000000"/>
                      </a:solidFill>
                      <a:ea typeface="汉仪行楷简"/>
                    </a:rPr>
                    <a:t>界面展示</a:t>
                  </a:r>
                  <a:endParaRPr lang="en-US" sz="2000" b="1" i="0" u="none" strike="noStrike" dirty="0">
                    <a:solidFill>
                      <a:srgbClr val="000000"/>
                    </a:solidFill>
                    <a:ea typeface="汉仪行楷简"/>
                  </a:endParaRPr>
                </a:p>
              </p:txBody>
            </p:sp>
            <p:cxnSp>
              <p:nvCxnSpPr>
                <p:cNvPr id="72" name="直接连接符 71" descr="c40f2fbe-0d53-4ea9-8eb8-9adbc1aebf23"/>
                <p:cNvCxnSpPr/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4" name="Title" descr="a671ae54-0c73-4b8f-9899-100ab459da9c"/>
            <p:cNvSpPr>
              <a:spLocks noChangeAspect="1"/>
            </p:cNvSpPr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/>
            </a:p>
          </p:txBody>
        </p:sp>
        <p:grpSp>
          <p:nvGrpSpPr>
            <p:cNvPr id="5" name="组合 4" descr="4e559889-97ee-4bd1-9a3e-f0de477ffeb4"/>
            <p:cNvGrpSpPr/>
            <p:nvPr/>
          </p:nvGrpSpPr>
          <p:grpSpPr>
            <a:xfrm>
              <a:off x="5413003" y="3650127"/>
              <a:ext cx="1200547" cy="1534432"/>
              <a:chOff x="4435262" y="3650127"/>
              <a:chExt cx="1200547" cy="1534432"/>
            </a:xfrm>
          </p:grpSpPr>
          <p:sp>
            <p:nvSpPr>
              <p:cNvPr id="52" name="Number3" descr="0f6b0a2f-08ab-4ca8-95a0-0e8591ec7d60"/>
              <p:cNvSpPr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90204"/>
                  </a:rPr>
                  <a:t>03</a:t>
                </a:r>
              </a:p>
            </p:txBody>
          </p:sp>
          <p:grpSp>
            <p:nvGrpSpPr>
              <p:cNvPr id="91" name="组合 90" descr="28b42b8a-bb48-4f31-b5d4-b5ad576270c2"/>
              <p:cNvGrpSpPr/>
              <p:nvPr/>
            </p:nvGrpSpPr>
            <p:grpSpPr>
              <a:xfrm>
                <a:off x="4435262" y="4236631"/>
                <a:ext cx="1200547" cy="947928"/>
                <a:chOff x="2353992" y="4601292"/>
                <a:chExt cx="1200547" cy="947928"/>
              </a:xfrm>
            </p:grpSpPr>
            <p:sp>
              <p:nvSpPr>
                <p:cNvPr id="92" name="Bullet3" descr="9e9e9c2e-a33f-41e6-a354-643be44993b6"/>
                <p:cNvSpPr txBox="1"/>
                <p:nvPr/>
              </p:nvSpPr>
              <p:spPr>
                <a:xfrm>
                  <a:off x="2353992" y="5090848"/>
                  <a:ext cx="1200547" cy="4583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i="0" u="none" strike="noStrike" dirty="0">
                      <a:solidFill>
                        <a:srgbClr val="000000"/>
                      </a:solidFill>
                      <a:ea typeface="汉仪行楷简"/>
                    </a:rPr>
                    <a:t>具体实现</a:t>
                  </a:r>
                  <a:endParaRPr lang="en-US" sz="2000" b="1" i="0" u="none" strike="noStrike" dirty="0">
                    <a:solidFill>
                      <a:srgbClr val="000000"/>
                    </a:solidFill>
                    <a:ea typeface="汉仪行楷简"/>
                  </a:endParaRPr>
                </a:p>
              </p:txBody>
            </p:sp>
            <p:cxnSp>
              <p:nvCxnSpPr>
                <p:cNvPr id="94" name="直接连接符 93" descr="94b6dcf3-9efd-40d2-8614-95bf3ce4f7f9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组合 5" descr="c293a439-d25b-4670-be96-3b21a34be29a"/>
            <p:cNvGrpSpPr/>
            <p:nvPr/>
          </p:nvGrpSpPr>
          <p:grpSpPr>
            <a:xfrm>
              <a:off x="6770007" y="2476210"/>
              <a:ext cx="2568077" cy="1760421"/>
              <a:chOff x="5451062" y="2476210"/>
              <a:chExt cx="2568077" cy="1760421"/>
            </a:xfrm>
          </p:grpSpPr>
          <p:sp>
            <p:nvSpPr>
              <p:cNvPr id="53" name="Number4" descr="4b5541bd-a35d-4021-bd24-1f66fad14e32"/>
              <p:cNvSpPr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90204"/>
                  </a:rPr>
                  <a:t>04</a:t>
                </a:r>
              </a:p>
            </p:txBody>
          </p:sp>
          <p:grpSp>
            <p:nvGrpSpPr>
              <p:cNvPr id="95" name="组合 94" descr="f5df4cac-f9bf-4521-8f2f-c80c6e9028f3"/>
              <p:cNvGrpSpPr/>
              <p:nvPr/>
            </p:nvGrpSpPr>
            <p:grpSpPr>
              <a:xfrm>
                <a:off x="5451062" y="2476210"/>
                <a:ext cx="2568077" cy="1171042"/>
                <a:chOff x="1670227" y="5350959"/>
                <a:chExt cx="2568077" cy="1171042"/>
              </a:xfrm>
            </p:grpSpPr>
            <p:sp>
              <p:nvSpPr>
                <p:cNvPr id="96" name="Bullet4" descr="a3d646a7-f9c9-4ab9-babd-cbf23a9d6af1"/>
                <p:cNvSpPr txBox="1"/>
                <p:nvPr/>
              </p:nvSpPr>
              <p:spPr>
                <a:xfrm>
                  <a:off x="1670227" y="5350959"/>
                  <a:ext cx="2568077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000" b="1" i="0" u="none" strike="noStrike" dirty="0">
                      <a:solidFill>
                        <a:srgbClr val="000000"/>
                      </a:solidFill>
                      <a:ea typeface="汉仪行楷简"/>
                    </a:rPr>
                    <a:t>测试</a:t>
                  </a:r>
                  <a:endParaRPr lang="en-US" sz="2000" b="1" i="0" u="none" strike="noStrike" dirty="0">
                    <a:solidFill>
                      <a:srgbClr val="000000"/>
                    </a:solidFill>
                    <a:ea typeface="汉仪行楷简"/>
                  </a:endParaRPr>
                </a:p>
              </p:txBody>
            </p:sp>
            <p:cxnSp>
              <p:nvCxnSpPr>
                <p:cNvPr id="98" name="直接连接符 97" descr="fa05f00b-9d85-403a-9a0b-5bc5a62ccd33"/>
                <p:cNvCxnSpPr/>
                <p:nvPr/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组合 6" descr="e08dddc6-e66a-4028-8b42-21d9da4ee36e"/>
            <p:cNvGrpSpPr/>
            <p:nvPr/>
          </p:nvGrpSpPr>
          <p:grpSpPr>
            <a:xfrm>
              <a:off x="9481841" y="3650127"/>
              <a:ext cx="1200547" cy="1534432"/>
              <a:chOff x="7811509" y="3650127"/>
              <a:chExt cx="1200547" cy="1534432"/>
            </a:xfrm>
          </p:grpSpPr>
          <p:sp>
            <p:nvSpPr>
              <p:cNvPr id="54" name="Number5" descr="78ab88be-b45d-4a0d-8a5a-773d6fc98561"/>
              <p:cNvSpPr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90204"/>
                  </a:rPr>
                  <a:t>05</a:t>
                </a:r>
              </a:p>
            </p:txBody>
          </p:sp>
          <p:grpSp>
            <p:nvGrpSpPr>
              <p:cNvPr id="99" name="组合 98" descr="759f1b15-00e5-4455-87fe-426a104c3a87"/>
              <p:cNvGrpSpPr/>
              <p:nvPr/>
            </p:nvGrpSpPr>
            <p:grpSpPr>
              <a:xfrm>
                <a:off x="7811509" y="4236631"/>
                <a:ext cx="1200547" cy="947928"/>
                <a:chOff x="2353992" y="4601292"/>
                <a:chExt cx="1200547" cy="947928"/>
              </a:xfrm>
            </p:grpSpPr>
            <p:sp>
              <p:nvSpPr>
                <p:cNvPr id="100" name="Bullet5" descr="430e05e3-4ecc-43d3-a1f6-dcf2b2f9f042"/>
                <p:cNvSpPr txBox="1"/>
                <p:nvPr/>
              </p:nvSpPr>
              <p:spPr>
                <a:xfrm>
                  <a:off x="2353992" y="5090848"/>
                  <a:ext cx="1200547" cy="4583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 fontScale="77500" lnSpcReduction="20000"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000" b="1" i="0" u="none" strike="noStrike" dirty="0">
                      <a:solidFill>
                        <a:srgbClr val="000000"/>
                      </a:solidFill>
                      <a:ea typeface="汉仪行楷简"/>
                    </a:rPr>
                    <a:t>Docker</a:t>
                  </a:r>
                  <a:r>
                    <a:rPr lang="zh-CN" altLang="en-US" sz="2000" b="1" i="0" u="none" strike="noStrike" dirty="0">
                      <a:solidFill>
                        <a:srgbClr val="000000"/>
                      </a:solidFill>
                      <a:ea typeface="汉仪行楷简"/>
                    </a:rPr>
                    <a:t>部署</a:t>
                  </a:r>
                  <a:endParaRPr lang="en-US" altLang="zh-CN" sz="2000" b="1" i="0" u="none" strike="noStrike" dirty="0">
                    <a:solidFill>
                      <a:srgbClr val="000000"/>
                    </a:solidFill>
                    <a:ea typeface="汉仪行楷简"/>
                  </a:endParaRPr>
                </a:p>
              </p:txBody>
            </p:sp>
            <p:cxnSp>
              <p:nvCxnSpPr>
                <p:cNvPr id="102" name="直接连接符 101" descr="a0f15895-3f38-4e3a-ad4b-4e4c84d3578a"/>
                <p:cNvCxnSpPr/>
                <p:nvPr/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;p13"/>
          <p:cNvSpPr txBox="1"/>
          <p:nvPr/>
        </p:nvSpPr>
        <p:spPr>
          <a:xfrm>
            <a:off x="1019453" y="1665207"/>
            <a:ext cx="6822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Part 1:</a:t>
            </a:r>
            <a:endParaRPr sz="5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Google Shape;56;p13"/>
          <p:cNvSpPr txBox="1"/>
          <p:nvPr/>
        </p:nvSpPr>
        <p:spPr>
          <a:xfrm>
            <a:off x="1658645" y="2530137"/>
            <a:ext cx="10193044" cy="925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系统设计</a:t>
            </a:r>
            <a:endParaRPr sz="1465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整体架构设计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758" y="428179"/>
            <a:ext cx="7553733" cy="6001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功能模块设计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967" y="0"/>
            <a:ext cx="4721900" cy="68613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6451600" y="5757333"/>
            <a:ext cx="2023533" cy="100753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需求设计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600" y="1578747"/>
            <a:ext cx="9992743" cy="4398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zh-CN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UML</a:t>
            </a:r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图展示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 descr="PlantUML diagram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239" y="711169"/>
            <a:ext cx="4178253" cy="585527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743119" y="5564994"/>
            <a:ext cx="337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用例图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9031" y="5643109"/>
            <a:ext cx="337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状态图</a:t>
            </a:r>
          </a:p>
        </p:txBody>
      </p:sp>
      <p:pic>
        <p:nvPicPr>
          <p:cNvPr id="7" name="图片 6" descr="PlantUML diagram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12575"/>
            <a:ext cx="4924544" cy="497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zh-CN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UML</a:t>
            </a:r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图展示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786" y="5163408"/>
            <a:ext cx="104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时序图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37887" y="5824855"/>
            <a:ext cx="337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流程图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2544"/>
            <a:ext cx="8807322" cy="370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360" y="368203"/>
            <a:ext cx="3483854" cy="648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;p13"/>
          <p:cNvSpPr txBox="1"/>
          <p:nvPr/>
        </p:nvSpPr>
        <p:spPr>
          <a:xfrm>
            <a:off x="1019453" y="1665207"/>
            <a:ext cx="6822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Part 2:</a:t>
            </a:r>
            <a:endParaRPr sz="5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Google Shape;56;p13"/>
          <p:cNvSpPr txBox="1"/>
          <p:nvPr/>
        </p:nvSpPr>
        <p:spPr>
          <a:xfrm>
            <a:off x="1658645" y="2530137"/>
            <a:ext cx="10193044" cy="925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仿宋" panose="02010609060101010101" pitchFamily="49" charset="-122"/>
                <a:ea typeface="仿宋" panose="02010609060101010101" pitchFamily="49" charset="-122"/>
                <a:sym typeface="Noto Sans SC"/>
              </a:rPr>
              <a:t>界面展示</a:t>
            </a:r>
            <a:endParaRPr sz="1465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-1626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重构登录</a:t>
            </a:r>
            <a:r>
              <a:rPr lang="en-US" altLang="zh-CN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\</a:t>
            </a:r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注册界面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267" y="1651669"/>
            <a:ext cx="8144934" cy="4223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课程界面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33013"/>
            <a:ext cx="9516847" cy="49086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修复部分原有</a:t>
            </a:r>
            <a:r>
              <a:rPr lang="en-US" altLang="zh-CN" dirty="0"/>
              <a:t>bug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练习界面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新增评论互动功能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03217"/>
            <a:ext cx="9333322" cy="48016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好友界面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新增好友申请模块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33134"/>
            <a:ext cx="4806457" cy="49741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670" y="1533134"/>
            <a:ext cx="4829175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444" y="2099056"/>
            <a:ext cx="5948755" cy="3099747"/>
          </a:xfrm>
          <a:prstGeom prst="rect">
            <a:avLst/>
          </a:prstGeom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zh-CN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AI</a:t>
            </a:r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sym typeface="Noto Sans SC"/>
              </a:rPr>
              <a:t>助理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功能完善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6" b="36966"/>
          <a:stretch>
            <a:fillRect/>
          </a:stretch>
        </p:blipFill>
        <p:spPr>
          <a:xfrm>
            <a:off x="364067" y="2557513"/>
            <a:ext cx="4874589" cy="23376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;p13"/>
          <p:cNvSpPr txBox="1"/>
          <p:nvPr/>
        </p:nvSpPr>
        <p:spPr>
          <a:xfrm>
            <a:off x="1019453" y="1665207"/>
            <a:ext cx="6822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Part 3:</a:t>
            </a:r>
            <a:endParaRPr sz="5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Google Shape;56;p13"/>
          <p:cNvSpPr txBox="1"/>
          <p:nvPr/>
        </p:nvSpPr>
        <p:spPr>
          <a:xfrm>
            <a:off x="1658645" y="2530137"/>
            <a:ext cx="10193044" cy="117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具体实现</a:t>
            </a:r>
          </a:p>
          <a:p>
            <a:pPr>
              <a:lnSpc>
                <a:spcPct val="110000"/>
              </a:lnSpc>
            </a:pPr>
            <a:endParaRPr sz="1465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前端开发模块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前端完成的工作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页面逻辑开发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加载优化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163802"/>
            <a:ext cx="50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加载优化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、分包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、懒加载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、优化组件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、压缩一些图片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64DBB-26C8-EEB5-C1BA-567E15E5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0B6BD9-2483-0CC4-EF9E-B582A5DB6E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1699924"/>
            <a:ext cx="7448550" cy="389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07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612492-59C6-23A7-19D7-8BBEF6585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1193800"/>
            <a:ext cx="8319965" cy="43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03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DD7079-14A8-5FE9-0F0B-5D4DD2AA7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55" y="758633"/>
            <a:ext cx="4859993" cy="53407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C3A9C74-C45C-00BC-1F3E-6EDA89002B0B}"/>
                  </a:ext>
                </a:extLst>
              </p14:cNvPr>
              <p14:cNvContentPartPr/>
              <p14:nvPr/>
            </p14:nvContentPartPr>
            <p14:xfrm>
              <a:off x="3452168" y="998292"/>
              <a:ext cx="899640" cy="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C3A9C74-C45C-00BC-1F3E-6EDA89002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6048" y="986052"/>
                <a:ext cx="91188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011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后端开发模块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62000" y="1636515"/>
            <a:ext cx="10668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335" b="1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REPORT 2025</a:t>
            </a:r>
            <a:endParaRPr sz="1465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762000" y="2007990"/>
            <a:ext cx="11201600" cy="185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评论系统与登录模块</a:t>
            </a:r>
            <a:br>
              <a:rPr lang="zh-CN" altLang="en-US" sz="186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CN" altLang="en-US" sz="5465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5465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zh-CN" altLang="en-US" sz="5465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</a:t>
            </a:r>
            <a:endParaRPr sz="1465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762000" y="3707011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24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全链路业务实现与安全接口重构</a:t>
            </a:r>
            <a:endParaRPr sz="1465" dirty="0"/>
          </a:p>
        </p:txBody>
      </p:sp>
      <p:pic>
        <p:nvPicPr>
          <p:cNvPr id="59" name="Google Shape;59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5211960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252216" y="5202435"/>
            <a:ext cx="118616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1485900"/>
            <a:ext cx="5095875" cy="428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1485900"/>
            <a:ext cx="5095875" cy="42862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095375" y="2809875"/>
            <a:ext cx="4762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评论闭环：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完成“发布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回复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点赞”三位一体社交功能。</a:t>
            </a:r>
            <a:endParaRPr sz="1465"/>
          </a:p>
        </p:txBody>
      </p:sp>
      <p:sp>
        <p:nvSpPr>
          <p:cNvPr id="69" name="Google Shape;69;p14"/>
          <p:cNvSpPr txBox="1"/>
          <p:nvPr/>
        </p:nvSpPr>
        <p:spPr>
          <a:xfrm>
            <a:off x="1095375" y="3257551"/>
            <a:ext cx="4762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登录重构：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由布尔校验升级为结构化用户信息分发。</a:t>
            </a:r>
            <a:endParaRPr sz="1465"/>
          </a:p>
        </p:txBody>
      </p:sp>
      <p:sp>
        <p:nvSpPr>
          <p:cNvPr id="70" name="Google Shape;70;p14"/>
          <p:cNvSpPr txBox="1"/>
          <p:nvPr/>
        </p:nvSpPr>
        <p:spPr>
          <a:xfrm>
            <a:off x="1095375" y="3705226"/>
            <a:ext cx="4762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参数优化：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解决前后端映射不匹配导致的潜在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1465"/>
          </a:p>
        </p:txBody>
      </p:sp>
      <p:sp>
        <p:nvSpPr>
          <p:cNvPr id="71" name="Google Shape;71;p14"/>
          <p:cNvSpPr txBox="1"/>
          <p:nvPr/>
        </p:nvSpPr>
        <p:spPr>
          <a:xfrm>
            <a:off x="1095375" y="4152900"/>
            <a:ext cx="4762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质量合规：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单元测试覆盖率满足上线发布标准。</a:t>
            </a:r>
            <a:endParaRPr sz="1465"/>
          </a:p>
        </p:txBody>
      </p:sp>
      <p:pic>
        <p:nvPicPr>
          <p:cNvPr id="72" name="Google Shape;72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2000" y="283368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2000" y="328136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2000" y="372903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2000" y="417671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项目开发概述</a:t>
            </a:r>
            <a:endParaRPr sz="1465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5312568" y="2867026"/>
            <a:ext cx="15668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zh-CN" sz="1465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sz="1465"/>
          </a:p>
        </p:txBody>
      </p:sp>
      <p:sp>
        <p:nvSpPr>
          <p:cNvPr id="84" name="Google Shape;84;p15"/>
          <p:cNvSpPr txBox="1"/>
          <p:nvPr/>
        </p:nvSpPr>
        <p:spPr>
          <a:xfrm>
            <a:off x="3995737" y="3181351"/>
            <a:ext cx="4200800" cy="69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zh-CN" altLang="en-US" sz="453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数据库架构设计</a:t>
            </a:r>
            <a:endParaRPr sz="1465"/>
          </a:p>
        </p:txBody>
      </p:sp>
      <p:sp>
        <p:nvSpPr>
          <p:cNvPr id="85" name="Google Shape;85;p15"/>
          <p:cNvSpPr/>
          <p:nvPr/>
        </p:nvSpPr>
        <p:spPr>
          <a:xfrm>
            <a:off x="5715000" y="4143375"/>
            <a:ext cx="762000" cy="3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421101" y="2510151"/>
            <a:ext cx="4076700" cy="31106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16"/>
          <p:cNvGraphicFramePr/>
          <p:nvPr/>
        </p:nvGraphicFramePr>
        <p:xfrm>
          <a:off x="5848325" y="212191"/>
          <a:ext cx="6115067" cy="23146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58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9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6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核心职能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关键技术点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Comment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主评论核心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 Course_ID 多维度挂载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Comment_Reply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回复递归链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Parent_Reply_ID 关联递归回复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Comment_Like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点赞持久化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联合唯一键防止重复刷赞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Google Shape;93;p16"/>
          <p:cNvSpPr/>
          <p:nvPr/>
        </p:nvSpPr>
        <p:spPr>
          <a:xfrm>
            <a:off x="762000" y="2502991"/>
            <a:ext cx="1858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20267" y="2502991"/>
            <a:ext cx="13568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977283" y="2502991"/>
            <a:ext cx="2900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62000" y="3088779"/>
            <a:ext cx="1858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620267" y="3088779"/>
            <a:ext cx="1356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977283" y="3088779"/>
            <a:ext cx="2900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62000" y="3660279"/>
            <a:ext cx="1858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620267" y="3660279"/>
            <a:ext cx="1356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977283" y="3660279"/>
            <a:ext cx="2900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762000" y="4231779"/>
            <a:ext cx="1858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620267" y="4231779"/>
            <a:ext cx="1356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977283" y="4231779"/>
            <a:ext cx="2900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社交互动数据模型</a:t>
            </a:r>
            <a:endParaRPr sz="1465"/>
          </a:p>
        </p:txBody>
      </p:sp>
      <p:sp>
        <p:nvSpPr>
          <p:cNvPr id="106" name="Google Shape;106;p16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333509" y="2747126"/>
            <a:ext cx="10621515" cy="332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5312568" y="2867026"/>
            <a:ext cx="15668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zh-CN" sz="1465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sz="1465"/>
          </a:p>
        </p:txBody>
      </p:sp>
      <p:sp>
        <p:nvSpPr>
          <p:cNvPr id="114" name="Google Shape;114;p17"/>
          <p:cNvSpPr txBox="1"/>
          <p:nvPr/>
        </p:nvSpPr>
        <p:spPr>
          <a:xfrm>
            <a:off x="3995737" y="3181351"/>
            <a:ext cx="4200800" cy="69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zh-CN" altLang="en-US" sz="453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后端架构与接口</a:t>
            </a:r>
            <a:endParaRPr sz="1465"/>
          </a:p>
        </p:txBody>
      </p:sp>
      <p:sp>
        <p:nvSpPr>
          <p:cNvPr id="115" name="Google Shape;115;p17"/>
          <p:cNvSpPr/>
          <p:nvPr/>
        </p:nvSpPr>
        <p:spPr>
          <a:xfrm>
            <a:off x="5715000" y="4143375"/>
            <a:ext cx="762000" cy="3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1" y="1485901"/>
            <a:ext cx="3403551" cy="228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94151" y="1485901"/>
            <a:ext cx="3403551" cy="228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26301" y="1485901"/>
            <a:ext cx="3403551" cy="228778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1104900" y="2371726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Controller</a:t>
            </a:r>
            <a:endParaRPr sz="1465"/>
          </a:p>
        </p:txBody>
      </p:sp>
      <p:sp>
        <p:nvSpPr>
          <p:cNvPr id="125" name="Google Shape;125;p18"/>
          <p:cNvSpPr txBox="1"/>
          <p:nvPr/>
        </p:nvSpPr>
        <p:spPr>
          <a:xfrm>
            <a:off x="1104900" y="2790826"/>
            <a:ext cx="2717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个标准化</a:t>
            </a: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REST API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，严格执行</a:t>
            </a: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HTTP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动词规范与入参校验。</a:t>
            </a:r>
            <a:endParaRPr sz="1465"/>
          </a:p>
        </p:txBody>
      </p:sp>
      <p:sp>
        <p:nvSpPr>
          <p:cNvPr id="126" name="Google Shape;126;p18"/>
          <p:cNvSpPr txBox="1"/>
          <p:nvPr/>
        </p:nvSpPr>
        <p:spPr>
          <a:xfrm>
            <a:off x="4737051" y="2371726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Service</a:t>
            </a:r>
            <a:endParaRPr sz="1465"/>
          </a:p>
        </p:txBody>
      </p:sp>
      <p:sp>
        <p:nvSpPr>
          <p:cNvPr id="127" name="Google Shape;127;p18"/>
          <p:cNvSpPr txBox="1"/>
          <p:nvPr/>
        </p:nvSpPr>
        <p:spPr>
          <a:xfrm>
            <a:off x="4737051" y="2790826"/>
            <a:ext cx="2717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内嵌点赞幂等性校验、评论级联删除、权限</a:t>
            </a: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Owner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认证逻辑。</a:t>
            </a:r>
            <a:endParaRPr sz="1465"/>
          </a:p>
        </p:txBody>
      </p:sp>
      <p:sp>
        <p:nvSpPr>
          <p:cNvPr id="128" name="Google Shape;128;p18"/>
          <p:cNvSpPr txBox="1"/>
          <p:nvPr/>
        </p:nvSpPr>
        <p:spPr>
          <a:xfrm>
            <a:off x="8369200" y="2371726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DTOs</a:t>
            </a:r>
            <a:endParaRPr sz="1465"/>
          </a:p>
        </p:txBody>
      </p:sp>
      <p:sp>
        <p:nvSpPr>
          <p:cNvPr id="129" name="Google Shape;129;p18"/>
          <p:cNvSpPr txBox="1"/>
          <p:nvPr/>
        </p:nvSpPr>
        <p:spPr>
          <a:xfrm>
            <a:off x="8369200" y="2790826"/>
            <a:ext cx="27176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面向请求</a:t>
            </a: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响应定制化数据模型，屏蔽敏感字段，优化带宽。</a:t>
            </a:r>
            <a:endParaRPr sz="1465"/>
          </a:p>
        </p:txBody>
      </p:sp>
      <p:pic>
        <p:nvPicPr>
          <p:cNvPr id="130" name="Google Shape;130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104900" y="1847851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737051" y="1847851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369200" y="1847851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高内聚层级架构</a:t>
            </a:r>
            <a:endParaRPr sz="1465"/>
          </a:p>
        </p:txBody>
      </p:sp>
      <p:sp>
        <p:nvSpPr>
          <p:cNvPr id="134" name="Google Shape;134;p18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19"/>
          <p:cNvGraphicFramePr/>
          <p:nvPr/>
        </p:nvGraphicFramePr>
        <p:xfrm>
          <a:off x="762000" y="1581151"/>
          <a:ext cx="10668001" cy="3429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62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4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METHOD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ENDPOINT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FUNCTION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/api/comments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分页获取当前课程/类型下的所有评论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/api/comments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发布评论（支持针对课程或他人回复）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PUT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/api/comments/{id}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用户自主编辑评论（仅限本人操作）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EF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DELETE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/api/comments/{id}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级联删除评论及关联点赞、回复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1" i="0" u="none" strike="noStrike" cap="non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POST/DEL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/api/comments/{id}/like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300" b="0" i="0" u="none" strike="noStrike" cap="none">
                          <a:solidFill>
                            <a:srgbClr val="64748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社交交互：点赞及取消点赞操作</a:t>
                      </a:r>
                      <a:endParaRPr sz="1500"/>
                    </a:p>
                  </a:txBody>
                  <a:tcPr marL="63500" marR="63500" marT="25400" marB="2540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1" name="Google Shape;141;p19"/>
          <p:cNvSpPr/>
          <p:nvPr/>
        </p:nvSpPr>
        <p:spPr>
          <a:xfrm>
            <a:off x="762000" y="2124075"/>
            <a:ext cx="206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824161" y="2124075"/>
            <a:ext cx="33812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6205239" y="2124075"/>
            <a:ext cx="52248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62000" y="2709863"/>
            <a:ext cx="2062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824161" y="2709863"/>
            <a:ext cx="33812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205239" y="2709863"/>
            <a:ext cx="5224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2000" y="3281363"/>
            <a:ext cx="2062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824161" y="3281363"/>
            <a:ext cx="33812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205239" y="3281363"/>
            <a:ext cx="5224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62000" y="3852863"/>
            <a:ext cx="2062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824161" y="3852863"/>
            <a:ext cx="33812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205239" y="3852863"/>
            <a:ext cx="5224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62000" y="4424361"/>
            <a:ext cx="2062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824161" y="4424361"/>
            <a:ext cx="33812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205239" y="4424361"/>
            <a:ext cx="5224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62000" y="4995861"/>
            <a:ext cx="20620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824161" y="4995861"/>
            <a:ext cx="33812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205239" y="4995861"/>
            <a:ext cx="52248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评论系统 </a:t>
            </a:r>
            <a:r>
              <a:rPr lang="en-US" altLang="zh-CN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API </a:t>
            </a:r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sz="1465"/>
          </a:p>
        </p:txBody>
      </p:sp>
      <p:sp>
        <p:nvSpPr>
          <p:cNvPr id="160" name="Google Shape;160;p19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日志模块优化方案</a:t>
            </a: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4" name="图片占位符 3" descr="a866bcc8-e13e-11f0-87a7-a2c9e7f4ef97"/>
          <p:cNvPicPr>
            <a:picLocks noGrp="1" noChangeAspect="1"/>
          </p:cNvPicPr>
          <p:nvPr>
            <p:ph type="pic" idx="16393"/>
            <p:custDataLst>
              <p:tags r:id="rId4"/>
            </p:custDataLst>
          </p:nvPr>
        </p:nvPicPr>
        <p:blipFill>
          <a:blip r:embed="rId16"/>
          <a:srcRect t="5882" b="5882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问题与挑战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原系统依赖 System.out.println()，导致日志级别不可控、格式混乱且无法持久化，影响系统维护效率和问题排查能力。</a:t>
            </a: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技术实现路径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引入 SLF4J 框架结合 Logback 实现日志管理，替换所有控制台打印为 Logger 输出，并通过 LoggerFactory 创建日志对象，支持多层级日志记录。</a:t>
            </a: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优化效果显著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统一日志格式与输出级别，支持文件持久化存储，提升代码可维护性，便于系统监控与问题定位。</a:t>
            </a:r>
          </a:p>
        </p:txBody>
      </p:sp>
      <p:pic>
        <p:nvPicPr>
          <p:cNvPr id="17" name="图片占位符 16"/>
          <p:cNvPicPr>
            <a:picLocks noGrp="1" noChangeAspect="1"/>
          </p:cNvPicPr>
          <p:nvPr>
            <p:ph type="pic" idx="16395"/>
            <p:custDataLst>
              <p:tags r:id="rId1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740275" y="4216400"/>
            <a:ext cx="2710180" cy="2032000"/>
          </a:xfrm>
          <a:prstGeom prst="rect">
            <a:avLst/>
          </a:prstGeom>
        </p:spPr>
      </p:pic>
      <p:pic>
        <p:nvPicPr>
          <p:cNvPr id="19" name="图片占位符 18"/>
          <p:cNvPicPr>
            <a:picLocks noGrp="1"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128000" y="1579245"/>
            <a:ext cx="3454400" cy="19202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Swagger API 文档集成</a:t>
            </a: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4" name="图片占位符 3" descr="abc11c74-e13e-11f0-b407-1ed44b2b48a5"/>
          <p:cNvPicPr>
            <a:picLocks noGrp="1" noChangeAspect="1"/>
          </p:cNvPicPr>
          <p:nvPr>
            <p:ph type="pic" idx="16393"/>
            <p:custDataLst>
              <p:tags r:id="rId4"/>
            </p:custDataLst>
          </p:nvPr>
        </p:nvPicPr>
        <p:blipFill>
          <a:blip r:embed="rId16"/>
          <a:srcRect t="15067" b="2567"/>
          <a:stretch>
            <a:fillRect/>
          </a:stretch>
        </p:blipFill>
        <p:spPr>
          <a:xfrm>
            <a:off x="914400" y="1828800"/>
            <a:ext cx="2844800" cy="19304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需求背景分析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前后端分离架构下，传统文档维护成本高且更新滞后，亟需可视化工具支持接口测试与文档管理。</a:t>
            </a: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核心配置步骤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使用 SpringDoc OpenAPI 2.3.0 集成 Swagger UI，配置 API 标题、版本号及描述信息，通过注解标注接口参数与响应结构。</a:t>
            </a: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接口覆盖全面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涵盖好友系统、用户管理、评论系统等核心模块，提供在线测试功能，支持 OpenAPI 3.0 规范，提升开发协作效率。</a:t>
            </a:r>
          </a:p>
        </p:txBody>
      </p:sp>
      <p:pic>
        <p:nvPicPr>
          <p:cNvPr id="18" name="图片占位符 17"/>
          <p:cNvPicPr>
            <a:picLocks noGrp="1" noChangeAspect="1"/>
          </p:cNvPicPr>
          <p:nvPr>
            <p:ph type="pic" idx="16395"/>
            <p:custDataLst>
              <p:tags r:id="rId1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673600" y="1998980"/>
            <a:ext cx="2844800" cy="1588770"/>
          </a:xfrm>
          <a:prstGeom prst="rect">
            <a:avLst/>
          </a:prstGeom>
        </p:spPr>
      </p:pic>
      <p:pic>
        <p:nvPicPr>
          <p:cNvPr id="20" name="内容占位符 10"/>
          <p:cNvPicPr>
            <a:picLocks noGrp="1"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32800" y="1846580"/>
            <a:ext cx="2844800" cy="189420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添加好友功能开发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功能需求概述</a:t>
            </a:r>
          </a:p>
        </p:txBody>
      </p:sp>
      <p:sp>
        <p:nvSpPr>
          <p:cNvPr id="4" name="装饰  7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用户可发起好友申请、查看申请列表并进行同意或拒绝操作，支持双方互申请时自动接受机制，提升交互效率与用户体验。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技术实现方案</a:t>
            </a:r>
          </a:p>
        </p:txBody>
      </p:sp>
      <p:sp>
        <p:nvSpPr>
          <p:cNvPr id="7" name="装饰  0"/>
          <p:cNvSpPr>
            <a:spLocks noGrp="1"/>
          </p:cNvSpPr>
          <p:nvPr>
            <p:ph type="body" idx="16393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使用 Java 内存缓存（ConcurrentHashMap）存储好友申请，设置 TTL 为 2 天，避免外部缓存依赖；同意后通过数据库插入双向好友关系，确保数据一致性与高效处理。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核心组件设计</a:t>
            </a:r>
          </a:p>
        </p:txBody>
      </p:sp>
      <p:sp>
        <p:nvSpPr>
          <p:cNvPr id="10" name="装饰  3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FriendRequestCacheService 负责缓存管理，FriendRequestController 提供 API 接口，UserFriendRepository 实现数据访问，各组件职责清晰，协同完成功能闭环。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高效性能与安全保障</a:t>
            </a:r>
          </a:p>
        </p:txBody>
      </p:sp>
      <p:sp>
        <p:nvSpPr>
          <p:cNvPr id="3" name="装饰  6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4" name="装饰  7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19" name="图片占位符 18"/>
          <p:cNvPicPr>
            <a:picLocks noGrp="1"/>
          </p:cNvPicPr>
          <p:nvPr>
            <p:ph type="pic" idx="16392"/>
            <p:custDataLst>
              <p:tags r:id="rId5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11680" y="22148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缓存与查询优化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双层缓存结构结合 O(1) 查询时间复杂度，确保高性能响应；定时清理过期申请（每 10 分钟），减少无效数据占用。</a:t>
            </a:r>
          </a:p>
        </p:txBody>
      </p:sp>
      <p:sp>
        <p:nvSpPr>
          <p:cNvPr id="8" name="装饰  1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9" name="装饰  2"/>
          <p:cNvSpPr>
            <a:spLocks noGrp="1"/>
          </p:cNvSpPr>
          <p:nvPr>
            <p:ph type="body" idx="1639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20" name="图片占位符 19"/>
          <p:cNvPicPr>
            <a:picLocks noGrp="1"/>
          </p:cNvPicPr>
          <p:nvPr>
            <p:ph type="pic" idx="16395"/>
            <p:custDataLst>
              <p:tags r:id="rId1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70880" y="22148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并发与事务保障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基于线程安全的 ConcurrentHashMap 实现并发控制，事务机制保证好友关系写入数据库的一致性，全面应对高并发场景。</a:t>
            </a:r>
          </a:p>
        </p:txBody>
      </p:sp>
      <p:sp>
        <p:nvSpPr>
          <p:cNvPr id="13" name="装饰  6"/>
          <p:cNvSpPr>
            <a:spLocks noGrp="1"/>
          </p:cNvSpPr>
          <p:nvPr>
            <p:ph type="body" idx="16399"/>
            <p:custDataLst>
              <p:tags r:id="rId1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14" name="装饰  7"/>
          <p:cNvSpPr>
            <a:spLocks noGrp="1"/>
          </p:cNvSpPr>
          <p:nvPr>
            <p:ph type="body" idx="16400"/>
            <p:custDataLst>
              <p:tags r:id="rId1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18" name="图片占位符 17"/>
          <p:cNvPicPr>
            <a:picLocks noGrp="1"/>
          </p:cNvPicPr>
          <p:nvPr>
            <p:ph type="pic" idx="16398"/>
            <p:custDataLst>
              <p:tags r:id="rId15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30080" y="22148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1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数据库设计亮点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user_friends 表采用联合主键（user_id, friend_id）和外键约束，支持双向关系存储，确保数据完整性与查询效率。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测试覆盖与质量保障</a:t>
            </a:r>
          </a:p>
        </p:txBody>
      </p:sp>
      <p:pic>
        <p:nvPicPr>
          <p:cNvPr id="3" name="图片占位符 2" descr="d9e68d9f-e13e-11f0-a3be-8e4d74b2d94b"/>
          <p:cNvPicPr>
            <a:picLocks noGrp="1" noChangeAspect="1"/>
          </p:cNvPicPr>
          <p:nvPr>
            <p:ph type="pic" idx="16392"/>
            <p:custDataLst>
              <p:tags r:id="rId3"/>
            </p:custDataLst>
          </p:nvPr>
        </p:nvPicPr>
        <p:blipFill>
          <a:blip r:embed="rId10"/>
          <a:srcRect t="417" r="417"/>
          <a:stretch>
            <a:fillRect/>
          </a:stretch>
        </p:blipFill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测试策略概述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单元测试覆盖 Service 层逻辑，控制器测试通过 Mock 模拟请求，集成测试验证完整流程，确保功能可靠性。</a:t>
            </a:r>
          </a:p>
        </p:txBody>
      </p:sp>
      <p:pic>
        <p:nvPicPr>
          <p:cNvPr id="6" name="图片占位符 5" descr="d9e68ab9-e13e-11f0-a3be-8e4d74b2d94b"/>
          <p:cNvPicPr>
            <a:picLocks noGrp="1"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11"/>
          <a:srcRect l="23333" t="12083" r="20000" b="31250"/>
          <a:stretch>
            <a:fillRect/>
          </a:stretch>
        </p:blipFill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测试覆盖率目标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测试覆盖率 &gt; 90%，全面检测核心功能与边界条件，降低潜在缺陷风险，为上线提供坚实保障。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0015" y="2286635"/>
            <a:ext cx="3842385" cy="2946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登录密码加密与数据库迁移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密码加密实现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使用 Spring Security Crypto 的 BCrypt 算法，创建 PasswordEncoderUtil 工具类，在用户注册和修改密码时加密存储，确保密码不可逆加密，从而提升系统安全性。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密码验证机制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在登录接口中使用 BCryptPasswordEncoder.matches() 方法验证密码，前端传输明文后端加密并与数据库比对，保障密码校验的安全性与一致性。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数据库迁移方案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针对原数据库密码明文存储问题，创建 PasswordMigrationRunner 迁移工具，应用启动时自动检测并加密更新现有密码，迁移后所有密码均为加密状态。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安全增强措施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调整用户表密码字段长度，前端传输启用 HTTPS，限制登录失败次数，并增加密码强度验证，全面强化系统安全防护能力。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数据库迁移策略与实施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200"/>
              <a:t>迁移策略设计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检查密码格式（BCrypt 密码以 $2a$ 开头），识别明文密码并加密，批量更新数据库密码字段，记录迁移日志并支持重复运行幂等性，确保迁移过程高效可靠。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200"/>
              <a:t>明文密码处理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通过格式校验精准定位明文密码，使用 BCrypt 算法逐条加密更新，避免遗漏或重复操作，保证迁移结果的准确性和一致性。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200"/>
              <a:t>迁移工具特性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PasswordMigrationRunner 工具在应用启动时自动执行，无需人工干预，同时提供详细的迁移日志，便于后续审计与问题排查。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迁移后的安全保障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数据库迁移完成后，所有密码均以加密形式存储，结合 HTTPS 和登录失败限制等安全措施，显著降低数据泄露风险，提升整体系统安全性。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951095"/>
            <a:ext cx="10772140" cy="13684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312568" y="2867026"/>
            <a:ext cx="15668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zh-CN" sz="1465" b="1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03</a:t>
            </a:r>
            <a:endParaRPr sz="1465" dirty="0"/>
          </a:p>
        </p:txBody>
      </p:sp>
      <p:sp>
        <p:nvSpPr>
          <p:cNvPr id="167" name="Google Shape;167;p20"/>
          <p:cNvSpPr txBox="1"/>
          <p:nvPr/>
        </p:nvSpPr>
        <p:spPr>
          <a:xfrm>
            <a:off x="4295775" y="3181351"/>
            <a:ext cx="3600800" cy="69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zh-CN" altLang="en-US" sz="4535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登录逻辑重构</a:t>
            </a:r>
            <a:endParaRPr sz="1465"/>
          </a:p>
        </p:txBody>
      </p:sp>
      <p:sp>
        <p:nvSpPr>
          <p:cNvPr id="168" name="Google Shape;168;p20"/>
          <p:cNvSpPr/>
          <p:nvPr/>
        </p:nvSpPr>
        <p:spPr>
          <a:xfrm>
            <a:off x="5715000" y="4143375"/>
            <a:ext cx="762000" cy="3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1" y="1933575"/>
            <a:ext cx="5238751" cy="124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191251" y="1933575"/>
            <a:ext cx="5238751" cy="14284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762000" y="3647778"/>
            <a:ext cx="10668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重构后支持前端进行持久化存储（</a:t>
            </a: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localStorage/Vuex</a:t>
            </a: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），大幅降低后续请求的鉴权开销。</a:t>
            </a:r>
            <a:endParaRPr sz="1465"/>
          </a:p>
        </p:txBody>
      </p:sp>
      <p:sp>
        <p:nvSpPr>
          <p:cNvPr id="177" name="Google Shape;177;p21"/>
          <p:cNvSpPr txBox="1"/>
          <p:nvPr/>
        </p:nvSpPr>
        <p:spPr>
          <a:xfrm>
            <a:off x="762000" y="1638300"/>
            <a:ext cx="5238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BEFORE: </a:t>
            </a:r>
            <a:r>
              <a:rPr lang="zh-CN" altLang="en-US" sz="1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单向布尔验证</a:t>
            </a:r>
            <a:endParaRPr sz="1465"/>
          </a:p>
        </p:txBody>
      </p:sp>
      <p:sp>
        <p:nvSpPr>
          <p:cNvPr id="178" name="Google Shape;178;p21"/>
          <p:cNvSpPr txBox="1"/>
          <p:nvPr/>
        </p:nvSpPr>
        <p:spPr>
          <a:xfrm>
            <a:off x="6191251" y="1638300"/>
            <a:ext cx="5238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AFTER: </a:t>
            </a:r>
            <a:r>
              <a:rPr lang="zh-CN" altLang="en-US"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结构化身份分发</a:t>
            </a:r>
            <a:endParaRPr sz="1465"/>
          </a:p>
        </p:txBody>
      </p:sp>
      <p:sp>
        <p:nvSpPr>
          <p:cNvPr id="179" name="Google Shape;179;p21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登录模块演进：赋能前端存储</a:t>
            </a:r>
            <a:endParaRPr sz="1465"/>
          </a:p>
        </p:txBody>
      </p:sp>
      <p:sp>
        <p:nvSpPr>
          <p:cNvPr id="180" name="Google Shape;180;p21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0" y="1485900"/>
            <a:ext cx="5095875" cy="2904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62000" y="1485901"/>
            <a:ext cx="5095875" cy="286672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6667500" y="1957239"/>
            <a:ext cx="4762400" cy="45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参数解耦：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修复 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`@RequestParam` 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映射错误，统一前端 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courseId 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传参。</a:t>
            </a:r>
            <a:endParaRPr sz="1465"/>
          </a:p>
        </p:txBody>
      </p:sp>
      <p:sp>
        <p:nvSpPr>
          <p:cNvPr id="189" name="Google Shape;189;p22"/>
          <p:cNvSpPr txBox="1"/>
          <p:nvPr/>
        </p:nvSpPr>
        <p:spPr>
          <a:xfrm>
            <a:off x="6667500" y="2662088"/>
            <a:ext cx="4762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原子性优化：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登录流程确保密码通过后再触发日志记录。</a:t>
            </a:r>
            <a:endParaRPr sz="1465"/>
          </a:p>
        </p:txBody>
      </p:sp>
      <p:sp>
        <p:nvSpPr>
          <p:cNvPr id="190" name="Google Shape;190;p22"/>
          <p:cNvSpPr txBox="1"/>
          <p:nvPr/>
        </p:nvSpPr>
        <p:spPr>
          <a:xfrm>
            <a:off x="6667500" y="3366939"/>
            <a:ext cx="4762400" cy="45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CN" altLang="en-US" sz="1465" b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测试保障：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自动化单元测试捕获边缘 </a:t>
            </a:r>
            <a:r>
              <a:rPr lang="en-US" altLang="zh-CN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Case</a:t>
            </a:r>
            <a:r>
              <a:rPr lang="zh-CN" altLang="en-US" sz="1465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，保障接口健壮。</a:t>
            </a:r>
            <a:endParaRPr sz="1465"/>
          </a:p>
        </p:txBody>
      </p:sp>
      <p:pic>
        <p:nvPicPr>
          <p:cNvPr id="191" name="Google Shape;191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334125" y="198105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334125" y="268590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334125" y="3390751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典型缺陷修复与防御</a:t>
            </a:r>
            <a:endParaRPr sz="1465"/>
          </a:p>
        </p:txBody>
      </p:sp>
      <p:sp>
        <p:nvSpPr>
          <p:cNvPr id="195" name="Google Shape;195;p22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001" y="1485901"/>
            <a:ext cx="3403551" cy="1988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94151" y="1485901"/>
            <a:ext cx="3403551" cy="1988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26301" y="1485901"/>
            <a:ext cx="3403551" cy="198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1104900" y="1828801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SQL Schema</a:t>
            </a:r>
            <a:endParaRPr sz="1465"/>
          </a:p>
        </p:txBody>
      </p:sp>
      <p:sp>
        <p:nvSpPr>
          <p:cNvPr id="205" name="Google Shape;205;p23"/>
          <p:cNvSpPr txBox="1"/>
          <p:nvPr/>
        </p:nvSpPr>
        <p:spPr>
          <a:xfrm>
            <a:off x="1104900" y="2247901"/>
            <a:ext cx="2717600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coment.sql</a:t>
            </a:r>
            <a:br>
              <a:rPr lang="zh-CN" altLang="en-US"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完成点赞、回复、评论三大物理表定义。</a:t>
            </a:r>
            <a:endParaRPr sz="1465"/>
          </a:p>
        </p:txBody>
      </p:sp>
      <p:sp>
        <p:nvSpPr>
          <p:cNvPr id="206" name="Google Shape;206;p23"/>
          <p:cNvSpPr txBox="1"/>
          <p:nvPr/>
        </p:nvSpPr>
        <p:spPr>
          <a:xfrm>
            <a:off x="4737051" y="1828801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Logic Impl</a:t>
            </a:r>
            <a:endParaRPr sz="1465"/>
          </a:p>
        </p:txBody>
      </p:sp>
      <p:sp>
        <p:nvSpPr>
          <p:cNvPr id="207" name="Google Shape;207;p23"/>
          <p:cNvSpPr txBox="1"/>
          <p:nvPr/>
        </p:nvSpPr>
        <p:spPr>
          <a:xfrm>
            <a:off x="4737051" y="2247901"/>
            <a:ext cx="2717600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CommentServiceImpl</a:t>
            </a:r>
            <a:br>
              <a:rPr lang="zh-CN" altLang="en-US"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承载所有社交业务的核心算法与校验逻辑。</a:t>
            </a:r>
            <a:endParaRPr sz="1465"/>
          </a:p>
        </p:txBody>
      </p:sp>
      <p:sp>
        <p:nvSpPr>
          <p:cNvPr id="208" name="Google Shape;208;p23"/>
          <p:cNvSpPr txBox="1"/>
          <p:nvPr/>
        </p:nvSpPr>
        <p:spPr>
          <a:xfrm>
            <a:off x="8369200" y="1828801"/>
            <a:ext cx="28536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zh-CN" sz="1865" b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Integration</a:t>
            </a:r>
            <a:endParaRPr sz="1465"/>
          </a:p>
        </p:txBody>
      </p:sp>
      <p:sp>
        <p:nvSpPr>
          <p:cNvPr id="209" name="Google Shape;209;p23"/>
          <p:cNvSpPr txBox="1"/>
          <p:nvPr/>
        </p:nvSpPr>
        <p:spPr>
          <a:xfrm>
            <a:off x="8369200" y="2247901"/>
            <a:ext cx="2717600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altLang="zh-CN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UserController</a:t>
            </a:r>
            <a:br>
              <a:rPr lang="zh-CN" altLang="en-US" sz="1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CN" altLang="en-US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已整合结构化登录，支持即时业务接入。</a:t>
            </a:r>
            <a:endParaRPr sz="1465"/>
          </a:p>
        </p:txBody>
      </p:sp>
      <p:sp>
        <p:nvSpPr>
          <p:cNvPr id="210" name="Google Shape;210;p23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项目交付资产清单</a:t>
            </a:r>
            <a:endParaRPr sz="1465"/>
          </a:p>
        </p:txBody>
      </p:sp>
      <p:sp>
        <p:nvSpPr>
          <p:cNvPr id="211" name="Google Shape;211;p23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zh-CN" altLang="en-US" sz="44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开发模块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需求分析与技术选型</a:t>
            </a:r>
          </a:p>
        </p:txBody>
      </p:sp>
      <p:sp>
        <p:nvSpPr>
          <p:cNvPr id="211" name="Google Shape;211;p23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9754" y="1362287"/>
            <a:ext cx="103911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问题现状：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直接问通用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AI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，回答可能超纲或与教材标准答案不符。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解决方案：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</a:t>
            </a:r>
          </a:p>
          <a:p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Coze + LLM</a:t>
            </a:r>
            <a:endParaRPr lang="zh-CN" altLang="en-US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核心优势：</a:t>
            </a:r>
            <a:r>
              <a:rPr lang="en-US" altLang="zh-CN" sz="2400" b="1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回答更精准、更贴合教学大纲、可追溯来源。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25045" b="26172"/>
          <a:stretch>
            <a:fillRect/>
          </a:stretch>
        </p:blipFill>
        <p:spPr>
          <a:xfrm>
            <a:off x="1081193" y="3429001"/>
            <a:ext cx="8669867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知识库构建</a:t>
            </a:r>
          </a:p>
        </p:txBody>
      </p:sp>
      <p:sp>
        <p:nvSpPr>
          <p:cNvPr id="211" name="Google Shape;211;p23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0854" y="1502833"/>
            <a:ext cx="103911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数据来源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数据结构严蔚敏经典教材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PDF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、数据结构习题与解析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PDF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。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处理流程：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切片</a:t>
            </a:r>
            <a:r>
              <a:rPr lang="en-US" altLang="zh-CN" sz="2400" b="1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按知识点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链表插入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”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二叉树遍历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等进行文本切分。</a:t>
            </a: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将非结构化数据（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PDF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）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——&gt;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结构化知识（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RAG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可用数据）</a:t>
            </a:r>
          </a:p>
          <a:p>
            <a:r>
              <a:rPr lang="zh-CN" altLang="en-US" sz="2400" b="1">
                <a:latin typeface="微软雅黑" charset="-122"/>
                <a:ea typeface="微软雅黑" charset="-122"/>
                <a:cs typeface="微软雅黑" charset="-122"/>
              </a:rPr>
              <a:t>上传</a:t>
            </a:r>
            <a:r>
              <a:rPr lang="en-US" altLang="zh-CN" sz="2400" b="1">
                <a:latin typeface="微软雅黑" charset="-122"/>
                <a:ea typeface="微软雅黑" charset="-122"/>
                <a:cs typeface="微软雅黑" charset="-122"/>
              </a:rPr>
              <a:t> CSV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：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将整理好的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Excel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另存为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CSV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上传。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配置字段：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将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“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问题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”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列设为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Searchable (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可检索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)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。</a:t>
            </a:r>
            <a:endParaRPr lang="en-US" altLang="zh-CN" sz="240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将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“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答案与解析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” 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列设为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 Reference (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引用内容</a:t>
            </a:r>
            <a:r>
              <a:rPr lang="en-US" altLang="zh-CN" sz="2400">
                <a:latin typeface="微软雅黑" charset="-122"/>
                <a:ea typeface="微软雅黑" charset="-122"/>
                <a:cs typeface="微软雅黑" charset="-122"/>
              </a:rPr>
              <a:t>)</a:t>
            </a:r>
            <a:r>
              <a:rPr lang="zh-CN" altLang="en-US" sz="2400">
                <a:latin typeface="微软雅黑" charset="-122"/>
                <a:ea typeface="微软雅黑" charset="-122"/>
                <a:cs typeface="微软雅黑" charset="-122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知识库构建</a:t>
            </a:r>
          </a:p>
        </p:txBody>
      </p:sp>
      <p:sp>
        <p:nvSpPr>
          <p:cNvPr id="211" name="Google Shape;211;p23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554" y="1551094"/>
            <a:ext cx="397933" cy="16806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/>
              <a:t>例：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221" y="2797387"/>
            <a:ext cx="7473527" cy="31004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60" y="1551093"/>
            <a:ext cx="7518400" cy="838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32554" y="5829099"/>
            <a:ext cx="6545579" cy="102890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b="1" dirty="0"/>
              <a:t>识别数据特征：</a:t>
            </a:r>
            <a:r>
              <a:rPr lang="zh-CN" altLang="en-US" dirty="0"/>
              <a:t> 发现书是“题</a:t>
            </a:r>
            <a:r>
              <a:rPr lang="en-US" altLang="zh-CN" dirty="0"/>
              <a:t>+</a:t>
            </a:r>
            <a:r>
              <a:rPr lang="zh-CN" altLang="en-US" dirty="0"/>
              <a:t>解”结构。</a:t>
            </a:r>
          </a:p>
          <a:p>
            <a:r>
              <a:rPr lang="en-US" altLang="zh-CN" b="1" dirty="0"/>
              <a:t>ETL </a:t>
            </a:r>
            <a:r>
              <a:rPr lang="zh-CN" altLang="en-US" b="1" dirty="0"/>
              <a:t>处理：</a:t>
            </a:r>
            <a:r>
              <a:rPr lang="zh-CN" altLang="en-US" dirty="0"/>
              <a:t> 把 </a:t>
            </a:r>
            <a:r>
              <a:rPr lang="en-US" altLang="zh-CN" dirty="0"/>
              <a:t>PDF </a:t>
            </a:r>
            <a:r>
              <a:rPr lang="zh-CN" altLang="en-US" dirty="0"/>
              <a:t>转成 </a:t>
            </a:r>
            <a:r>
              <a:rPr lang="en-US" altLang="zh-CN" dirty="0"/>
              <a:t>Key-Value </a:t>
            </a:r>
            <a:r>
              <a:rPr lang="zh-CN" altLang="en-US" dirty="0"/>
              <a:t>的结构化表格。</a:t>
            </a:r>
          </a:p>
          <a:p>
            <a:r>
              <a:rPr lang="zh-CN" altLang="en-US" b="1" dirty="0"/>
              <a:t>精准映射：</a:t>
            </a:r>
            <a:r>
              <a:rPr lang="zh-CN" altLang="en-US" dirty="0"/>
              <a:t> 在 </a:t>
            </a:r>
            <a:r>
              <a:rPr lang="en-US" altLang="zh-CN" dirty="0" err="1"/>
              <a:t>Coze</a:t>
            </a:r>
            <a:r>
              <a:rPr lang="en-US" altLang="zh-CN" dirty="0"/>
              <a:t> </a:t>
            </a:r>
            <a:r>
              <a:rPr lang="zh-CN" altLang="en-US" dirty="0"/>
              <a:t>里配置表格检索。</a:t>
            </a:r>
          </a:p>
        </p:txBody>
      </p:sp>
      <p:sp>
        <p:nvSpPr>
          <p:cNvPr id="9" name="下箭头 8"/>
          <p:cNvSpPr/>
          <p:nvPr/>
        </p:nvSpPr>
        <p:spPr>
          <a:xfrm>
            <a:off x="4033520" y="2396914"/>
            <a:ext cx="494453" cy="336973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zh-CN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</a:t>
            </a:r>
            <a:r>
              <a:rPr lang="en-US" altLang="zh-CN" sz="3200" b="1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</a:t>
            </a:r>
          </a:p>
        </p:txBody>
      </p:sp>
      <p:sp>
        <p:nvSpPr>
          <p:cNvPr id="211" name="Google Shape;211;p23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123900"/>
            <a:ext cx="103911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charset="-122"/>
                <a:ea typeface="微软雅黑" charset="-122"/>
                <a:cs typeface="微软雅黑" charset="-122"/>
              </a:rPr>
              <a:t>Agent</a:t>
            </a:r>
            <a:r>
              <a:rPr lang="zh-CN" altLang="en-US" sz="2400" b="1" dirty="0">
                <a:latin typeface="微软雅黑" charset="-122"/>
                <a:ea typeface="微软雅黑" charset="-122"/>
                <a:cs typeface="微软雅黑" charset="-122"/>
              </a:rPr>
              <a:t>角色设定：</a:t>
            </a:r>
          </a:p>
          <a:p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你叫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数据结构算法导师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，是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计算机科学领域的数据结构与算法专家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。</a:t>
            </a:r>
          </a:p>
          <a:p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你已经充分掌握了关于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线性表、树、图、排序、查找等核心计算机考研及面试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**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的知识库，可以回复用户的关于这方面的问题。</a:t>
            </a:r>
            <a:endParaRPr lang="zh-CN" altLang="en-US" sz="2400" b="1" dirty="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lang="en-US" altLang="zh-CN" sz="2400" b="1" dirty="0">
                <a:latin typeface="微软雅黑" charset="-122"/>
                <a:ea typeface="微软雅黑" charset="-122"/>
                <a:cs typeface="微软雅黑" charset="-122"/>
              </a:rPr>
              <a:t>Prompt</a:t>
            </a:r>
            <a:r>
              <a:rPr lang="zh-CN" altLang="en-US" sz="2400" b="1" dirty="0">
                <a:latin typeface="微软雅黑" charset="-122"/>
                <a:ea typeface="微软雅黑" charset="-122"/>
                <a:cs typeface="微软雅黑" charset="-122"/>
              </a:rPr>
              <a:t>策略：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##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工作流程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###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步骤一：问题理解与回复分析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1.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认真理解从知识库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【请在此处引用你的知识库】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中召回的内容和用户输入的问题。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2.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如果你不能理解用户的问题，例如用户的问题太简单、不包含必要信息（如仅输入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树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”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），此时你需要追问用户（如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请问您是指二叉搜索树、霍夫曼树还是生成树？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”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），直到你确定已理解了用户的问题和需求。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###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步骤二：回答用户问题</a:t>
            </a:r>
          </a:p>
          <a:p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1.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经过你认真的判断后，确定用户的问题和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 **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数据结构与算法理论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** 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完全无关（如询问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红烧肉怎么做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”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或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“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推荐一款游戏</a:t>
            </a:r>
            <a:r>
              <a:rPr lang="en-US" altLang="zh-CN" sz="2400" dirty="0">
                <a:latin typeface="微软雅黑" charset="-122"/>
                <a:ea typeface="微软雅黑" charset="-122"/>
                <a:cs typeface="微软雅黑" charset="-122"/>
              </a:rPr>
              <a:t>”</a:t>
            </a:r>
            <a:r>
              <a:rPr lang="zh-CN" altLang="en-US" sz="2400" dirty="0">
                <a:latin typeface="微软雅黑" charset="-122"/>
                <a:ea typeface="微软雅黑" charset="-122"/>
                <a:cs typeface="微软雅黑" charset="-122"/>
              </a:rPr>
              <a:t>），你应该拒绝回答。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;p13"/>
          <p:cNvSpPr txBox="1"/>
          <p:nvPr/>
        </p:nvSpPr>
        <p:spPr>
          <a:xfrm>
            <a:off x="1019453" y="1665207"/>
            <a:ext cx="6822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Part 4:</a:t>
            </a:r>
            <a:endParaRPr sz="5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Google Shape;56;p13"/>
          <p:cNvSpPr txBox="1"/>
          <p:nvPr/>
        </p:nvSpPr>
        <p:spPr>
          <a:xfrm>
            <a:off x="1658645" y="2530137"/>
            <a:ext cx="10193044" cy="925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测试</a:t>
            </a:r>
            <a:endParaRPr lang="en-US" altLang="zh-CN" sz="5465" b="1" dirty="0">
              <a:solidFill>
                <a:srgbClr val="1E293B"/>
              </a:solidFill>
              <a:latin typeface="仿宋" panose="02010609060101010101" pitchFamily="49" charset="-122"/>
              <a:ea typeface="仿宋" panose="02010609060101010101" pitchFamily="49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测试环境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90204" pitchFamily="34" charset="0"/>
              <a:buChar char="•"/>
            </a:pPr>
            <a:r>
              <a:rPr lang="zh-CN" altLang="en-US" sz="2000" b="0" i="0" dirty="0">
                <a:solidFill>
                  <a:srgbClr val="222222"/>
                </a:solidFill>
                <a:effectLst/>
                <a:latin typeface="Inter"/>
              </a:rPr>
              <a:t>云服务器地址：</a:t>
            </a:r>
            <a:r>
              <a:rPr lang="en-US" altLang="zh-CN" sz="2000" b="0" i="0" u="none" strike="noStrike" dirty="0">
                <a:solidFill>
                  <a:srgbClr val="0969DA"/>
                </a:solidFill>
                <a:effectLst/>
                <a:latin typeface="Inter"/>
                <a:hlinkClick r:id="rId2"/>
              </a:rPr>
              <a:t>http://61.164.243.104:30355/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2000" b="0" i="0" u="none" strike="noStrike" dirty="0">
                <a:solidFill>
                  <a:srgbClr val="0969DA"/>
                </a:solidFill>
                <a:effectLst/>
                <a:latin typeface="Inter"/>
                <a:hlinkClick r:id="rId3"/>
              </a:rPr>
              <a:t>http://118.194.235.72:8081/</a:t>
            </a:r>
            <a:endParaRPr lang="en-US" altLang="zh-CN" sz="2000" b="0" i="0" dirty="0">
              <a:solidFill>
                <a:srgbClr val="222222"/>
              </a:solidFill>
              <a:effectLst/>
              <a:latin typeface="Inter"/>
            </a:endParaRPr>
          </a:p>
          <a:p>
            <a:pPr algn="l">
              <a:buFont typeface="Arial" panose="020B0604020202090204" pitchFamily="34" charset="0"/>
              <a:buChar char="•"/>
            </a:pPr>
            <a:r>
              <a:rPr lang="zh-CN" altLang="en-US" sz="2000" b="0" i="0" dirty="0">
                <a:solidFill>
                  <a:srgbClr val="222222"/>
                </a:solidFill>
                <a:effectLst/>
                <a:latin typeface="Inter"/>
              </a:rPr>
              <a:t>技术栈环境：</a:t>
            </a:r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前端：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Vue3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HTML5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CSS3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JS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 err="1">
                <a:solidFill>
                  <a:srgbClr val="222222"/>
                </a:solidFill>
                <a:effectLst/>
                <a:latin typeface="Inter"/>
              </a:rPr>
              <a:t>Vite</a:t>
            </a:r>
            <a:endParaRPr lang="en-US" altLang="zh-CN" sz="1800" b="0" i="0" dirty="0">
              <a:solidFill>
                <a:srgbClr val="222222"/>
              </a:solidFill>
              <a:effectLst/>
              <a:latin typeface="Inter"/>
            </a:endParaRPr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后端：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Spring Boot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 err="1">
                <a:solidFill>
                  <a:srgbClr val="222222"/>
                </a:solidFill>
                <a:effectLst/>
                <a:latin typeface="Inter"/>
              </a:rPr>
              <a:t>MyBatis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、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REST API</a:t>
            </a:r>
          </a:p>
          <a:p>
            <a:pPr marL="742950" lvl="1" indent="-285750" algn="l">
              <a:buFont typeface="Arial" panose="020B0604020202090204" pitchFamily="34" charset="0"/>
              <a:buChar char="•"/>
            </a:pP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数据库：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MySQL</a:t>
            </a:r>
          </a:p>
          <a:p>
            <a:r>
              <a:rPr lang="zh-CN" altLang="en-US" sz="2200" b="0" i="0" dirty="0">
                <a:solidFill>
                  <a:srgbClr val="222222"/>
                </a:solidFill>
                <a:effectLst/>
                <a:latin typeface="Inter"/>
              </a:rPr>
              <a:t>测试工具</a:t>
            </a:r>
          </a:p>
          <a:p>
            <a:pPr lvl="1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功能测试：人工场景验证、接口调用测试</a:t>
            </a:r>
          </a:p>
          <a:p>
            <a:pPr lvl="1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缺陷管理：迭代任务跟踪系统（含缺陷优先级、状态管理）</a:t>
            </a:r>
            <a:endParaRPr lang="en-US" altLang="zh-CN" sz="1800" b="0" i="0" dirty="0">
              <a:solidFill>
                <a:srgbClr val="222222"/>
              </a:solidFill>
              <a:effectLst/>
              <a:latin typeface="Inter"/>
            </a:endParaRPr>
          </a:p>
          <a:p>
            <a:r>
              <a:rPr lang="zh-CN" altLang="en-US" sz="2200" b="0" i="0" dirty="0">
                <a:solidFill>
                  <a:srgbClr val="222222"/>
                </a:solidFill>
                <a:effectLst/>
                <a:latin typeface="Inter"/>
              </a:rPr>
              <a:t> 缺陷总体统计</a:t>
            </a:r>
          </a:p>
          <a:p>
            <a:pPr lvl="1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测试共发现缺陷 </a:t>
            </a:r>
            <a:r>
              <a:rPr lang="en-US" altLang="zh-CN" sz="1800" dirty="0">
                <a:solidFill>
                  <a:srgbClr val="222222"/>
                </a:solidFill>
                <a:latin typeface="Inter"/>
              </a:rPr>
              <a:t>73</a:t>
            </a:r>
            <a:r>
              <a:rPr lang="en-US" altLang="zh-CN" sz="1800" b="0" i="0" dirty="0">
                <a:solidFill>
                  <a:srgbClr val="222222"/>
                </a:solidFill>
                <a:effectLst/>
                <a:latin typeface="Inter"/>
              </a:rPr>
              <a:t> </a:t>
            </a:r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项</a:t>
            </a:r>
            <a:endParaRPr lang="en-US" altLang="zh-CN" sz="1800" b="0" i="0" dirty="0">
              <a:solidFill>
                <a:srgbClr val="222222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762000" y="571480"/>
            <a:ext cx="11201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zh-CN" altLang="en-US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</a:t>
            </a:r>
            <a:r>
              <a:rPr lang="en-US" altLang="zh-CN" sz="3200" b="1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endParaRPr sz="1465" dirty="0"/>
          </a:p>
        </p:txBody>
      </p:sp>
      <p:sp>
        <p:nvSpPr>
          <p:cNvPr id="77" name="Google Shape;77;p14"/>
          <p:cNvSpPr/>
          <p:nvPr/>
        </p:nvSpPr>
        <p:spPr>
          <a:xfrm>
            <a:off x="762000" y="1104900"/>
            <a:ext cx="571600" cy="3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34" y="1414151"/>
            <a:ext cx="8441266" cy="480884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;p13"/>
          <p:cNvSpPr txBox="1"/>
          <p:nvPr/>
        </p:nvSpPr>
        <p:spPr>
          <a:xfrm>
            <a:off x="1019453" y="1665207"/>
            <a:ext cx="68221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Part 5:</a:t>
            </a:r>
            <a:endParaRPr sz="5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Google Shape;56;p13"/>
          <p:cNvSpPr txBox="1"/>
          <p:nvPr/>
        </p:nvSpPr>
        <p:spPr>
          <a:xfrm>
            <a:off x="1658645" y="2530137"/>
            <a:ext cx="10193044" cy="117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5465" b="1" dirty="0">
                <a:solidFill>
                  <a:srgbClr val="1E293B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/>
                <a:sym typeface="Noto Sans SC"/>
              </a:rPr>
              <a:t>部署</a:t>
            </a:r>
          </a:p>
          <a:p>
            <a:pPr>
              <a:lnSpc>
                <a:spcPct val="110000"/>
              </a:lnSpc>
            </a:pPr>
            <a:endParaRPr sz="1465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云部署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已云部署在两个服务器上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>
                <a:hlinkClick r:id="rId2"/>
              </a:rPr>
              <a:t>http://61.164.243.104:30355/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>
                <a:hlinkClick r:id="rId3"/>
              </a:rPr>
              <a:t>http://118.194.235.72:8081/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云部署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种云部署方案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1.</a:t>
            </a:r>
            <a:r>
              <a:rPr lang="zh-CN" altLang="en-US" b="0" i="0" dirty="0">
                <a:effectLst/>
                <a:latin typeface="Inter"/>
              </a:rPr>
              <a:t>本地构建 → 镜像仓库 → 服务器拉取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2.</a:t>
            </a:r>
            <a:r>
              <a:rPr lang="zh-CN" altLang="en-US" b="0" i="0" dirty="0">
                <a:effectLst/>
                <a:latin typeface="Inter"/>
              </a:rPr>
              <a:t> </a:t>
            </a:r>
            <a:r>
              <a:rPr lang="en-US" altLang="zh-CN" b="0" i="0" dirty="0">
                <a:effectLst/>
                <a:latin typeface="Inter"/>
              </a:rPr>
              <a:t>*</a:t>
            </a:r>
            <a:r>
              <a:rPr lang="zh-CN" altLang="en-US" b="0" i="0" dirty="0">
                <a:effectLst/>
                <a:latin typeface="Inter"/>
              </a:rPr>
              <a:t>本地构建 → 上传镜像文件 → 服务器加载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3.</a:t>
            </a:r>
            <a:r>
              <a:rPr lang="zh-CN" altLang="en-US" b="0" i="0" dirty="0">
                <a:effectLst/>
                <a:latin typeface="Inter"/>
              </a:rPr>
              <a:t> </a:t>
            </a:r>
            <a:r>
              <a:rPr lang="en-US" altLang="zh-CN" b="0" i="0" dirty="0">
                <a:effectLst/>
                <a:latin typeface="Inter"/>
              </a:rPr>
              <a:t>*</a:t>
            </a:r>
            <a:r>
              <a:rPr lang="zh-CN" altLang="en-US" b="0" i="0" dirty="0">
                <a:effectLst/>
                <a:latin typeface="Inter"/>
              </a:rPr>
              <a:t>服务器构建 </a:t>
            </a:r>
            <a:r>
              <a:rPr lang="en-US" altLang="zh-CN" b="0" i="0" dirty="0">
                <a:effectLst/>
                <a:latin typeface="Inter"/>
              </a:rPr>
              <a:t>+ </a:t>
            </a:r>
            <a:r>
              <a:rPr lang="zh-CN" altLang="en-US" b="0" i="0" dirty="0">
                <a:effectLst/>
                <a:latin typeface="Inter"/>
              </a:rPr>
              <a:t>运行</a:t>
            </a:r>
            <a:endParaRPr lang="en-US" altLang="zh-CN" b="0" i="0" dirty="0">
              <a:effectLst/>
              <a:latin typeface="Inter"/>
            </a:endParaRPr>
          </a:p>
          <a:p>
            <a:pPr lvl="1"/>
            <a:endParaRPr lang="en-US" altLang="zh-CN" dirty="0">
              <a:latin typeface="Inter"/>
            </a:endParaRPr>
          </a:p>
          <a:p>
            <a:pPr marL="457200" lvl="1" indent="0">
              <a:buNone/>
            </a:pPr>
            <a:r>
              <a:rPr lang="en-US" altLang="zh-CN" b="0" i="0" dirty="0">
                <a:effectLst/>
                <a:latin typeface="Inter"/>
              </a:rPr>
              <a:t>*</a:t>
            </a:r>
            <a:r>
              <a:rPr lang="zh-CN" altLang="en-US" b="0" i="0" dirty="0">
                <a:effectLst/>
                <a:latin typeface="Inter"/>
              </a:rPr>
              <a:t>表示实际使用方案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be5edceb81e54b95691d083ebfec2cbdc4d9ce1"/>
  <p:tag name="KSO_WM_NEWLAYOUT_GROUP_ID" val="layout_26"/>
  <p:tag name="KSO_WM_NEWLAYOUT_ID" val="slide_33b65c8d547e38d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ac63ca6e9a3cd2e2c3b4ce235c03e8fca16ccca"/>
  <p:tag name="KSO_WM_NEWLAYOUT_GROUP_ID" val="layout_48"/>
  <p:tag name="KSO_WM_NEWLAYOUT_ID" val="slide_f40f4095b76ee3a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5f57984f8c202d02a921a3fb72482f1b331d748"/>
  <p:tag name="KSO_WM_NEWLAYOUT_GROUP_ID" val="layout_53"/>
  <p:tag name="KSO_WM_NEWLAYOUT_ID" val="slide_1c63f389541666c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e21c41744eec842f164e75b6cb32c27c331996"/>
  <p:tag name="KSO_WM_NEWLAYOUT_GROUP_ID" val="layout_10003"/>
  <p:tag name="KSO_WM_NEWLAYOUT_ID" val="slide_07a157e0b255a43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e307ecc91b44244e87ef9ebe09f882783212fb"/>
  <p:tag name="KSO_WM_NEWLAYOUT_GROUP_ID" val="layout_32"/>
  <p:tag name="KSO_WM_NEWLAYOUT_ID" val="slide_0b86848e9fb20af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9ead7f8dc8c8c3dd90ad6af038c75bd22ca516"/>
  <p:tag name="KSO_WM_NEWLAYOUT_GROUP_ID" val="layout_34"/>
  <p:tag name="KSO_WM_NEWLAYOUT_ID" val="slide_ee1cf869270fa62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36366ebfdf71790c25eca52f3273c3b7e94779"/>
  <p:tag name="KSO_WM_NEWLAYOUT_GROUP_ID" val="layout_10007"/>
  <p:tag name="KSO_WM_NEWLAYOUT_ID" val="slide_0d254d8dedbca5a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ad0e9c5158d2744dc810058ae342b34aaa0e1c"/>
  <p:tag name="KSO_WM_NEWLAYOUT_GROUP_ID" val="layout_10007"/>
  <p:tag name="KSO_WM_NEWLAYOUT_ID" val="slide_9639ae2c975f6ce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33b65c8d547e38d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be5edceb81e54b95691d083ebfec2cbdc4d9ce1"/>
  <p:tag name="KSO_WM_NEWLAYOUT_GROUP_ID" val="layout_26"/>
  <p:tag name="KSO_WM_NEWLAYOUT_ID" val="slide_33b65c8d547e38d4"/>
  <p:tag name="KSO_WM_UNIT_PRESET_TEXT" val="单击此处添加标题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683705004&quot;,&quot;product_name&quot;:&quot;wps-wpp-mac&quot;,&quot;intention_code&quot;:&quot;wps_wpp_generate_slide_page_pay&quot;}*auto_gallery_ai_v2.2.0_ONLINE*1766631964404_9cc506_f10b11548a17-slide-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f40f4095b76ee3a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ac63ca6e9a3cd2e2c3b4ce235c03e8fca16ccca"/>
  <p:tag name="KSO_WM_NEWLAYOUT_GROUP_ID" val="layout_48"/>
  <p:tag name="KSO_WM_NEWLAYOUT_ID" val="slide_f40f4095b76ee3a8"/>
  <p:tag name="KSO_WM_UNIT_PRESET_TEXT" val="单击此处添加标题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89256553&quot;,&quot;product_name&quot;:&quot;wps-wpp-mac&quot;,&quot;intention_code&quot;:&quot;wps_wpp_generate_slide_page_pay&quot;}*auto_gallery_ai_v2.2.0_ONLINE*1766631970049_9cc506_fa142817256b-slide-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_3_1"/>
  <p:tag name="KSO_WM_UNIT_TYPE" val="l_h_d"/>
  <p:tag name="KSO_WM_DIAGRAM_GROUP_COD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07a157e0b255a43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7e21c41744eec842f164e75b6cb32c27c331996"/>
  <p:tag name="KSO_WM_NEWLAYOUT_GROUP_ID" val="layout_10003"/>
  <p:tag name="KSO_WM_NEWLAYOUT_ID" val="slide_07a157e0b255a435"/>
  <p:tag name="KSO_WM_UNIT_PRESET_TEXT" val="单击此处添加标题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0b86848e9fb20af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e307ecc91b44244e87ef9ebe09f882783212fb"/>
  <p:tag name="KSO_WM_NEWLAYOUT_GROUP_ID" val="layout_32"/>
  <p:tag name="KSO_WM_NEWLAYOUT_ID" val="slide_0b86848e9fb20af8"/>
  <p:tag name="KSO_WM_UNIT_PRESET_TEXT" val="单击此处添加标题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ee1cf869270fa62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9ead7f8dc8c8c3dd90ad6af038c75bd22ca516"/>
  <p:tag name="KSO_WM_NEWLAYOUT_GROUP_ID" val="layout_34"/>
  <p:tag name="KSO_WM_NEWLAYOUT_ID" val="slide_ee1cf869270fa626"/>
  <p:tag name="KSO_WM_UNIT_PRESET_TEXT" val="单击此处添加标题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220736831&quot;,&quot;product_name&quot;:&quot;wps-wpp-mac&quot;,&quot;intention_code&quot;:&quot;wps_wpp_generate_slide_page_pay&quot;}*auto_gallery_ai_v2.2.0_ONLINE*1766632049721_3e2e56_d49023daa5a6-slide-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18126251&quot;,&quot;product_name&quot;:&quot;wps-wpp-mac&quot;,&quot;intention_code&quot;:&quot;wps_wpp_generate_slide_page_pay&quot;}*auto_gallery_ai_v2.2.0_ONLINE*1766632049721_3e2e56_d49023daa5a6-slide-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0d254d8dedbca5a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36366ebfdf71790c25eca52f3273c3b7e94779"/>
  <p:tag name="KSO_WM_NEWLAYOUT_GROUP_ID" val="layout_10007"/>
  <p:tag name="KSO_WM_NEWLAYOUT_ID" val="slide_0d254d8dedbca5a4"/>
  <p:tag name="KSO_WM_UNIT_PRESET_TEXT" val="单击此处添加标题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9639ae2c975f6ce8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ad0e9c5158d2744dc810058ae342b34aaa0e1c"/>
  <p:tag name="KSO_WM_NEWLAYOUT_GROUP_ID" val="layout_10007"/>
  <p:tag name="KSO_WM_NEWLAYOUT_ID" val="slide_9639ae2c975f6ce8"/>
  <p:tag name="KSO_WM_UNIT_PRESET_TEXT" val="单击此处添加标题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heme/theme1.xml><?xml version="1.0" encoding="utf-8"?>
<a:theme xmlns:a="http://schemas.openxmlformats.org/drawingml/2006/main" name="Designed by iSlide">
  <a:themeElements>
    <a:clrScheme name="蓝色通用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103D7E"/>
      </a:accent1>
      <a:accent2>
        <a:srgbClr val="104FB9"/>
      </a:accent2>
      <a:accent3>
        <a:srgbClr val="1062EC"/>
      </a:accent3>
      <a:accent4>
        <a:srgbClr val="157CF5"/>
      </a:accent4>
      <a:accent5>
        <a:srgbClr val="2499F9"/>
      </a:accent5>
      <a:accent6>
        <a:srgbClr val="BD9A70"/>
      </a:accent6>
      <a:hlink>
        <a:srgbClr val="C00000"/>
      </a:hlink>
      <a:folHlink>
        <a:srgbClr val="1E3851"/>
      </a:folHlink>
    </a:clrScheme>
    <a:fontScheme name="iSlide">
      <a:majorFont>
        <a:latin typeface="Average"/>
        <a:ea typeface="汉仪行楷简"/>
        <a:cs typeface=""/>
      </a:majorFont>
      <a:minorFont>
        <a:latin typeface="Average"/>
        <a:ea typeface="思源黑体 CN Regular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12</TotalTime>
  <Words>1926</Words>
  <Application>Microsoft Office PowerPoint</Application>
  <PresentationFormat>宽屏</PresentationFormat>
  <Paragraphs>271</Paragraphs>
  <Slides>52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Average</vt:lpstr>
      <vt:lpstr>Inter</vt:lpstr>
      <vt:lpstr>Noto Sans SC</vt:lpstr>
      <vt:lpstr>阿里妈妈数黑体</vt:lpstr>
      <vt:lpstr>等线</vt:lpstr>
      <vt:lpstr>等线 Light</vt:lpstr>
      <vt:lpstr>仿宋</vt:lpstr>
      <vt:lpstr>汉仪行楷简</vt:lpstr>
      <vt:lpstr>思源宋体 CN</vt:lpstr>
      <vt:lpstr>微软雅黑</vt:lpstr>
      <vt:lpstr>Arial</vt:lpstr>
      <vt:lpstr>Calibri</vt:lpstr>
      <vt:lpstr>Designed by iSlide</vt:lpstr>
      <vt:lpstr>Office 主题​​</vt:lpstr>
      <vt:lpstr>数据结构可视化项目第三次汇报</vt:lpstr>
      <vt:lpstr>分工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前端开发模块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后端开发模块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日志模块优化方案</vt:lpstr>
      <vt:lpstr>Swagger API 文档集成</vt:lpstr>
      <vt:lpstr>添加好友功能开发</vt:lpstr>
      <vt:lpstr>高效性能与安全保障</vt:lpstr>
      <vt:lpstr>测试覆盖与质量保障</vt:lpstr>
      <vt:lpstr>登录密码加密与数据库迁移</vt:lpstr>
      <vt:lpstr>数据库迁移策略与实施</vt:lpstr>
      <vt:lpstr>PowerPoint 演示文稿</vt:lpstr>
      <vt:lpstr>PowerPoint 演示文稿</vt:lpstr>
      <vt:lpstr>PowerPoint 演示文稿</vt:lpstr>
      <vt:lpstr>PowerPoint 演示文稿</vt:lpstr>
      <vt:lpstr>智能体开发模块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测试环境</vt:lpstr>
      <vt:lpstr>PowerPoint 演示文稿</vt:lpstr>
      <vt:lpstr>PowerPoint 演示文稿</vt:lpstr>
      <vt:lpstr>Docker云部署</vt:lpstr>
      <vt:lpstr>Docker云部署</vt:lpstr>
    </vt:vector>
  </TitlesOfParts>
  <Manager>风信子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传统节日 文化介绍</dc:title>
  <dc:creator>zhuqianrui</dc:creator>
  <cp:lastModifiedBy>yi lu</cp:lastModifiedBy>
  <cp:revision>56</cp:revision>
  <cp:lastPrinted>2025-12-25T03:18:41Z</cp:lastPrinted>
  <dcterms:created xsi:type="dcterms:W3CDTF">2025-12-25T03:18:41Z</dcterms:created>
  <dcterms:modified xsi:type="dcterms:W3CDTF">2025-12-25T04:04:45Z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bfa1b57f-227c-48af-bc32-06f62f84d41a</vt:lpwstr>
  </property>
  <property fmtid="{D5CDD505-2E9C-101B-9397-08002B2CF9AE}" pid="3" name="KSOProductBuildVer">
    <vt:lpwstr>2052-12.1.24031.24031</vt:lpwstr>
  </property>
  <property fmtid="{D5CDD505-2E9C-101B-9397-08002B2CF9AE}" pid="4" name="ICV">
    <vt:lpwstr>3E16DB4C4831E84D11AD4C69CABEFAD9_43</vt:lpwstr>
  </property>
</Properties>
</file>